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5.xml" ContentType="application/vnd.openxmlformats-officedocument.drawingml.chart+xml"/>
  <Override PartName="/ppt/charts/colors5.xml" ContentType="application/vnd.ms-office.chartcolorstyle+xml"/>
  <Override PartName="/ppt/charts/style5.xml" ContentType="application/vnd.ms-office.chartstyle+xml"/>
  <Override PartName="/ppt/charts/colors3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4.xml" ContentType="application/vnd.openxmlformats-officedocument.drawingml.char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_rels/chart5.xml.rels><?xml version="1.0" encoding="UTF-8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WER (%)</c:v>
                </c:pt>
              </c:strCache>
            </c:strRef>
          </c:tx>
          <c:spPr>
            <a:solidFill>
              <a:srgbClr val="D04A02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D04A02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D04A02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8A95A0"/>
              </a:solidFill>
              <a:ln w="0">
                <a:noFill/>
              </a:ln>
            </c:spPr>
          </c:dPt>
          <c:dLbls>
            <c:dLbl>
              <c:idx val="0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\%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E8E8E8"/>
                    </a:solidFill>
                    <a:uFillTx/>
                    <a:latin typeface="DejaVu Serif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☁ Assembly</c:v>
                </c:pt>
                <c:pt idx="1">
                  <c:v>☁ Speechmatics</c:v>
                </c:pt>
                <c:pt idx="2">
                  <c:v>▣ Whisper (avg)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8.9</c:v>
                </c:pt>
                <c:pt idx="1">
                  <c:v>11.4</c:v>
                </c:pt>
                <c:pt idx="2">
                  <c:v>13.5</c:v>
                </c:pt>
              </c:numCache>
            </c:numRef>
          </c:val>
        </c:ser>
        <c:gapWidth val="60"/>
        <c:overlap val="0"/>
        <c:axId val="620440"/>
        <c:axId val="67696096"/>
      </c:barChart>
      <c:catAx>
        <c:axId val="6204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E8E8E8"/>
                </a:solidFill>
                <a:uFillTx/>
                <a:latin typeface="DejaVu Serif"/>
              </a:defRPr>
            </a:pPr>
          </a:p>
        </c:txPr>
        <c:crossAx val="67696096"/>
        <c:crosses val="autoZero"/>
        <c:auto val="1"/>
        <c:lblAlgn val="ctr"/>
        <c:lblOffset val="100"/>
        <c:noMultiLvlLbl val="0"/>
      </c:catAx>
      <c:valAx>
        <c:axId val="67696096"/>
        <c:scaling>
          <c:orientation val="minMax"/>
          <c:max val="16"/>
        </c:scaling>
        <c:delete val="0"/>
        <c:axPos val="l"/>
        <c:majorGridlines>
          <c:spPr>
            <a:ln w="6480">
              <a:solidFill>
                <a:srgbClr val="3A3D42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A95A0"/>
                </a:solidFill>
                <a:uFillTx/>
                <a:latin typeface="Arial"/>
              </a:defRPr>
            </a:pPr>
          </a:p>
        </c:txPr>
        <c:crossAx val="62044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A1A1A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LLM error rate (%)</c:v>
                </c:pt>
              </c:strCache>
            </c:strRef>
          </c:tx>
          <c:spPr>
            <a:solidFill>
              <a:srgbClr val="D04A02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D04A02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8A95A0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8A95A0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8A95A0"/>
              </a:solidFill>
              <a:ln w="0">
                <a:noFill/>
              </a:ln>
            </c:spPr>
          </c:dPt>
          <c:dLbls>
            <c:dLbl>
              <c:idx val="0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\%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E8E8E8"/>
                    </a:solidFill>
                    <a:uFillTx/>
                    <a:latin typeface="DejaVu Serif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☁ GPT-4o (cloud avg)</c:v>
                </c:pt>
                <c:pt idx="1">
                  <c:v>▣ Gemma</c:v>
                </c:pt>
                <c:pt idx="2">
                  <c:v>▣ Llama 3.2</c:v>
                </c:pt>
                <c:pt idx="3">
                  <c:v>▣ Sauerkraut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</c:v>
                </c:pt>
                <c:pt idx="1">
                  <c:v>13.3</c:v>
                </c:pt>
                <c:pt idx="2">
                  <c:v>15.1</c:v>
                </c:pt>
                <c:pt idx="3">
                  <c:v>19.7</c:v>
                </c:pt>
              </c:numCache>
            </c:numRef>
          </c:val>
        </c:ser>
        <c:gapWidth val="60"/>
        <c:overlap val="0"/>
        <c:axId val="89359825"/>
        <c:axId val="60532386"/>
      </c:barChart>
      <c:catAx>
        <c:axId val="893598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E8E8E8"/>
                </a:solidFill>
                <a:uFillTx/>
                <a:latin typeface="DejaVu Serif"/>
              </a:defRPr>
            </a:pPr>
          </a:p>
        </c:txPr>
        <c:crossAx val="60532386"/>
        <c:crosses val="autoZero"/>
        <c:auto val="1"/>
        <c:lblAlgn val="ctr"/>
        <c:lblOffset val="100"/>
        <c:noMultiLvlLbl val="0"/>
      </c:catAx>
      <c:valAx>
        <c:axId val="60532386"/>
        <c:scaling>
          <c:orientation val="minMax"/>
        </c:scaling>
        <c:delete val="0"/>
        <c:axPos val="l"/>
        <c:majorGridlines>
          <c:spPr>
            <a:ln w="6480">
              <a:solidFill>
                <a:srgbClr val="3A3D42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A95A0"/>
                </a:solidFill>
                <a:uFillTx/>
                <a:latin typeface="Arial"/>
              </a:defRPr>
            </a:pPr>
          </a:p>
        </c:txPr>
        <c:crossAx val="8935982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A1A1A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LLM error rate (%)</c:v>
                </c:pt>
              </c:strCache>
            </c:strRef>
          </c:tx>
          <c:spPr>
            <a:solidFill>
              <a:srgbClr val="D04A02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D04A02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8A95A0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8A95A0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8A95A0"/>
              </a:solidFill>
              <a:ln w="0">
                <a:noFill/>
              </a:ln>
            </c:spPr>
          </c:dPt>
          <c:dLbls>
            <c:dLbl>
              <c:idx val="0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\%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E8E8E8"/>
                    </a:solidFill>
                    <a:uFillTx/>
                    <a:latin typeface="DejaVu Serif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☁ GPT-4o (avg)</c:v>
                </c:pt>
                <c:pt idx="1">
                  <c:v>▣ Gemma</c:v>
                </c:pt>
                <c:pt idx="2">
                  <c:v>▣ Llama 3.2</c:v>
                </c:pt>
                <c:pt idx="3">
                  <c:v>▣ Sauerkraut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</c:v>
                </c:pt>
                <c:pt idx="1">
                  <c:v>13.3</c:v>
                </c:pt>
                <c:pt idx="2">
                  <c:v>15.1</c:v>
                </c:pt>
                <c:pt idx="3">
                  <c:v>19.7</c:v>
                </c:pt>
              </c:numCache>
            </c:numRef>
          </c:val>
        </c:ser>
        <c:gapWidth val="60"/>
        <c:overlap val="0"/>
        <c:axId val="37445910"/>
        <c:axId val="15321273"/>
      </c:barChart>
      <c:catAx>
        <c:axId val="3744591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E8E8E8"/>
                </a:solidFill>
                <a:uFillTx/>
                <a:latin typeface="DejaVu Serif"/>
              </a:defRPr>
            </a:pPr>
          </a:p>
        </c:txPr>
        <c:crossAx val="15321273"/>
        <c:crosses val="autoZero"/>
        <c:auto val="1"/>
        <c:lblAlgn val="ctr"/>
        <c:lblOffset val="100"/>
        <c:noMultiLvlLbl val="0"/>
      </c:catAx>
      <c:valAx>
        <c:axId val="15321273"/>
        <c:scaling>
          <c:orientation val="minMax"/>
        </c:scaling>
        <c:delete val="0"/>
        <c:axPos val="l"/>
        <c:majorGridlines>
          <c:spPr>
            <a:ln w="6480">
              <a:solidFill>
                <a:srgbClr val="3A3D42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A95A0"/>
                </a:solidFill>
                <a:uFillTx/>
                <a:latin typeface="Arial"/>
              </a:defRPr>
            </a:pPr>
          </a:p>
        </c:txPr>
        <c:crossAx val="3744591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A1A1A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Word count</c:v>
                </c:pt>
              </c:strCache>
            </c:strRef>
          </c:tx>
          <c:spPr>
            <a:solidFill>
              <a:srgbClr val="D04A02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D04A02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8A95A0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E8E8E8"/>
                    </a:solidFill>
                    <a:uFillTx/>
                    <a:latin typeface="DejaVu Serif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After SauerkrautLM</c:v>
                </c:pt>
                <c:pt idx="1">
                  <c:v>Ground Truth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152</c:v>
                </c:pt>
                <c:pt idx="1">
                  <c:v>2269</c:v>
                </c:pt>
              </c:numCache>
            </c:numRef>
          </c:val>
        </c:ser>
        <c:gapWidth val="60"/>
        <c:overlap val="0"/>
        <c:axId val="89309726"/>
        <c:axId val="58010349"/>
      </c:barChart>
      <c:catAx>
        <c:axId val="8930972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E8E8E8"/>
                </a:solidFill>
                <a:uFillTx/>
                <a:latin typeface="DejaVu Serif"/>
              </a:defRPr>
            </a:pPr>
          </a:p>
        </c:txPr>
        <c:crossAx val="58010349"/>
        <c:crosses val="autoZero"/>
        <c:auto val="1"/>
        <c:lblAlgn val="ctr"/>
        <c:lblOffset val="100"/>
        <c:noMultiLvlLbl val="0"/>
      </c:catAx>
      <c:valAx>
        <c:axId val="58010349"/>
        <c:scaling>
          <c:orientation val="minMax"/>
        </c:scaling>
        <c:delete val="0"/>
        <c:axPos val="l"/>
        <c:majorGridlines>
          <c:spPr>
            <a:ln w="6480">
              <a:solidFill>
                <a:srgbClr val="3A3D42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A95A0"/>
                </a:solidFill>
                <a:uFillTx/>
                <a:latin typeface="Arial"/>
              </a:defRPr>
            </a:pPr>
          </a:p>
        </c:txPr>
        <c:crossAx val="8930972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A1A1A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Ø SOAP Score</c:v>
                </c:pt>
              </c:strCache>
            </c:strRef>
          </c:tx>
          <c:spPr>
            <a:solidFill>
              <a:srgbClr val="D04A3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D04A3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D89614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D8961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D89614"/>
              </a:solidFill>
              <a:ln w="0">
                <a:noFill/>
              </a:ln>
            </c:spPr>
          </c:dPt>
          <c:dLbls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E8E8E8"/>
                      </a:solidFill>
                      <a:uFillTx/>
                      <a:latin typeface="DejaVu Serif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E8E8E8"/>
                    </a:solidFill>
                    <a:uFillTx/>
                    <a:latin typeface="DejaVu Serif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▣ Llama 3.2</c:v>
                </c:pt>
                <c:pt idx="1">
                  <c:v>▣ Sauerkraut</c:v>
                </c:pt>
                <c:pt idx="2">
                  <c:v>▣ Gemma</c:v>
                </c:pt>
                <c:pt idx="3">
                  <c:v>☁ GPT-4o (avg)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2.1</c:v>
                </c:pt>
                <c:pt idx="1">
                  <c:v>3.2</c:v>
                </c:pt>
                <c:pt idx="2">
                  <c:v>3.4</c:v>
                </c:pt>
                <c:pt idx="3">
                  <c:v>4.4</c:v>
                </c:pt>
              </c:numCache>
            </c:numRef>
          </c:val>
        </c:ser>
        <c:gapWidth val="60"/>
        <c:overlap val="0"/>
        <c:axId val="68733483"/>
        <c:axId val="85255353"/>
      </c:barChart>
      <c:catAx>
        <c:axId val="6873348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300" b="0" u="none" strike="noStrike">
                <a:solidFill>
                  <a:srgbClr val="E8E8E8"/>
                </a:solidFill>
                <a:uFillTx/>
                <a:latin typeface="DejaVu Serif"/>
              </a:defRPr>
            </a:pPr>
          </a:p>
        </c:txPr>
        <c:crossAx val="85255353"/>
        <c:crosses val="autoZero"/>
        <c:auto val="1"/>
        <c:lblAlgn val="ctr"/>
        <c:lblOffset val="100"/>
        <c:noMultiLvlLbl val="0"/>
      </c:catAx>
      <c:valAx>
        <c:axId val="85255353"/>
        <c:scaling>
          <c:orientation val="minMax"/>
          <c:max val="8"/>
          <c:min val="0"/>
        </c:scaling>
        <c:delete val="0"/>
        <c:axPos val="l"/>
        <c:majorGridlines>
          <c:spPr>
            <a:ln w="6480">
              <a:solidFill>
                <a:srgbClr val="3A3D42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A95A0"/>
                </a:solidFill>
                <a:uFillTx/>
                <a:latin typeface="Arial"/>
              </a:defRPr>
            </a:pPr>
          </a:p>
        </c:txPr>
        <c:crossAx val="68733483"/>
        <c:crosses val="autoZero"/>
        <c:crossBetween val="between"/>
        <c:majorUnit val="2"/>
      </c:valAx>
      <c:spPr>
        <a:noFill/>
        <a:ln w="0">
          <a:noFill/>
        </a:ln>
      </c:spPr>
    </c:plotArea>
    <c:plotVisOnly val="1"/>
    <c:dispBlanksAs val="span"/>
  </c:chart>
  <c:spPr>
    <a:solidFill>
      <a:srgbClr val="1A1A1A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ie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mit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tel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034E830-6336-4463-8138-F41D4D63AE4B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3E66147-4C3E-4244-8FF9-AC83F395375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B9806AD-8EEC-464C-9CF6-F33FB8F04CF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7799C45-A20A-4F64-B654-4F22C5A2C99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8BB17BE-276D-44CB-A8C8-BA394D367B3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186E4B9-718D-4629-A646-5EF70F6A1CD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7D5BB06-BE3F-44DD-B0A4-0BACABC15A4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4020182-684D-42F8-8262-251087777E4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6D7E402-74A4-4780-9B66-53D327DC976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CBCF16-6C15-4D41-90F1-C229F35812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15FB4F6-5EAD-41C2-87D5-EB8E3ED1119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7F3A97E-7A7D-423B-875B-EFEC3BE2455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13ACE02-DE74-4388-B60F-394A539D2C7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7ACDB36-378E-4848-A92B-952AF286704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00E3856-F23F-44E1-BC79-C89983742FC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9B28CAB-570B-441B-BCE4-CD33FE51D04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A0878A2-2853-4B58-A7E5-C9FA511278E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4BB6BF8-2E8D-4811-9FEE-9A68AE76DB1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B19C31F-E27C-4A6B-BF8E-AFD48ED64FC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30F4282-ED24-43BD-9141-810E92A70C6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A26B165-3319-42E7-9D85-2589B0F1758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lang="de-D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chart" Target="../charts/chart1.xml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4.png"/><Relationship Id="rId3" Type="http://schemas.openxmlformats.org/officeDocument/2006/relationships/chart" Target="../charts/chart3.xml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949440" y="2011680"/>
            <a:ext cx="2376000" cy="364320"/>
          </a:xfrm>
          <a:prstGeom prst="parallelogram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400800" y="2560320"/>
            <a:ext cx="2924640" cy="410040"/>
          </a:xfrm>
          <a:prstGeom prst="parallelogram">
            <a:avLst>
              <a:gd name="adj" fmla="val 25000"/>
            </a:avLst>
          </a:prstGeom>
          <a:solidFill>
            <a:srgbClr val="D04A02">
              <a:alpha val="6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371600"/>
            <a:ext cx="73137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AI-Anamnesis </a:t>
            </a: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of Patients</a:t>
            </a:r>
            <a:endParaRPr lang="de-DE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2286000"/>
            <a:ext cx="73137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Evaluating End-to-</a:t>
            </a:r>
            <a:r>
              <a:rPr lang="en-US" sz="16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End STT + LLM </a:t>
            </a:r>
            <a:r>
              <a:rPr lang="en-US" sz="16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Pipelines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for Medical </a:t>
            </a:r>
            <a:r>
              <a:rPr lang="en-US" sz="16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Documentation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39319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Anton Reinhard  · 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Leonard Niedens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425196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Master Seminar  ·  PwC Cloud &amp; AI  </a:t>
            </a:r>
            <a:r>
              <a:rPr lang="en-US" sz="9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×  Hochschule Hannover  ·  2026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"/>
          <p:cNvSpPr/>
          <p:nvPr/>
        </p:nvSpPr>
        <p:spPr>
          <a:xfrm>
            <a:off x="457200" y="925920"/>
            <a:ext cx="685656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2 </a:t>
            </a:r>
            <a:r>
              <a:rPr lang="en-US" sz="120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ho</a:t>
            </a:r>
            <a:r>
              <a:rPr lang="en-US" sz="120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ur</a:t>
            </a:r>
            <a:r>
              <a:rPr lang="en-US" sz="120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s</a:t>
            </a:r>
            <a:endParaRPr lang="de-DE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457200" y="2571840"/>
            <a:ext cx="6856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per day spent by </a:t>
            </a: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physicians on </a:t>
            </a: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documentation — not </a:t>
            </a: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patient care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457200" y="33033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49% </a:t>
            </a: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of physicians </a:t>
            </a: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report burnout — </a:t>
            </a: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administrative load is </a:t>
            </a: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the #1 cited driver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457200" y="4526280"/>
            <a:ext cx="8228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Sources: Annals of Internal Medicine, </a:t>
            </a:r>
            <a:r>
              <a:rPr lang="en-US" sz="900" b="0" i="1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2016 · Medscape Physician Burnout </a:t>
            </a:r>
            <a:r>
              <a:rPr lang="en-US" sz="900" b="0" i="1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Report 2024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</a:t>
            </a: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2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27432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So we asked ourselves...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82296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"Can an AI listen to a doctor-patient conversation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and produce usable medical documentation —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completely automatically?"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490400" y="2743200"/>
            <a:ext cx="58392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02920" y="347472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Accurate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502920" y="379476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Facts must match what was said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3291840" y="347472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Structured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3291840" y="379476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SOAP format implementation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6080760" y="347472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Trustworthy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6080760" y="379476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Zero tolerance for hallucinations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3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Grafik 35"/>
          <p:cNvPicPr/>
          <p:nvPr/>
        </p:nvPicPr>
        <p:blipFill>
          <a:blip r:embed="rId1"/>
          <a:stretch/>
        </p:blipFill>
        <p:spPr>
          <a:xfrm>
            <a:off x="1483200" y="2759040"/>
            <a:ext cx="591120" cy="59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rafik 36"/>
          <p:cNvPicPr/>
          <p:nvPr/>
        </p:nvPicPr>
        <p:blipFill>
          <a:blip r:embed="rId2"/>
          <a:stretch/>
        </p:blipFill>
        <p:spPr>
          <a:xfrm>
            <a:off x="4343760" y="2759040"/>
            <a:ext cx="454680" cy="59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rafik 37"/>
          <p:cNvPicPr/>
          <p:nvPr/>
        </p:nvPicPr>
        <p:blipFill>
          <a:blip r:embed="rId3"/>
          <a:stretch/>
        </p:blipFill>
        <p:spPr>
          <a:xfrm>
            <a:off x="7048800" y="2759040"/>
            <a:ext cx="611280" cy="61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"/>
          <p:cNvSpPr/>
          <p:nvPr/>
        </p:nvSpPr>
        <p:spPr>
          <a:xfrm>
            <a:off x="452520" y="1626480"/>
            <a:ext cx="1827360" cy="1461600"/>
          </a:xfrm>
          <a:prstGeom prst="roundRect">
            <a:avLst>
              <a:gd name="adj" fmla="val 10764"/>
            </a:avLst>
          </a:prstGeom>
          <a:solidFill>
            <a:srgbClr val="D04A0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Four stages — one workflow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89680" y="2175120"/>
            <a:ext cx="1553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Audio Capture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2281320" y="2175120"/>
            <a:ext cx="281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→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2583360" y="1626480"/>
            <a:ext cx="1827360" cy="1461600"/>
          </a:xfrm>
          <a:prstGeom prst="roundRect">
            <a:avLst>
              <a:gd name="adj" fmla="val 9375"/>
            </a:avLst>
          </a:prstGeom>
          <a:solidFill>
            <a:srgbClr val="D04A0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6"/>
          <p:cNvSpPr/>
          <p:nvPr/>
        </p:nvSpPr>
        <p:spPr>
          <a:xfrm>
            <a:off x="2715840" y="2175120"/>
            <a:ext cx="1553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STT + Diarization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4430160" y="2175120"/>
            <a:ext cx="281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→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4732200" y="1626480"/>
            <a:ext cx="1827360" cy="1461600"/>
          </a:xfrm>
          <a:prstGeom prst="roundRect">
            <a:avLst>
              <a:gd name="adj" fmla="val 9375"/>
            </a:avLst>
          </a:prstGeom>
          <a:solidFill>
            <a:srgbClr val="D04A0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4869360" y="2175120"/>
            <a:ext cx="1553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Format LLM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6579000" y="2175120"/>
            <a:ext cx="281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→</a:t>
            </a:r>
            <a:endParaRPr lang="de-D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6881040" y="1626480"/>
            <a:ext cx="1827360" cy="1461600"/>
          </a:xfrm>
          <a:prstGeom prst="roundRect">
            <a:avLst>
              <a:gd name="adj" fmla="val 9375"/>
            </a:avLst>
          </a:prstGeom>
          <a:solidFill>
            <a:srgbClr val="D04A0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6995160" y="2178360"/>
            <a:ext cx="1553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SOAP LLM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434520" y="3226680"/>
            <a:ext cx="1827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① Recording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2583360" y="3226680"/>
            <a:ext cx="1827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② Transcribe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4732200" y="3226680"/>
            <a:ext cx="1827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③ Format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6881040" y="3226680"/>
            <a:ext cx="1827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④ Generate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4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The Contenders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457200" y="128016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STT Models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" name="Table 0"/>
          <p:cNvGraphicFramePr/>
          <p:nvPr/>
        </p:nvGraphicFramePr>
        <p:xfrm>
          <a:off x="457200" y="1645920"/>
          <a:ext cx="3931560" cy="103824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Model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Type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solidFill>
                      <a:srgbClr val="D04A02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AssemblyAI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     Cloud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Speechmatics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     Cloud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Whisper turbo (~800M)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▣ Local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" name="Text 2"/>
          <p:cNvSpPr/>
          <p:nvPr/>
        </p:nvSpPr>
        <p:spPr>
          <a:xfrm>
            <a:off x="4754880" y="1280160"/>
            <a:ext cx="39304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LLM Models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" name="Table 1"/>
          <p:cNvGraphicFramePr/>
          <p:nvPr/>
        </p:nvGraphicFramePr>
        <p:xfrm>
          <a:off x="4754880" y="1645920"/>
          <a:ext cx="3931560" cy="12978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Model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Type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solidFill>
                      <a:srgbClr val="D04A02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GPT-4o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     Cloud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SauerkrautLM 8B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▣ Local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Llama 3.2 3B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▣ Local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Gemma 4 4B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▣ Local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9" name="Text 3"/>
          <p:cNvSpPr/>
          <p:nvPr/>
        </p:nvSpPr>
        <p:spPr>
          <a:xfrm>
            <a:off x="457200" y="329184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Tested Combinations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411480" y="3703320"/>
            <a:ext cx="1553040" cy="82152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6"/>
          <p:cNvSpPr/>
          <p:nvPr/>
        </p:nvSpPr>
        <p:spPr>
          <a:xfrm>
            <a:off x="502920" y="3960000"/>
            <a:ext cx="1370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AssemblyAI + GPT-4o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2103120" y="3703320"/>
            <a:ext cx="1553040" cy="82152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9"/>
          <p:cNvSpPr/>
          <p:nvPr/>
        </p:nvSpPr>
        <p:spPr>
          <a:xfrm>
            <a:off x="2194560" y="3954960"/>
            <a:ext cx="1370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Speechmatics + GPT-4o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3794760" y="3703320"/>
            <a:ext cx="1553040" cy="821520"/>
          </a:xfrm>
          <a:prstGeom prst="roundRect">
            <a:avLst>
              <a:gd name="adj" fmla="val 16667"/>
            </a:avLst>
          </a:prstGeom>
          <a:solidFill>
            <a:srgbClr val="8A95A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3886200" y="3954960"/>
            <a:ext cx="1370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Whisper + Sauerkraut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5486400" y="3703320"/>
            <a:ext cx="1553040" cy="821520"/>
          </a:xfrm>
          <a:prstGeom prst="roundRect">
            <a:avLst>
              <a:gd name="adj" fmla="val 16667"/>
            </a:avLst>
          </a:prstGeom>
          <a:solidFill>
            <a:srgbClr val="8A95A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5578200" y="3954960"/>
            <a:ext cx="1370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Whisper + Llama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7178040" y="3703320"/>
            <a:ext cx="1553040" cy="821520"/>
          </a:xfrm>
          <a:prstGeom prst="roundRect">
            <a:avLst>
              <a:gd name="adj" fmla="val 16667"/>
            </a:avLst>
          </a:prstGeom>
          <a:solidFill>
            <a:srgbClr val="8A95A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7269480" y="3960000"/>
            <a:ext cx="1370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Whisper + Gemma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5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Grafik 75"/>
          <p:cNvPicPr/>
          <p:nvPr/>
        </p:nvPicPr>
        <p:blipFill>
          <a:blip r:embed="rId1"/>
          <a:stretch/>
        </p:blipFill>
        <p:spPr>
          <a:xfrm>
            <a:off x="2933280" y="1986480"/>
            <a:ext cx="178920" cy="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rafik 76"/>
          <p:cNvPicPr/>
          <p:nvPr/>
        </p:nvPicPr>
        <p:blipFill>
          <a:blip r:embed="rId2"/>
          <a:stretch/>
        </p:blipFill>
        <p:spPr>
          <a:xfrm>
            <a:off x="2933280" y="1986840"/>
            <a:ext cx="178920" cy="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rafik 77"/>
          <p:cNvPicPr/>
          <p:nvPr/>
        </p:nvPicPr>
        <p:blipFill>
          <a:blip r:embed="rId3"/>
          <a:stretch/>
        </p:blipFill>
        <p:spPr>
          <a:xfrm>
            <a:off x="2933280" y="1987200"/>
            <a:ext cx="178920" cy="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rafik 78"/>
          <p:cNvPicPr/>
          <p:nvPr/>
        </p:nvPicPr>
        <p:blipFill>
          <a:blip r:embed="rId4"/>
          <a:stretch/>
        </p:blipFill>
        <p:spPr>
          <a:xfrm>
            <a:off x="2933280" y="2239560"/>
            <a:ext cx="178920" cy="9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rafik 79"/>
          <p:cNvPicPr/>
          <p:nvPr/>
        </p:nvPicPr>
        <p:blipFill>
          <a:blip r:embed="rId5"/>
          <a:stretch/>
        </p:blipFill>
        <p:spPr>
          <a:xfrm>
            <a:off x="7217280" y="1987920"/>
            <a:ext cx="178920" cy="9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Hardware draws the line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457200" y="1491120"/>
            <a:ext cx="3930480" cy="2467440"/>
          </a:xfrm>
          <a:prstGeom prst="roundRect">
            <a:avLst>
              <a:gd name="adj" fmla="val 5556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2"/>
          <p:cNvSpPr/>
          <p:nvPr/>
        </p:nvSpPr>
        <p:spPr>
          <a:xfrm>
            <a:off x="640080" y="162828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DA070"/>
                </a:solidFill>
                <a:effectLst/>
                <a:uFillTx/>
                <a:latin typeface="DejaVu Serif"/>
                <a:ea typeface="DejaVu Serif"/>
              </a:rPr>
              <a:t>On-Prem Stack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685800" y="2131200"/>
            <a:ext cx="338184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Whisper turbo</a:t>
            </a: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  ~800M params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SauerkrautLM / Llama / Gemma</a:t>
            </a: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  </a:t>
            </a:r>
            <a:br>
              <a:rPr sz="1300"/>
            </a:b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3–8B params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3DA070"/>
                </a:solidFill>
                <a:effectLst/>
                <a:uFillTx/>
                <a:latin typeface="DejaVu Serif"/>
                <a:ea typeface="DejaVu Serif"/>
              </a:rPr>
              <a:t>AMD iGPU — 16 GB shared RAM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4754880" y="1491120"/>
            <a:ext cx="3930480" cy="2467440"/>
          </a:xfrm>
          <a:prstGeom prst="roundRect">
            <a:avLst>
              <a:gd name="adj" fmla="val 5556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5"/>
          <p:cNvSpPr/>
          <p:nvPr/>
        </p:nvSpPr>
        <p:spPr>
          <a:xfrm>
            <a:off x="4937760" y="162828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3A"/>
                </a:solidFill>
                <a:effectLst/>
                <a:uFillTx/>
                <a:latin typeface="DejaVu Serif"/>
                <a:ea typeface="DejaVu Serif"/>
              </a:rPr>
              <a:t>Feasibility Limit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4983480" y="2131200"/>
            <a:ext cx="338184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Whisper large-v3</a:t>
            </a: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  </a:t>
            </a: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1.55B params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SauerkrautLM 70B</a:t>
            </a: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  </a:t>
            </a: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~32 GB VRAM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 </a:t>
            </a:r>
            <a:endParaRPr lang="de-DE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D04A3A"/>
                </a:solidFill>
                <a:effectLst/>
                <a:uFillTx/>
                <a:latin typeface="DejaVu Serif"/>
                <a:ea typeface="DejaVu Serif"/>
              </a:rPr>
              <a:t>Resources not available for this evaluation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6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From clean recordings to total chaos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457200" y="1188720"/>
            <a:ext cx="8228160" cy="775800"/>
          </a:xfrm>
          <a:prstGeom prst="roundRect">
            <a:avLst>
              <a:gd name="adj" fmla="val 17647"/>
            </a:avLst>
          </a:prstGeom>
          <a:solidFill>
            <a:srgbClr val="D04A02">
              <a:alpha val="8000"/>
            </a:srgbClr>
          </a:solidFill>
          <a:ln w="19050">
            <a:solidFill>
              <a:srgbClr val="D04A0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2"/>
          <p:cNvSpPr/>
          <p:nvPr/>
        </p:nvSpPr>
        <p:spPr>
          <a:xfrm>
            <a:off x="640080" y="1188720"/>
            <a:ext cx="1644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Standard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2377440" y="1325880"/>
            <a:ext cx="360" cy="502920"/>
          </a:xfrm>
          <a:prstGeom prst="line">
            <a:avLst/>
          </a:prstGeom>
          <a:ln w="19050">
            <a:solidFill>
              <a:srgbClr val="D04A0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4"/>
          <p:cNvSpPr/>
          <p:nvPr/>
        </p:nvSpPr>
        <p:spPr>
          <a:xfrm>
            <a:off x="2651760" y="11887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OriginalDC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4663440" y="11887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Laptop-Middle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6675120" y="11887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Laptop-Doctor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457200" y="2103120"/>
            <a:ext cx="8228160" cy="775800"/>
          </a:xfrm>
          <a:prstGeom prst="roundRect">
            <a:avLst>
              <a:gd name="adj" fmla="val 17647"/>
            </a:avLst>
          </a:prstGeom>
          <a:solidFill>
            <a:srgbClr val="D04A02">
              <a:alpha val="8000"/>
            </a:srgbClr>
          </a:solidFill>
          <a:ln w="19050">
            <a:solidFill>
              <a:srgbClr val="D04A0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 8"/>
          <p:cNvSpPr/>
          <p:nvPr/>
        </p:nvSpPr>
        <p:spPr>
          <a:xfrm>
            <a:off x="640080" y="2103120"/>
            <a:ext cx="1644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Challenging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2377440" y="2240280"/>
            <a:ext cx="360" cy="502920"/>
          </a:xfrm>
          <a:prstGeom prst="line">
            <a:avLst/>
          </a:prstGeom>
          <a:ln w="19050">
            <a:solidFill>
              <a:srgbClr val="D04A0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2651760" y="21031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White Noise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4663440" y="21031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Self-Corrections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6675120" y="21031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Interruptions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457200" y="3017520"/>
            <a:ext cx="8228160" cy="775800"/>
          </a:xfrm>
          <a:prstGeom prst="roundRect">
            <a:avLst>
              <a:gd name="adj" fmla="val 17647"/>
            </a:avLst>
          </a:prstGeom>
          <a:solidFill>
            <a:srgbClr val="D04A02">
              <a:alpha val="8000"/>
            </a:srgbClr>
          </a:solidFill>
          <a:ln w="19050">
            <a:solidFill>
              <a:srgbClr val="D04A0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640080" y="3017520"/>
            <a:ext cx="1644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Complex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2377440" y="3154680"/>
            <a:ext cx="360" cy="502920"/>
          </a:xfrm>
          <a:prstGeom prst="line">
            <a:avLst/>
          </a:prstGeom>
          <a:ln w="19050">
            <a:solidFill>
              <a:srgbClr val="D04A0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2651760" y="30175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Topic Jumps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4663440" y="30175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Mind Changes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6675120" y="3017520"/>
            <a:ext cx="20102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Chaos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9"/>
          <p:cNvSpPr/>
          <p:nvPr/>
        </p:nvSpPr>
        <p:spPr>
          <a:xfrm>
            <a:off x="457200" y="3931920"/>
            <a:ext cx="8228160" cy="775800"/>
          </a:xfrm>
          <a:prstGeom prst="roundRect">
            <a:avLst>
              <a:gd name="adj" fmla="val 17647"/>
            </a:avLst>
          </a:prstGeom>
          <a:solidFill>
            <a:srgbClr val="D04A02">
              <a:alpha val="8000"/>
            </a:srgbClr>
          </a:solidFill>
          <a:ln w="19050">
            <a:solidFill>
              <a:srgbClr val="D04A0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20"/>
          <p:cNvSpPr/>
          <p:nvPr/>
        </p:nvSpPr>
        <p:spPr>
          <a:xfrm>
            <a:off x="640080" y="3931920"/>
            <a:ext cx="1644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Real-World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2377440" y="4069080"/>
            <a:ext cx="360" cy="502920"/>
          </a:xfrm>
          <a:prstGeom prst="line">
            <a:avLst/>
          </a:prstGeom>
          <a:ln w="19050">
            <a:solidFill>
              <a:srgbClr val="D04A0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2651760" y="3931920"/>
            <a:ext cx="30160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Long Anamnesis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3"/>
          <p:cNvSpPr/>
          <p:nvPr/>
        </p:nvSpPr>
        <p:spPr>
          <a:xfrm>
            <a:off x="4663080" y="3931920"/>
            <a:ext cx="30160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Physiotherapy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5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6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7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" dur="indefinite" restart="never" nodeType="tmRoot">
          <p:childTnLst>
            <p:seq>
              <p:cTn id="78" dur="indefinite" nodeType="mainSeq">
                <p:childTnLst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Three independent measurements per run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411480" y="1280160"/>
            <a:ext cx="2650320" cy="2558880"/>
          </a:xfrm>
          <a:prstGeom prst="roundRect">
            <a:avLst>
              <a:gd name="adj" fmla="val 5357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411480" y="1280160"/>
            <a:ext cx="2650320" cy="108360"/>
          </a:xfrm>
          <a:prstGeom prst="roundRect">
            <a:avLst>
              <a:gd name="adj" fmla="val 125000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411480" y="1508760"/>
            <a:ext cx="2650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📏</a:t>
            </a:r>
            <a:endParaRPr lang="de-DE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411480" y="2011680"/>
            <a:ext cx="2650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WER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411480" y="2423160"/>
            <a:ext cx="2650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Word Error Rate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548640" y="2926080"/>
            <a:ext cx="237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RAW STT vs. Ground Truth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3246120" y="1280160"/>
            <a:ext cx="2650320" cy="2558880"/>
          </a:xfrm>
          <a:prstGeom prst="roundRect">
            <a:avLst>
              <a:gd name="adj" fmla="val 5357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3246120" y="1280160"/>
            <a:ext cx="2650320" cy="108360"/>
          </a:xfrm>
          <a:prstGeom prst="roundRect">
            <a:avLst>
              <a:gd name="adj" fmla="val 125000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3246120" y="1508760"/>
            <a:ext cx="2650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🔍</a:t>
            </a:r>
            <a:endParaRPr lang="de-DE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3246120" y="2011680"/>
            <a:ext cx="2650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LLM Fidelity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3246120" y="2423160"/>
            <a:ext cx="2650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Did the LLM hallucinate?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3383280" y="2926080"/>
            <a:ext cx="237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RAW STT vs. Formatted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6080760" y="1280160"/>
            <a:ext cx="2650320" cy="2558880"/>
          </a:xfrm>
          <a:prstGeom prst="roundRect">
            <a:avLst>
              <a:gd name="adj" fmla="val 5357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6080760" y="1280160"/>
            <a:ext cx="2650320" cy="108360"/>
          </a:xfrm>
          <a:prstGeom prst="roundRect">
            <a:avLst>
              <a:gd name="adj" fmla="val 125000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6080760" y="1508760"/>
            <a:ext cx="2650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⚕</a:t>
            </a:r>
            <a:endParaRPr lang="de-DE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6080760" y="2011680"/>
            <a:ext cx="2650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SOAP Quality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6080760" y="2423160"/>
            <a:ext cx="2650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Is the note medically usable?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6217920" y="2926080"/>
            <a:ext cx="237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Claude-as-Judge (0–8 pts)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9"/>
          <p:cNvSpPr/>
          <p:nvPr/>
        </p:nvSpPr>
        <p:spPr>
          <a:xfrm>
            <a:off x="457200" y="4114800"/>
            <a:ext cx="8228160" cy="501480"/>
          </a:xfrm>
          <a:prstGeom prst="roundRect">
            <a:avLst>
              <a:gd name="adj" fmla="val 27273"/>
            </a:avLst>
          </a:prstGeom>
          <a:solidFill>
            <a:srgbClr val="3A251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 20"/>
          <p:cNvSpPr/>
          <p:nvPr/>
        </p:nvSpPr>
        <p:spPr>
          <a:xfrm>
            <a:off x="594360" y="4160520"/>
            <a:ext cx="7953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Safety Rule: </a:t>
            </a: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Any hallucinated diagnosis or treatment = </a:t>
            </a: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0 points</a:t>
            </a: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 in A &amp; P sections.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8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34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SOAP — four sections, one structured note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7"/>
          <p:cNvSpPr/>
          <p:nvPr/>
        </p:nvSpPr>
        <p:spPr>
          <a:xfrm>
            <a:off x="388800" y="1460160"/>
            <a:ext cx="1919520" cy="2559600"/>
          </a:xfrm>
          <a:prstGeom prst="roundRect">
            <a:avLst>
              <a:gd name="adj" fmla="val 7143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5"/>
          <p:cNvSpPr/>
          <p:nvPr/>
        </p:nvSpPr>
        <p:spPr>
          <a:xfrm>
            <a:off x="388800" y="1643040"/>
            <a:ext cx="19195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S</a:t>
            </a:r>
            <a:endParaRPr lang="de-DE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6"/>
          <p:cNvSpPr/>
          <p:nvPr/>
        </p:nvSpPr>
        <p:spPr>
          <a:xfrm>
            <a:off x="388800" y="28317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Subjective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7"/>
          <p:cNvSpPr/>
          <p:nvPr/>
        </p:nvSpPr>
        <p:spPr>
          <a:xfrm>
            <a:off x="388800" y="324324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Patient's own words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2537640" y="1460160"/>
            <a:ext cx="1919520" cy="2559600"/>
          </a:xfrm>
          <a:prstGeom prst="roundRect">
            <a:avLst>
              <a:gd name="adj" fmla="val 7143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8"/>
          <p:cNvSpPr/>
          <p:nvPr/>
        </p:nvSpPr>
        <p:spPr>
          <a:xfrm>
            <a:off x="2537640" y="1643040"/>
            <a:ext cx="19195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O</a:t>
            </a:r>
            <a:endParaRPr lang="de-DE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9"/>
          <p:cNvSpPr/>
          <p:nvPr/>
        </p:nvSpPr>
        <p:spPr>
          <a:xfrm>
            <a:off x="2537640" y="28317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Objective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0"/>
          <p:cNvSpPr/>
          <p:nvPr/>
        </p:nvSpPr>
        <p:spPr>
          <a:xfrm>
            <a:off x="2537640" y="324324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Clinical observations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4686480" y="1460160"/>
            <a:ext cx="1919520" cy="2559600"/>
          </a:xfrm>
          <a:prstGeom prst="roundRect">
            <a:avLst>
              <a:gd name="adj" fmla="val 7143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1"/>
          <p:cNvSpPr/>
          <p:nvPr/>
        </p:nvSpPr>
        <p:spPr>
          <a:xfrm>
            <a:off x="4686480" y="1643040"/>
            <a:ext cx="19195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A</a:t>
            </a:r>
            <a:endParaRPr lang="de-DE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2"/>
          <p:cNvSpPr/>
          <p:nvPr/>
        </p:nvSpPr>
        <p:spPr>
          <a:xfrm>
            <a:off x="4686480" y="28317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Assessment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3"/>
          <p:cNvSpPr/>
          <p:nvPr/>
        </p:nvSpPr>
        <p:spPr>
          <a:xfrm>
            <a:off x="4686480" y="324324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Diagnosis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4"/>
          <p:cNvSpPr/>
          <p:nvPr/>
        </p:nvSpPr>
        <p:spPr>
          <a:xfrm>
            <a:off x="6835320" y="1460160"/>
            <a:ext cx="1919520" cy="2559600"/>
          </a:xfrm>
          <a:prstGeom prst="roundRect">
            <a:avLst>
              <a:gd name="adj" fmla="val 7143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4"/>
          <p:cNvSpPr/>
          <p:nvPr/>
        </p:nvSpPr>
        <p:spPr>
          <a:xfrm>
            <a:off x="6835320" y="1643040"/>
            <a:ext cx="19195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P</a:t>
            </a:r>
            <a:endParaRPr lang="de-DE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5"/>
          <p:cNvSpPr/>
          <p:nvPr/>
        </p:nvSpPr>
        <p:spPr>
          <a:xfrm>
            <a:off x="6835320" y="28317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Plan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6"/>
          <p:cNvSpPr/>
          <p:nvPr/>
        </p:nvSpPr>
        <p:spPr>
          <a:xfrm>
            <a:off x="6835320" y="324324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Next steps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8"/>
          <p:cNvSpPr/>
          <p:nvPr/>
        </p:nvSpPr>
        <p:spPr>
          <a:xfrm>
            <a:off x="365760" y="48646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9"/>
          <p:cNvSpPr/>
          <p:nvPr/>
        </p:nvSpPr>
        <p:spPr>
          <a:xfrm>
            <a:off x="7772400" y="4864680"/>
            <a:ext cx="100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13 / 20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6949440" y="457200"/>
            <a:ext cx="2376000" cy="318600"/>
          </a:xfrm>
          <a:prstGeom prst="parallelogram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1188720"/>
            <a:ext cx="82281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0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Let's run it live</a:t>
            </a:r>
            <a:endParaRPr lang="de-DE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4023360" y="2468880"/>
            <a:ext cx="1095840" cy="1095840"/>
          </a:xfrm>
          <a:prstGeom prst="ellipse">
            <a:avLst/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Shape 3"/>
          <p:cNvSpPr/>
          <p:nvPr/>
        </p:nvSpPr>
        <p:spPr>
          <a:xfrm rot="5400000">
            <a:off x="4337640" y="2715480"/>
            <a:ext cx="592920" cy="603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457200" y="3931920"/>
            <a:ext cx="8228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Scenario: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Mind-change     </a:t>
            </a: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Pipeline: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AssemblyAI + GPT-4o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9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Cloud beats local — noise beats everyone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5852160" y="1097280"/>
            <a:ext cx="2924640" cy="3016080"/>
          </a:xfrm>
          <a:prstGeom prst="roundRect">
            <a:avLst>
              <a:gd name="adj" fmla="val 4688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5989320" y="1188720"/>
            <a:ext cx="2650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Outlier scenario: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5989320" y="1463040"/>
            <a:ext cx="2650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White Noise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989320" y="2011680"/>
            <a:ext cx="265032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Assembly: </a:t>
            </a: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33.2 %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Speechmatics: </a:t>
            </a: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30.6 %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Whisper-local: </a:t>
            </a: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41.0 %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5"/>
          <p:cNvSpPr/>
          <p:nvPr/>
        </p:nvSpPr>
        <p:spPr>
          <a:xfrm>
            <a:off x="5989320" y="3200400"/>
            <a:ext cx="2560320" cy="360"/>
          </a:xfrm>
          <a:prstGeom prst="line">
            <a:avLst/>
          </a:prstGeom>
          <a:ln w="12700">
            <a:solidFill>
              <a:srgbClr val="3A3D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5989320" y="3291840"/>
            <a:ext cx="26503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Microphone quality is the hard floor of AI performance.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10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hteck 156"/>
          <p:cNvSpPr/>
          <p:nvPr/>
        </p:nvSpPr>
        <p:spPr>
          <a:xfrm>
            <a:off x="412920" y="2410560"/>
            <a:ext cx="358920" cy="358920"/>
          </a:xfrm>
          <a:prstGeom prst="rect">
            <a:avLst/>
          </a:prstGeom>
          <a:solidFill>
            <a:srgbClr val="1A1A1A"/>
          </a:solidFill>
          <a:ln w="0">
            <a:solidFill>
              <a:srgbClr val="1A1A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Grafik 158"/>
          <p:cNvPicPr/>
          <p:nvPr/>
        </p:nvPicPr>
        <p:blipFill>
          <a:blip r:embed="rId1"/>
          <a:stretch/>
        </p:blipFill>
        <p:spPr>
          <a:xfrm>
            <a:off x="573480" y="2516400"/>
            <a:ext cx="178920" cy="9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Rechteck 159"/>
          <p:cNvSpPr/>
          <p:nvPr/>
        </p:nvSpPr>
        <p:spPr>
          <a:xfrm>
            <a:off x="1001520" y="3230280"/>
            <a:ext cx="358920" cy="358920"/>
          </a:xfrm>
          <a:prstGeom prst="rect">
            <a:avLst/>
          </a:prstGeom>
          <a:solidFill>
            <a:srgbClr val="1A1A1A"/>
          </a:solidFill>
          <a:ln w="0">
            <a:solidFill>
              <a:srgbClr val="1A1A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Grafik 160"/>
          <p:cNvPicPr/>
          <p:nvPr/>
        </p:nvPicPr>
        <p:blipFill>
          <a:blip r:embed="rId2"/>
          <a:stretch/>
        </p:blipFill>
        <p:spPr>
          <a:xfrm>
            <a:off x="1162080" y="3336120"/>
            <a:ext cx="178920" cy="993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74" name="Chart 0"/>
          <p:cNvGraphicFramePr/>
          <p:nvPr/>
        </p:nvGraphicFramePr>
        <p:xfrm>
          <a:off x="457560" y="1177200"/>
          <a:ext cx="5302440" cy="3016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5" name="Rechteck 1"/>
          <p:cNvSpPr/>
          <p:nvPr/>
        </p:nvSpPr>
        <p:spPr>
          <a:xfrm>
            <a:off x="784440" y="3310920"/>
            <a:ext cx="358920" cy="358920"/>
          </a:xfrm>
          <a:prstGeom prst="rect">
            <a:avLst/>
          </a:prstGeom>
          <a:solidFill>
            <a:srgbClr val="1A1A1A"/>
          </a:solidFill>
          <a:ln w="0">
            <a:solidFill>
              <a:srgbClr val="1A1A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Grafik 1"/>
          <p:cNvPicPr/>
          <p:nvPr/>
        </p:nvPicPr>
        <p:blipFill>
          <a:blip r:embed="rId4"/>
          <a:stretch/>
        </p:blipFill>
        <p:spPr>
          <a:xfrm>
            <a:off x="945000" y="3416760"/>
            <a:ext cx="178920" cy="9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echteck 2"/>
          <p:cNvSpPr/>
          <p:nvPr/>
        </p:nvSpPr>
        <p:spPr>
          <a:xfrm>
            <a:off x="412920" y="2410560"/>
            <a:ext cx="358920" cy="358920"/>
          </a:xfrm>
          <a:prstGeom prst="rect">
            <a:avLst/>
          </a:prstGeom>
          <a:solidFill>
            <a:srgbClr val="1A1A1A"/>
          </a:solidFill>
          <a:ln w="0">
            <a:solidFill>
              <a:srgbClr val="1A1A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8" name="Grafik 2"/>
          <p:cNvPicPr/>
          <p:nvPr/>
        </p:nvPicPr>
        <p:blipFill>
          <a:blip r:embed="rId5"/>
          <a:stretch/>
        </p:blipFill>
        <p:spPr>
          <a:xfrm>
            <a:off x="573480" y="2516400"/>
            <a:ext cx="178920" cy="9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5" dur="indefinite" restart="never" nodeType="tmRoot">
          <p:childTnLst>
            <p:seq>
              <p:cTn id="226" dur="indefinite" nodeType="mainSeq">
                <p:childTnLst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Cloud listens — local rewrites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Chart 0"/>
          <p:cNvGraphicFramePr/>
          <p:nvPr/>
        </p:nvGraphicFramePr>
        <p:xfrm>
          <a:off x="457200" y="1097280"/>
          <a:ext cx="7770960" cy="319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1" name="Text 1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11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echteck 165"/>
          <p:cNvSpPr/>
          <p:nvPr/>
        </p:nvSpPr>
        <p:spPr>
          <a:xfrm>
            <a:off x="468720" y="3497400"/>
            <a:ext cx="1647000" cy="358920"/>
          </a:xfrm>
          <a:prstGeom prst="rect">
            <a:avLst/>
          </a:prstGeom>
          <a:solidFill>
            <a:srgbClr val="1A1A1A"/>
          </a:solidFill>
          <a:ln w="0">
            <a:solidFill>
              <a:srgbClr val="1A1A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             GPT-4o (avg)</a:t>
            </a:r>
            <a:endParaRPr lang="de-DE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Grafik 166"/>
          <p:cNvPicPr/>
          <p:nvPr/>
        </p:nvPicPr>
        <p:blipFill>
          <a:blip r:embed="rId2"/>
          <a:stretch/>
        </p:blipFill>
        <p:spPr>
          <a:xfrm>
            <a:off x="914760" y="3627360"/>
            <a:ext cx="178920" cy="993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85" name="Chart 0"/>
          <p:cNvGraphicFramePr/>
          <p:nvPr/>
        </p:nvGraphicFramePr>
        <p:xfrm>
          <a:off x="685800" y="1096920"/>
          <a:ext cx="7771320" cy="3199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6" name="Rechteck 3"/>
          <p:cNvSpPr/>
          <p:nvPr/>
        </p:nvSpPr>
        <p:spPr>
          <a:xfrm>
            <a:off x="691920" y="3499200"/>
            <a:ext cx="358920" cy="358920"/>
          </a:xfrm>
          <a:prstGeom prst="rect">
            <a:avLst/>
          </a:prstGeom>
          <a:solidFill>
            <a:srgbClr val="1A1A1A"/>
          </a:solidFill>
          <a:ln w="0">
            <a:solidFill>
              <a:srgbClr val="1A1A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" name="Grafik 3"/>
          <p:cNvPicPr/>
          <p:nvPr/>
        </p:nvPicPr>
        <p:blipFill>
          <a:blip r:embed="rId4"/>
          <a:stretch/>
        </p:blipFill>
        <p:spPr>
          <a:xfrm>
            <a:off x="852480" y="3605040"/>
            <a:ext cx="178920" cy="9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The Anamnese Catastrophe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9" name="Chart 0"/>
          <p:cNvGraphicFramePr/>
          <p:nvPr/>
        </p:nvGraphicFramePr>
        <p:xfrm>
          <a:off x="457200" y="1188720"/>
          <a:ext cx="5484960" cy="255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0" name="Text 1"/>
          <p:cNvSpPr/>
          <p:nvPr/>
        </p:nvSpPr>
        <p:spPr>
          <a:xfrm>
            <a:off x="6217920" y="1620000"/>
            <a:ext cx="25588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–93%</a:t>
            </a:r>
            <a:endParaRPr lang="de-DE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6217920" y="2717280"/>
            <a:ext cx="2558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content silently dropped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2205720" y="3955320"/>
            <a:ext cx="3638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SauerkrautLM 8B formatting step on a 19-min conversation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12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1" dur="indefinite" restart="never" nodeType="tmRoot">
          <p:childTnLst>
            <p:seq>
              <p:cTn id="242" dur="indefinite" nodeType="mainSeq">
                <p:childTnLst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No model reached clinically acceptable quality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5577840" y="1321560"/>
            <a:ext cx="3198960" cy="2284560"/>
          </a:xfrm>
          <a:prstGeom prst="roundRect">
            <a:avLst>
              <a:gd name="adj" fmla="val 6000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715000" y="1394640"/>
            <a:ext cx="2924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Quality Distribution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8" name="Table 0"/>
          <p:cNvGraphicFramePr/>
          <p:nvPr/>
        </p:nvGraphicFramePr>
        <p:xfrm>
          <a:off x="5669280" y="1733040"/>
          <a:ext cx="3016080" cy="1791000"/>
        </p:xfrm>
        <a:graphic>
          <a:graphicData uri="http://schemas.openxmlformats.org/drawingml/2006/table">
            <a:tbl>
              <a:tblPr/>
              <a:tblGrid>
                <a:gridCol w="1400760"/>
                <a:gridCol w="538560"/>
                <a:gridCol w="538560"/>
                <a:gridCol w="538560"/>
              </a:tblGrid>
              <a:tr h="358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Model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erif"/>
                        </a:rPr>
                        <a:t>+</a:t>
                      </a:r>
                      <a:endParaRPr lang="de-DE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erif"/>
                        </a:rPr>
                        <a:t>o</a:t>
                      </a:r>
                      <a:endParaRPr lang="de-DE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ejaVu Serif"/>
                        </a:rPr>
                        <a:t>-</a:t>
                      </a:r>
                      <a:endParaRPr lang="de-DE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solidFill>
                      <a:srgbClr val="D04A02"/>
                    </a:solidFill>
                  </a:tcPr>
                </a:tc>
              </a:tr>
              <a:tr h="358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GPT-4o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0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10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1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  <a:tr h="358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Gemma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0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5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6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  <a:tr h="358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Sauerkraut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0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4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7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  <a:tr h="358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Llama 3.2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0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2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8E8E8"/>
                          </a:solidFill>
                          <a:effectLst/>
                          <a:uFillTx/>
                          <a:latin typeface="DejaVu Serif"/>
                          <a:ea typeface="DejaVu Serif"/>
                        </a:rPr>
                        <a:t>9</a:t>
                      </a:r>
                      <a:endParaRPr lang="de-DE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A3D42"/>
                      </a:solidFill>
                      <a:prstDash val="solid"/>
                    </a:lnL>
                    <a:lnR w="6480">
                      <a:solidFill>
                        <a:srgbClr val="3A3D42"/>
                      </a:solidFill>
                      <a:prstDash val="solid"/>
                    </a:lnR>
                    <a:lnT w="6480">
                      <a:solidFill>
                        <a:srgbClr val="3A3D42"/>
                      </a:solidFill>
                      <a:prstDash val="solid"/>
                    </a:lnT>
                    <a:lnB w="6480">
                      <a:solidFill>
                        <a:srgbClr val="3A3D4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9" name="Text 13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13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hteck 191"/>
          <p:cNvSpPr/>
          <p:nvPr/>
        </p:nvSpPr>
        <p:spPr>
          <a:xfrm>
            <a:off x="510840" y="1450080"/>
            <a:ext cx="358920" cy="358920"/>
          </a:xfrm>
          <a:prstGeom prst="rect">
            <a:avLst/>
          </a:prstGeom>
          <a:solidFill>
            <a:srgbClr val="1A1A1A"/>
          </a:solidFill>
          <a:ln w="0">
            <a:solidFill>
              <a:srgbClr val="1A1A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2" name="Chart 0"/>
          <p:cNvGraphicFramePr/>
          <p:nvPr/>
        </p:nvGraphicFramePr>
        <p:xfrm>
          <a:off x="360000" y="1229760"/>
          <a:ext cx="5079600" cy="292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3" name="Shape 1"/>
          <p:cNvSpPr/>
          <p:nvPr/>
        </p:nvSpPr>
        <p:spPr>
          <a:xfrm>
            <a:off x="1078920" y="4288320"/>
            <a:ext cx="163440" cy="127080"/>
          </a:xfrm>
          <a:prstGeom prst="roundRect">
            <a:avLst>
              <a:gd name="adj" fmla="val 21429"/>
            </a:avLst>
          </a:prstGeom>
          <a:solidFill>
            <a:srgbClr val="D04A3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1280160" y="4260960"/>
            <a:ext cx="1187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0–3 not usable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2541960" y="4288320"/>
            <a:ext cx="163440" cy="127080"/>
          </a:xfrm>
          <a:prstGeom prst="roundRect">
            <a:avLst>
              <a:gd name="adj" fmla="val 21429"/>
            </a:avLst>
          </a:prstGeom>
          <a:solidFill>
            <a:srgbClr val="D89614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2743200" y="42609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3–6 needs revision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4187880" y="4288320"/>
            <a:ext cx="163440" cy="127080"/>
          </a:xfrm>
          <a:prstGeom prst="roundRect">
            <a:avLst>
              <a:gd name="adj" fmla="val 21429"/>
            </a:avLst>
          </a:prstGeom>
          <a:solidFill>
            <a:srgbClr val="3DA07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4389120" y="4260960"/>
            <a:ext cx="1187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6–8 acceptable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4446720" y="1258200"/>
            <a:ext cx="360" cy="2671560"/>
          </a:xfrm>
          <a:prstGeom prst="line">
            <a:avLst/>
          </a:prstGeom>
          <a:ln w="25400">
            <a:solidFill>
              <a:srgbClr val="3DA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hteck 5"/>
          <p:cNvSpPr/>
          <p:nvPr/>
        </p:nvSpPr>
        <p:spPr>
          <a:xfrm>
            <a:off x="317880" y="1451880"/>
            <a:ext cx="358920" cy="358920"/>
          </a:xfrm>
          <a:prstGeom prst="rect">
            <a:avLst/>
          </a:prstGeom>
          <a:solidFill>
            <a:srgbClr val="1A1A1A"/>
          </a:solidFill>
          <a:ln w="0">
            <a:solidFill>
              <a:srgbClr val="1A1A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Grafik 5"/>
          <p:cNvPicPr/>
          <p:nvPr/>
        </p:nvPicPr>
        <p:blipFill>
          <a:blip r:embed="rId2"/>
          <a:stretch/>
        </p:blipFill>
        <p:spPr>
          <a:xfrm>
            <a:off x="478440" y="1557720"/>
            <a:ext cx="178920" cy="9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Technology assists —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but doesn't yet replace a clinician's pen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"/>
          <p:cNvSpPr/>
          <p:nvPr/>
        </p:nvSpPr>
        <p:spPr>
          <a:xfrm>
            <a:off x="457200" y="1188720"/>
            <a:ext cx="3930480" cy="2650320"/>
          </a:xfrm>
          <a:prstGeom prst="roundRect">
            <a:avLst>
              <a:gd name="adj" fmla="val 5172"/>
            </a:avLst>
          </a:prstGeom>
          <a:solidFill>
            <a:srgbClr val="3A251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640080" y="1325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Winners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640080" y="1645920"/>
            <a:ext cx="3564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Assembly &amp; GPT-4o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640080" y="224028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+</a:t>
            </a: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  Lowest WER (8.9 %)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640080" y="260604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+</a:t>
            </a: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  Lowest hallucination rate (0.0 %)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640080" y="297180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+</a:t>
            </a: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  Best SOAP score (4.5 / 8)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4754880" y="1188720"/>
            <a:ext cx="3930480" cy="2650320"/>
          </a:xfrm>
          <a:prstGeom prst="roundRect">
            <a:avLst>
              <a:gd name="adj" fmla="val 5172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4937760" y="1325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D04A3A"/>
                </a:solidFill>
                <a:effectLst/>
                <a:uFillTx/>
                <a:latin typeface="DejaVu Serif"/>
                <a:ea typeface="DejaVu Serif"/>
              </a:rPr>
              <a:t>But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4937760" y="1645920"/>
            <a:ext cx="3564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Still not clinically usable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4937760" y="224028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-</a:t>
            </a: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  Zero runs reached 'acceptable'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4937760" y="260604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-</a:t>
            </a: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  Plan section averaged 0.1 / 2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4937760" y="297180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-</a:t>
            </a:r>
            <a:r>
              <a:rPr lang="en-US" sz="13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  Performance collapses with bad audio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3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4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14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3" dur="indefinite" restart="never" nodeType="tmRoot">
          <p:childTnLst>
            <p:seq>
              <p:cTn id="264" dur="indefinite" nodeType="mainSeq">
                <p:childTnLst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What we deliberately left out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411480" y="1280160"/>
            <a:ext cx="2650320" cy="2558880"/>
          </a:xfrm>
          <a:prstGeom prst="roundRect">
            <a:avLst>
              <a:gd name="adj" fmla="val 5357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Shape 2"/>
          <p:cNvSpPr/>
          <p:nvPr/>
        </p:nvSpPr>
        <p:spPr>
          <a:xfrm>
            <a:off x="411480" y="1280160"/>
            <a:ext cx="71640" cy="255888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640080" y="146304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⏱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640080" y="201168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No real-time mode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640080" y="2514600"/>
            <a:ext cx="22845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Batch over streaming — to isolate model quality from latency engineering.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"/>
          <p:cNvSpPr/>
          <p:nvPr/>
        </p:nvSpPr>
        <p:spPr>
          <a:xfrm>
            <a:off x="3246120" y="1280160"/>
            <a:ext cx="2650320" cy="2558880"/>
          </a:xfrm>
          <a:prstGeom prst="roundRect">
            <a:avLst>
              <a:gd name="adj" fmla="val 5357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3246120" y="1280160"/>
            <a:ext cx="71640" cy="255888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3474720" y="146304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🔄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3474720" y="201168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No prompt iteration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0"/>
          <p:cNvSpPr/>
          <p:nvPr/>
        </p:nvSpPr>
        <p:spPr>
          <a:xfrm>
            <a:off x="3474720" y="2514600"/>
            <a:ext cx="22845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Same prompt for all models. The Plan section is highly prompt-sensitive.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1"/>
          <p:cNvSpPr/>
          <p:nvPr/>
        </p:nvSpPr>
        <p:spPr>
          <a:xfrm>
            <a:off x="6080760" y="1280160"/>
            <a:ext cx="2650320" cy="2558880"/>
          </a:xfrm>
          <a:prstGeom prst="roundRect">
            <a:avLst>
              <a:gd name="adj" fmla="val 5357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Shape 12"/>
          <p:cNvSpPr/>
          <p:nvPr/>
        </p:nvSpPr>
        <p:spPr>
          <a:xfrm>
            <a:off x="6080760" y="1280160"/>
            <a:ext cx="71640" cy="255888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 13"/>
          <p:cNvSpPr/>
          <p:nvPr/>
        </p:nvSpPr>
        <p:spPr>
          <a:xfrm>
            <a:off x="6309360" y="1463040"/>
            <a:ext cx="547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🇩🇪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6309360" y="2011680"/>
            <a:ext cx="2284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German only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6309360" y="2514600"/>
            <a:ext cx="22845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All scenarios in German. Generalization to other languages untested.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6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15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9" dur="indefinite" restart="never" nodeType="tmRoot">
          <p:childTnLst>
            <p:seq>
              <p:cTn id="280" dur="indefinite" nodeType="mainSeq">
                <p:childTnLst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The best model and the safe model aren't the same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1097280" y="4389120"/>
            <a:ext cx="4572000" cy="360"/>
          </a:xfrm>
          <a:prstGeom prst="line">
            <a:avLst/>
          </a:prstGeom>
          <a:ln w="190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1097280" y="1188720"/>
            <a:ext cx="360" cy="3200400"/>
          </a:xfrm>
          <a:prstGeom prst="line">
            <a:avLst/>
          </a:prstGeom>
          <a:ln w="19050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3383280" y="1188720"/>
            <a:ext cx="360" cy="3200400"/>
          </a:xfrm>
          <a:prstGeom prst="line">
            <a:avLst/>
          </a:prstGeom>
          <a:ln w="6350">
            <a:solidFill>
              <a:srgbClr val="3A3D4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Shape 4"/>
          <p:cNvSpPr/>
          <p:nvPr/>
        </p:nvSpPr>
        <p:spPr>
          <a:xfrm>
            <a:off x="1097280" y="2788920"/>
            <a:ext cx="4572000" cy="360"/>
          </a:xfrm>
          <a:prstGeom prst="line">
            <a:avLst/>
          </a:prstGeom>
          <a:ln w="6350">
            <a:solidFill>
              <a:srgbClr val="3A3D4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1097280" y="4530960"/>
            <a:ext cx="4570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SOAP Quality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 rot="16200000">
            <a:off x="423720" y="2355480"/>
            <a:ext cx="912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Data sovereignty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960120" y="4407480"/>
            <a:ext cx="2728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0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3246120" y="4407480"/>
            <a:ext cx="2728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4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5532120" y="4407480"/>
            <a:ext cx="2728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8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2160360" y="1097640"/>
            <a:ext cx="272880" cy="272880"/>
          </a:xfrm>
          <a:prstGeom prst="ellipse">
            <a:avLst/>
          </a:prstGeom>
          <a:solidFill>
            <a:srgbClr val="3DA07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1320120" y="1344240"/>
            <a:ext cx="1370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DA070"/>
                </a:solidFill>
                <a:effectLst/>
                <a:uFillTx/>
                <a:latin typeface="DejaVu Serif"/>
                <a:ea typeface="DejaVu Serif"/>
              </a:rPr>
              <a:t>Llama 3.2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2"/>
          <p:cNvSpPr/>
          <p:nvPr/>
        </p:nvSpPr>
        <p:spPr>
          <a:xfrm>
            <a:off x="2783160" y="1097640"/>
            <a:ext cx="272880" cy="272880"/>
          </a:xfrm>
          <a:prstGeom prst="ellipse">
            <a:avLst/>
          </a:prstGeom>
          <a:solidFill>
            <a:srgbClr val="3DA07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2046240" y="891720"/>
            <a:ext cx="1370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DA070"/>
                </a:solidFill>
                <a:effectLst/>
                <a:uFillTx/>
                <a:latin typeface="DejaVu Serif"/>
                <a:ea typeface="DejaVu Serif"/>
              </a:rPr>
              <a:t>Sauerkraut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2886840" y="1097640"/>
            <a:ext cx="272880" cy="272880"/>
          </a:xfrm>
          <a:prstGeom prst="ellipse">
            <a:avLst/>
          </a:prstGeom>
          <a:solidFill>
            <a:srgbClr val="3DA07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2560680" y="1363680"/>
            <a:ext cx="1370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DA070"/>
                </a:solidFill>
                <a:effectLst/>
                <a:uFillTx/>
                <a:latin typeface="DejaVu Serif"/>
                <a:ea typeface="DejaVu Serif"/>
              </a:rPr>
              <a:t>Gemma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6"/>
          <p:cNvSpPr/>
          <p:nvPr/>
        </p:nvSpPr>
        <p:spPr>
          <a:xfrm>
            <a:off x="3531960" y="2651760"/>
            <a:ext cx="272880" cy="272880"/>
          </a:xfrm>
          <a:prstGeom prst="ellipse">
            <a:avLst/>
          </a:prstGeom>
          <a:solidFill>
            <a:srgbClr val="D89614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3257640" y="2468880"/>
            <a:ext cx="1370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89614"/>
                </a:solidFill>
                <a:effectLst/>
                <a:uFillTx/>
                <a:latin typeface="DejaVu Serif"/>
                <a:ea typeface="DejaVu Serif"/>
              </a:rPr>
              <a:t>Speechmatics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8"/>
          <p:cNvSpPr/>
          <p:nvPr/>
        </p:nvSpPr>
        <p:spPr>
          <a:xfrm>
            <a:off x="3417480" y="3996000"/>
            <a:ext cx="272880" cy="272880"/>
          </a:xfrm>
          <a:prstGeom prst="ellipse">
            <a:avLst/>
          </a:prstGeom>
          <a:solidFill>
            <a:srgbClr val="D04A3A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 19"/>
          <p:cNvSpPr/>
          <p:nvPr/>
        </p:nvSpPr>
        <p:spPr>
          <a:xfrm>
            <a:off x="3143160" y="3813120"/>
            <a:ext cx="1370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04A3A"/>
                </a:solidFill>
                <a:effectLst/>
                <a:uFillTx/>
                <a:latin typeface="DejaVu Serif"/>
                <a:ea typeface="DejaVu Serif"/>
              </a:rPr>
              <a:t>Assembly</a:t>
            </a:r>
            <a:endParaRPr lang="de-DE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1"/>
          <p:cNvSpPr/>
          <p:nvPr/>
        </p:nvSpPr>
        <p:spPr>
          <a:xfrm>
            <a:off x="4628880" y="1271520"/>
            <a:ext cx="1278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Where we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DejaVu Serif"/>
                <a:ea typeface="DejaVu Serif"/>
              </a:rPr>
              <a:t>want to be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3"/>
          <p:cNvSpPr/>
          <p:nvPr/>
        </p:nvSpPr>
        <p:spPr>
          <a:xfrm>
            <a:off x="6492600" y="2171880"/>
            <a:ext cx="181440" cy="181440"/>
          </a:xfrm>
          <a:prstGeom prst="ellipse">
            <a:avLst/>
          </a:prstGeom>
          <a:solidFill>
            <a:srgbClr val="3DA07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 24"/>
          <p:cNvSpPr/>
          <p:nvPr/>
        </p:nvSpPr>
        <p:spPr>
          <a:xfrm>
            <a:off x="6766920" y="2126160"/>
            <a:ext cx="2558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Local models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5"/>
          <p:cNvSpPr/>
          <p:nvPr/>
        </p:nvSpPr>
        <p:spPr>
          <a:xfrm>
            <a:off x="6766920" y="2354760"/>
            <a:ext cx="2558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fully on-premise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6"/>
          <p:cNvSpPr/>
          <p:nvPr/>
        </p:nvSpPr>
        <p:spPr>
          <a:xfrm>
            <a:off x="6492600" y="2674800"/>
            <a:ext cx="181440" cy="181440"/>
          </a:xfrm>
          <a:prstGeom prst="ellipse">
            <a:avLst/>
          </a:prstGeom>
          <a:solidFill>
            <a:srgbClr val="D8961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 27"/>
          <p:cNvSpPr/>
          <p:nvPr/>
        </p:nvSpPr>
        <p:spPr>
          <a:xfrm>
            <a:off x="6766920" y="2629080"/>
            <a:ext cx="2558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Speechmatics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8"/>
          <p:cNvSpPr/>
          <p:nvPr/>
        </p:nvSpPr>
        <p:spPr>
          <a:xfrm>
            <a:off x="6766920" y="2857680"/>
            <a:ext cx="2558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STT in EU, LLM in US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9"/>
          <p:cNvSpPr/>
          <p:nvPr/>
        </p:nvSpPr>
        <p:spPr>
          <a:xfrm>
            <a:off x="6492600" y="3177720"/>
            <a:ext cx="181440" cy="18144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 30"/>
          <p:cNvSpPr/>
          <p:nvPr/>
        </p:nvSpPr>
        <p:spPr>
          <a:xfrm>
            <a:off x="6766920" y="3132000"/>
            <a:ext cx="2558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Assembly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1"/>
          <p:cNvSpPr/>
          <p:nvPr/>
        </p:nvSpPr>
        <p:spPr>
          <a:xfrm>
            <a:off x="6766920" y="3360600"/>
            <a:ext cx="2558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A95A0"/>
                </a:solidFill>
                <a:effectLst/>
                <a:uFillTx/>
                <a:latin typeface="DejaVu Serif"/>
                <a:ea typeface="DejaVu Serif"/>
              </a:rPr>
              <a:t>fully US-hosted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2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3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16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7" dur="indefinite" restart="never" nodeType="tmRoot">
          <p:childTnLst>
            <p:seq>
              <p:cTn id="318" dur="indefinite" nodeType="mainSeq">
                <p:childTnLst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Three concrete next steps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457200" y="1188720"/>
            <a:ext cx="821520" cy="91296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457200" y="1188720"/>
            <a:ext cx="82152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01</a:t>
            </a:r>
            <a:endParaRPr lang="de-DE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1371600" y="1188720"/>
            <a:ext cx="7313760" cy="912960"/>
          </a:xfrm>
          <a:prstGeom prst="roundRect">
            <a:avLst>
              <a:gd name="adj" fmla="val 15000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1554480" y="1280160"/>
            <a:ext cx="6948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Scale up the local stack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1554480" y="1691640"/>
            <a:ext cx="6948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Expected: Close the cloud-vs-local quality gap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457200" y="2331720"/>
            <a:ext cx="821520" cy="91296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457200" y="2331720"/>
            <a:ext cx="82152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02</a:t>
            </a:r>
            <a:endParaRPr lang="de-DE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1371600" y="2331720"/>
            <a:ext cx="7313760" cy="912960"/>
          </a:xfrm>
          <a:prstGeom prst="roundRect">
            <a:avLst>
              <a:gd name="adj" fmla="val 15000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1554480" y="2423160"/>
            <a:ext cx="6948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Prompt engineering for the Plan section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1554480" y="2834640"/>
            <a:ext cx="6948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Expected: Lift average P-score from 0.1 to 1.0+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1"/>
          <p:cNvSpPr/>
          <p:nvPr/>
        </p:nvSpPr>
        <p:spPr>
          <a:xfrm>
            <a:off x="457200" y="3474720"/>
            <a:ext cx="821520" cy="912960"/>
          </a:xfrm>
          <a:prstGeom prst="roundRect">
            <a:avLst>
              <a:gd name="adj" fmla="val 16667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457200" y="3474720"/>
            <a:ext cx="82152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03</a:t>
            </a:r>
            <a:endParaRPr lang="de-DE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1371600" y="3474720"/>
            <a:ext cx="7313760" cy="912960"/>
          </a:xfrm>
          <a:prstGeom prst="roundRect">
            <a:avLst>
              <a:gd name="adj" fmla="val 15000"/>
            </a:avLst>
          </a:prstGeom>
          <a:solidFill>
            <a:srgbClr val="2A2D3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1554480" y="3566160"/>
            <a:ext cx="6948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Real-time streaming UX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1554480" y="3977640"/>
            <a:ext cx="6948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Expected: Draft note ready before patient leaves the room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17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3" dur="indefinite" restart="never" nodeType="tmRoot">
          <p:childTnLst>
            <p:seq>
              <p:cTn id="364" dur="indefinite" nodeType="mainSeq">
                <p:childTnLst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457200" y="274320"/>
            <a:ext cx="82281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If you remember only three things...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365760" y="1188720"/>
            <a:ext cx="912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1</a:t>
            </a:r>
            <a:endParaRPr lang="de-DE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1371600" y="1188720"/>
            <a:ext cx="73137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The pipeline works — the Plan section doesn't.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365760" y="2286000"/>
            <a:ext cx="912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2</a:t>
            </a:r>
            <a:endParaRPr lang="de-DE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1371600" y="2286000"/>
            <a:ext cx="73137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Hardware and model size are the bottleneck.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365760" y="3383280"/>
            <a:ext cx="912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3</a:t>
            </a:r>
            <a:endParaRPr lang="de-DE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1371600" y="3383280"/>
            <a:ext cx="73137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E8E8E8"/>
                </a:solidFill>
                <a:effectLst/>
                <a:uFillTx/>
                <a:latin typeface="DejaVu Serif"/>
                <a:ea typeface="DejaVu Serif"/>
              </a:rPr>
              <a:t>Assistive today. Autonomous tomorrow?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8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18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1" dur="indefinite" restart="never" nodeType="tmRoot">
          <p:childTnLst>
            <p:seq>
              <p:cTn id="402" dur="indefinite" nodeType="mainSeq">
                <p:childTnLst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6400800" y="548640"/>
            <a:ext cx="2376000" cy="318600"/>
          </a:xfrm>
          <a:prstGeom prst="parallelogram">
            <a:avLst>
              <a:gd name="adj" fmla="val 25000"/>
            </a:avLst>
          </a:prstGeom>
          <a:solidFill>
            <a:srgbClr val="D04A0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5" name="Shape 1"/>
          <p:cNvSpPr/>
          <p:nvPr/>
        </p:nvSpPr>
        <p:spPr>
          <a:xfrm>
            <a:off x="6583680" y="1005840"/>
            <a:ext cx="2193120" cy="254520"/>
          </a:xfrm>
          <a:prstGeom prst="parallelogram">
            <a:avLst>
              <a:gd name="adj" fmla="val 25000"/>
            </a:avLst>
          </a:prstGeom>
          <a:solidFill>
            <a:srgbClr val="D04A02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457200" y="1645920"/>
            <a:ext cx="822816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>
                <a:solidFill>
                  <a:srgbClr val="FFFFFF"/>
                </a:solidFill>
                <a:effectLst/>
                <a:uFillTx/>
                <a:latin typeface="DejaVu Serif"/>
                <a:ea typeface="DejaVu Serif"/>
              </a:rPr>
              <a:t>Questions?</a:t>
            </a:r>
            <a:endParaRPr lang="de-DE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"/>
          <p:cNvSpPr/>
          <p:nvPr/>
        </p:nvSpPr>
        <p:spPr>
          <a:xfrm>
            <a:off x="457200" y="3749040"/>
            <a:ext cx="8228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04A02"/>
                </a:solidFill>
                <a:effectLst/>
                <a:uFillTx/>
                <a:latin typeface="DejaVu Serif"/>
                <a:ea typeface="DejaVu Serif"/>
              </a:rPr>
              <a:t>Thank you.</a:t>
            </a:r>
            <a:endParaRPr lang="de-D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365760" y="4864680"/>
            <a:ext cx="6856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AI-Anamnesis · Master Seminar · PwC × Hochschule Hannover · 2026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7772400" y="4864680"/>
            <a:ext cx="10044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570"/>
                </a:solidFill>
                <a:effectLst/>
                <a:uFillTx/>
                <a:latin typeface="DejaVu Serif"/>
                <a:ea typeface="DejaVu Serif"/>
              </a:rPr>
              <a:t>19 / 19</a:t>
            </a:r>
            <a:endParaRPr lang="de-DE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Application>LibreOffice/26.2.1.2$Linux_X86_64 LibreOffice_project/620$Build-2</Application>
  <AppVersion>15.0000</AppVersion>
  <Words>982</Words>
  <Paragraphs>254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2026-05-15T07:25:02Z</dcterms:created>
  <dc:creator>Anton Reinhard &amp; Leonard Niedens</dc:creator>
  <dc:description/>
  <dc:language>de-DE</dc:language>
  <cp:lastModifiedBy/>
  <dcterms:modified xsi:type="dcterms:W3CDTF">2026-05-15T16:54:59Z</dcterms:modified>
  <cp:revision>15</cp:revision>
  <dc:subject>PptxGenJS Presentation</dc:subject>
  <dc:title>AI-Anamnesis of Patients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0x01010009ABEE73BF99044B8E88242258EF819B</vt:lpwstr>
  </property>
  <property fmtid="{D5CDD505-2E9C-101B-9397-08002B2CF9AE}" pid="3" name="Notes">
    <vt:i4>19</vt:i4>
  </property>
  <property fmtid="{D5CDD505-2E9C-101B-9397-08002B2CF9AE}" pid="4" name="PresentationFormat">
    <vt:lpwstr>Bildschirmpräsentation (16:9)</vt:lpwstr>
  </property>
  <property fmtid="{D5CDD505-2E9C-101B-9397-08002B2CF9AE}" pid="5" name="Slides">
    <vt:i4>19</vt:i4>
  </property>
</Properties>
</file>