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5.xml" ContentType="application/vnd.openxmlformats-officedocument.drawingml.chart+xml"/>
  <Override PartName="/ppt/charts/colors5.xml" ContentType="application/vnd.ms-office.chartcolorstyle+xml"/>
  <Override PartName="/ppt/charts/style5.xml" ContentType="application/vnd.ms-office.chartstyle+xml"/>
  <Override PartName="/ppt/charts/colors3.xml" ContentType="application/vnd.ms-office.chartcolorstyle+xml"/>
  <Override PartName="/ppt/charts/style1.xml" ContentType="application/vnd.ms-office.chartstyle+xml"/>
  <Override PartName="/ppt/charts/chart1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3.xml" ContentType="application/vnd.openxmlformats-officedocument.drawingml.chart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3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_rels/chart4.xml.rels><?xml version="1.0" encoding="UTF-8"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
</Relationships>
</file>

<file path=ppt/charts/_rels/chart5.xml.rels><?xml version="1.0" encoding="UTF-8"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WER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☁ Assembly</c:v>
                </c:pt>
                <c:pt idx="1">
                  <c:v>☁ Speechmatics</c:v>
                </c:pt>
                <c:pt idx="2">
                  <c:v>▣ Whisper (avg)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8.9</c:v>
                </c:pt>
                <c:pt idx="1">
                  <c:v>11.4</c:v>
                </c:pt>
                <c:pt idx="2">
                  <c:v>13.5</c:v>
                </c:pt>
              </c:numCache>
            </c:numRef>
          </c:val>
        </c:ser>
        <c:gapWidth val="60"/>
        <c:overlap val="0"/>
        <c:axId val="43481249"/>
        <c:axId val="43923715"/>
      </c:barChart>
      <c:catAx>
        <c:axId val="4348124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43923715"/>
        <c:crosses val="autoZero"/>
        <c:auto val="1"/>
        <c:lblAlgn val="ctr"/>
        <c:lblOffset val="100"/>
        <c:noMultiLvlLbl val="0"/>
      </c:catAx>
      <c:valAx>
        <c:axId val="43923715"/>
        <c:scaling>
          <c:orientation val="minMax"/>
          <c:max val="16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43481249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Avg LLM error rate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☁ GPT-4o (cloud avg)</c:v>
                </c:pt>
                <c:pt idx="1">
                  <c:v>▣ Gemma</c:v>
                </c:pt>
                <c:pt idx="2">
                  <c:v>▣ Llama 3.2</c:v>
                </c:pt>
                <c:pt idx="3">
                  <c:v>▣ Sauerkraut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</c:v>
                </c:pt>
                <c:pt idx="1">
                  <c:v>13.3</c:v>
                </c:pt>
                <c:pt idx="2">
                  <c:v>15.1</c:v>
                </c:pt>
                <c:pt idx="3">
                  <c:v>19.7</c:v>
                </c:pt>
              </c:numCache>
            </c:numRef>
          </c:val>
        </c:ser>
        <c:gapWidth val="60"/>
        <c:overlap val="0"/>
        <c:axId val="92720148"/>
        <c:axId val="84338125"/>
      </c:barChart>
      <c:catAx>
        <c:axId val="9272014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84338125"/>
        <c:crosses val="autoZero"/>
        <c:auto val="1"/>
        <c:lblAlgn val="ctr"/>
        <c:lblOffset val="100"/>
        <c:noMultiLvlLbl val="0"/>
      </c:catAx>
      <c:valAx>
        <c:axId val="84338125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92720148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Avg LLM error rate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☁ GPT-4o (avg)</c:v>
                </c:pt>
                <c:pt idx="1">
                  <c:v>▣ Gemma</c:v>
                </c:pt>
                <c:pt idx="2">
                  <c:v>▣ Llama 3.2</c:v>
                </c:pt>
                <c:pt idx="3">
                  <c:v>▣ Sauerkraut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</c:v>
                </c:pt>
                <c:pt idx="1">
                  <c:v>13.3</c:v>
                </c:pt>
                <c:pt idx="2">
                  <c:v>15.1</c:v>
                </c:pt>
                <c:pt idx="3">
                  <c:v>19.7</c:v>
                </c:pt>
              </c:numCache>
            </c:numRef>
          </c:val>
        </c:ser>
        <c:gapWidth val="60"/>
        <c:overlap val="0"/>
        <c:axId val="13058086"/>
        <c:axId val="13087239"/>
      </c:barChart>
      <c:catAx>
        <c:axId val="1305808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13087239"/>
        <c:crosses val="autoZero"/>
        <c:auto val="1"/>
        <c:lblAlgn val="ctr"/>
        <c:lblOffset val="100"/>
        <c:noMultiLvlLbl val="0"/>
      </c:catAx>
      <c:valAx>
        <c:axId val="13087239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13058086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Word count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#,##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#,##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#,##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After SauerkrautLM</c:v>
                </c:pt>
                <c:pt idx="1">
                  <c:v>Ground Truth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152</c:v>
                </c:pt>
                <c:pt idx="1">
                  <c:v>2269</c:v>
                </c:pt>
              </c:numCache>
            </c:numRef>
          </c:val>
        </c:ser>
        <c:gapWidth val="60"/>
        <c:overlap val="0"/>
        <c:axId val="89894356"/>
        <c:axId val="8628288"/>
      </c:barChart>
      <c:catAx>
        <c:axId val="8989435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8628288"/>
        <c:crosses val="autoZero"/>
        <c:auto val="1"/>
        <c:lblAlgn val="ctr"/>
        <c:lblOffset val="100"/>
        <c:noMultiLvlLbl val="0"/>
      </c:catAx>
      <c:valAx>
        <c:axId val="8628288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89894356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Ø SOAP Score</c:v>
                </c:pt>
              </c:strCache>
            </c:strRef>
          </c:tx>
          <c:spPr>
            <a:solidFill>
              <a:srgbClr val="D04A3A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3A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Lbls>
            <c:dLbl>
              <c:idx val="0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▣ Llama 3.2</c:v>
                </c:pt>
                <c:pt idx="1">
                  <c:v>▣ Sauerkraut</c:v>
                </c:pt>
                <c:pt idx="2">
                  <c:v>▣ Gemma</c:v>
                </c:pt>
                <c:pt idx="3">
                  <c:v>☁ GPT-4o (avg)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2.1</c:v>
                </c:pt>
                <c:pt idx="1">
                  <c:v>3.2</c:v>
                </c:pt>
                <c:pt idx="2">
                  <c:v>3.4</c:v>
                </c:pt>
                <c:pt idx="3">
                  <c:v>4.4</c:v>
                </c:pt>
              </c:numCache>
            </c:numRef>
          </c:val>
        </c:ser>
        <c:gapWidth val="60"/>
        <c:overlap val="0"/>
        <c:axId val="74135567"/>
        <c:axId val="15041900"/>
      </c:barChart>
      <c:catAx>
        <c:axId val="7413556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15041900"/>
        <c:crosses val="autoZero"/>
        <c:auto val="1"/>
        <c:lblAlgn val="ctr"/>
        <c:lblOffset val="100"/>
        <c:noMultiLvlLbl val="0"/>
      </c:catAx>
      <c:valAx>
        <c:axId val="15041900"/>
        <c:scaling>
          <c:orientation val="minMax"/>
          <c:max val="8"/>
          <c:min val="0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74135567"/>
        <c:crosses val="autoZero"/>
        <c:crossBetween val="between"/>
        <c:majorUnit val="2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5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94F1FF3-6B02-4535-852D-455C64754493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3C24470-CD5D-44D8-9E23-C4FCA9A050F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180000" y="180000"/>
            <a:ext cx="30009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das sind meine notizer.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Nächste zeile.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HALLOO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-720" y="-72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87688BE-DB3A-40DA-8D42-B1A6EAB806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180000" y="180000"/>
            <a:ext cx="30009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das sind meine notizer.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Nächste zeile.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HALLOO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E38678A-6192-4953-8667-8513BA75D75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E3FBD4A-0A8C-4CE7-93D3-89C2768B01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7B55AA3-F724-423A-B29E-0B2C721F7A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7128D38-D331-46A3-B97C-C3E2667685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7E42B56-809D-4623-A612-C90E97CD12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362255F-32DB-4125-B8D0-E593C7DD88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9EB2D03-211E-4E55-B3BB-2C63E3262B2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FB6E58-F233-4957-8A66-D98EF8A5EB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36AFE7F-3803-4195-8BCA-D43B1CE123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60E8551-066D-4BE1-A3FC-A0D0A5BC6EB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DD57632-801F-42CE-BF7F-95517E69F5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34F5B62-0AA2-49B7-9F52-6C9C261CA8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6DF23DB-81D8-49FD-8145-205F206C29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4EBF888-6D11-4B40-B27A-2760002B10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16063F8-05E4-4EA0-83BA-61D8F1EF9A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1A2C5E1-8454-4F8A-A9FB-6EB0C305AB1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9B24FAD-1644-4A7E-8F60-78365C26509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E82D387-0840-4EC7-B16B-F66B88635F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2BEE19D-E367-4310-89DB-CD1A212918B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&lt;Foliennummer&gt;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chart" Target="../charts/chart1.xml"/><Relationship Id="rId4" Type="http://schemas.openxmlformats.org/officeDocument/2006/relationships/image" Target="../media/image5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5.png"/><Relationship Id="rId3" Type="http://schemas.openxmlformats.org/officeDocument/2006/relationships/chart" Target="../charts/chart3.xml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6949440" y="2011680"/>
            <a:ext cx="2374200" cy="36252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6400800" y="2560320"/>
            <a:ext cx="2922840" cy="408240"/>
          </a:xfrm>
          <a:prstGeom prst="parallelogram">
            <a:avLst>
              <a:gd name="adj" fmla="val 25000"/>
            </a:avLst>
          </a:prstGeom>
          <a:solidFill>
            <a:srgbClr val="D04A02">
              <a:alpha val="60000"/>
            </a:srgbClr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2"/>
          <p:cNvSpPr/>
          <p:nvPr/>
        </p:nvSpPr>
        <p:spPr>
          <a:xfrm>
            <a:off x="180000" y="1260000"/>
            <a:ext cx="39596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Handout</a:t>
            </a:r>
            <a:endParaRPr lang="de-DE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zum</a:t>
            </a:r>
            <a:endParaRPr lang="de-DE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herunterladen</a:t>
            </a:r>
            <a:endParaRPr lang="de-DE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"/>
          <p:cNvPicPr/>
          <p:nvPr/>
        </p:nvPicPr>
        <p:blipFill>
          <a:blip r:embed="rId1"/>
          <a:stretch/>
        </p:blipFill>
        <p:spPr>
          <a:xfrm>
            <a:off x="4176000" y="144000"/>
            <a:ext cx="4859640" cy="485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25"/>
          <p:cNvSpPr/>
          <p:nvPr/>
        </p:nvSpPr>
        <p:spPr>
          <a:xfrm>
            <a:off x="6949440" y="2011680"/>
            <a:ext cx="2374200" cy="36252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Shape 27"/>
          <p:cNvSpPr/>
          <p:nvPr/>
        </p:nvSpPr>
        <p:spPr>
          <a:xfrm>
            <a:off x="6400800" y="2560320"/>
            <a:ext cx="2922840" cy="408240"/>
          </a:xfrm>
          <a:prstGeom prst="parallelogram">
            <a:avLst>
              <a:gd name="adj" fmla="val 25000"/>
            </a:avLst>
          </a:prstGeom>
          <a:solidFill>
            <a:srgbClr val="D04A02">
              <a:alpha val="60000"/>
            </a:srgbClr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29"/>
          <p:cNvSpPr/>
          <p:nvPr/>
        </p:nvSpPr>
        <p:spPr>
          <a:xfrm>
            <a:off x="457200" y="1371600"/>
            <a:ext cx="73119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AI-Anamnesis of Patients</a:t>
            </a:r>
            <a:endParaRPr lang="de-DE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7"/>
          <p:cNvSpPr/>
          <p:nvPr/>
        </p:nvSpPr>
        <p:spPr>
          <a:xfrm>
            <a:off x="457200" y="2286000"/>
            <a:ext cx="73119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Evaluating End-to-End STT</a:t>
            </a:r>
            <a:r>
              <a:rPr lang="en-US" sz="1600" b="0" u="none" strike="noStrike">
                <a:solidFill>
                  <a:srgbClr val="D04A01"/>
                </a:solidFill>
                <a:effectLst/>
                <a:uFillTx/>
                <a:latin typeface="DejaVu Serif"/>
                <a:ea typeface="DejaVu Serif"/>
              </a:rPr>
              <a:t> </a:t>
            </a:r>
            <a:r>
              <a:rPr lang="en-US" sz="16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+ LLM Pipelines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for Medical Documentation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457200" y="3931920"/>
            <a:ext cx="5483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Anton Reinhard  ·  Leonard Niedens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1"/>
          <p:cNvSpPr/>
          <p:nvPr/>
        </p:nvSpPr>
        <p:spPr>
          <a:xfrm>
            <a:off x="457200" y="4251960"/>
            <a:ext cx="6397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Master Seminar  ·  PwC Cloud &amp; AI  ×  Hochschule Hannover  ·  2026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1"/>
          <p:cNvSpPr/>
          <p:nvPr/>
        </p:nvSpPr>
        <p:spPr>
          <a:xfrm>
            <a:off x="457200" y="925920"/>
            <a:ext cx="685476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2 hours</a:t>
            </a:r>
            <a:endParaRPr lang="de-DE" sz="120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2"/>
          <p:cNvSpPr/>
          <p:nvPr/>
        </p:nvSpPr>
        <p:spPr>
          <a:xfrm>
            <a:off x="457200" y="2571840"/>
            <a:ext cx="6854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per day spent by physicians on documentation — not patient care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3"/>
          <p:cNvSpPr/>
          <p:nvPr/>
        </p:nvSpPr>
        <p:spPr>
          <a:xfrm>
            <a:off x="457200" y="3303360"/>
            <a:ext cx="82263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49%</a:t>
            </a:r>
            <a:r>
              <a:rPr lang="en-US" sz="24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of physicians report burnout — administrative load is the #1 cited driver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4"/>
          <p:cNvSpPr/>
          <p:nvPr/>
        </p:nvSpPr>
        <p:spPr>
          <a:xfrm>
            <a:off x="457200" y="4526280"/>
            <a:ext cx="82263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Sources: Annals of Internal Medicine, 2016 · Medscape Physician Burnout Report 2024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6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457200" y="274320"/>
            <a:ext cx="822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So we asked ourselves...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457200" y="822960"/>
            <a:ext cx="822636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"Can an AI listen to a doctor-patient conversation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and produce usable medical documentation —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completely automatically?"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1490400" y="2743200"/>
            <a:ext cx="58212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4"/>
          <p:cNvSpPr/>
          <p:nvPr/>
        </p:nvSpPr>
        <p:spPr>
          <a:xfrm>
            <a:off x="502920" y="347472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Accurate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502920" y="379476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Facts must match what was said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8"/>
          <p:cNvSpPr/>
          <p:nvPr/>
        </p:nvSpPr>
        <p:spPr>
          <a:xfrm>
            <a:off x="3291840" y="347472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Structured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9"/>
          <p:cNvSpPr/>
          <p:nvPr/>
        </p:nvSpPr>
        <p:spPr>
          <a:xfrm>
            <a:off x="3291840" y="379476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SOAP format implementation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6080760" y="347472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Trustworthy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6080760" y="3794760"/>
            <a:ext cx="25570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Zero tolerance for hallucinations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5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3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Grafik 35"/>
          <p:cNvPicPr/>
          <p:nvPr/>
        </p:nvPicPr>
        <p:blipFill>
          <a:blip r:embed="rId1"/>
          <a:stretch/>
        </p:blipFill>
        <p:spPr>
          <a:xfrm>
            <a:off x="1483200" y="2759040"/>
            <a:ext cx="589320" cy="58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Grafik 36"/>
          <p:cNvPicPr/>
          <p:nvPr/>
        </p:nvPicPr>
        <p:blipFill>
          <a:blip r:embed="rId2"/>
          <a:stretch/>
        </p:blipFill>
        <p:spPr>
          <a:xfrm>
            <a:off x="4343760" y="2759040"/>
            <a:ext cx="452880" cy="59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Grafik 37"/>
          <p:cNvPicPr/>
          <p:nvPr/>
        </p:nvPicPr>
        <p:blipFill>
          <a:blip r:embed="rId3"/>
          <a:stretch/>
        </p:blipFill>
        <p:spPr>
          <a:xfrm>
            <a:off x="7048800" y="2759040"/>
            <a:ext cx="609480" cy="60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1"/>
          <p:cNvSpPr/>
          <p:nvPr/>
        </p:nvSpPr>
        <p:spPr>
          <a:xfrm>
            <a:off x="452520" y="1626480"/>
            <a:ext cx="1825560" cy="1459800"/>
          </a:xfrm>
          <a:prstGeom prst="roundRect">
            <a:avLst>
              <a:gd name="adj" fmla="val 10764"/>
            </a:avLst>
          </a:prstGeom>
          <a:solidFill>
            <a:srgbClr val="D04A02"/>
          </a:solidFill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Four stages — one workflow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"/>
          <p:cNvSpPr/>
          <p:nvPr/>
        </p:nvSpPr>
        <p:spPr>
          <a:xfrm>
            <a:off x="589680" y="2175120"/>
            <a:ext cx="1551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Audio Capture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4"/>
          <p:cNvSpPr/>
          <p:nvPr/>
        </p:nvSpPr>
        <p:spPr>
          <a:xfrm>
            <a:off x="2281320" y="2175120"/>
            <a:ext cx="28008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5"/>
          <p:cNvSpPr/>
          <p:nvPr/>
        </p:nvSpPr>
        <p:spPr>
          <a:xfrm>
            <a:off x="2583360" y="1626480"/>
            <a:ext cx="1825560" cy="145980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Text 6"/>
          <p:cNvSpPr/>
          <p:nvPr/>
        </p:nvSpPr>
        <p:spPr>
          <a:xfrm>
            <a:off x="2715840" y="2175120"/>
            <a:ext cx="1551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STT + Diarization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4430160" y="2175120"/>
            <a:ext cx="28008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9"/>
          <p:cNvSpPr/>
          <p:nvPr/>
        </p:nvSpPr>
        <p:spPr>
          <a:xfrm>
            <a:off x="4732200" y="1626480"/>
            <a:ext cx="1825560" cy="145980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Text 10"/>
          <p:cNvSpPr/>
          <p:nvPr/>
        </p:nvSpPr>
        <p:spPr>
          <a:xfrm>
            <a:off x="4869360" y="2175120"/>
            <a:ext cx="1551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Format LLM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6579000" y="2175120"/>
            <a:ext cx="28008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3"/>
          <p:cNvSpPr/>
          <p:nvPr/>
        </p:nvSpPr>
        <p:spPr>
          <a:xfrm>
            <a:off x="6881040" y="1626480"/>
            <a:ext cx="1825560" cy="145980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6995160" y="2178360"/>
            <a:ext cx="1551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SOAP LLM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6"/>
          <p:cNvSpPr/>
          <p:nvPr/>
        </p:nvSpPr>
        <p:spPr>
          <a:xfrm>
            <a:off x="434520" y="3226680"/>
            <a:ext cx="1825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① Recording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7"/>
          <p:cNvSpPr/>
          <p:nvPr/>
        </p:nvSpPr>
        <p:spPr>
          <a:xfrm>
            <a:off x="2583360" y="3226680"/>
            <a:ext cx="1825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② Transcribe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8"/>
          <p:cNvSpPr/>
          <p:nvPr/>
        </p:nvSpPr>
        <p:spPr>
          <a:xfrm>
            <a:off x="4732200" y="3226680"/>
            <a:ext cx="1825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③ Format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6881040" y="3226680"/>
            <a:ext cx="1825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④ Generate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0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1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4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Contenders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457200" y="1280160"/>
            <a:ext cx="39286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highlight>
                  <a:srgbClr val="FFFF00"/>
                </a:highlight>
                <a:uFillTx/>
                <a:latin typeface="DejaVu Serif"/>
                <a:ea typeface="DejaVu Serif"/>
              </a:rPr>
              <a:t>STT Models</a:t>
            </a:r>
            <a:endParaRPr lang="de-DE" sz="1300" b="0" u="none" strike="noStrike">
              <a:solidFill>
                <a:srgbClr val="FF5429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graphicFrame>
        <p:nvGraphicFramePr>
          <p:cNvPr id="62" name="Table 0"/>
          <p:cNvGraphicFramePr/>
          <p:nvPr/>
        </p:nvGraphicFramePr>
        <p:xfrm>
          <a:off x="457200" y="1645920"/>
          <a:ext cx="3931560" cy="116028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Type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AssemblyAI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 </a:t>
                      </a: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Cloud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Speechmatics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Cloud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Whisper turbo (~800M)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</a:t>
                      </a: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Local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3" name="Text 2"/>
          <p:cNvSpPr/>
          <p:nvPr/>
        </p:nvSpPr>
        <p:spPr>
          <a:xfrm>
            <a:off x="4754880" y="1280160"/>
            <a:ext cx="39286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LLM Models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Table 1"/>
          <p:cNvGraphicFramePr/>
          <p:nvPr/>
        </p:nvGraphicFramePr>
        <p:xfrm>
          <a:off x="4754880" y="1645920"/>
          <a:ext cx="3931560" cy="145044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Type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GPT-</a:t>
                      </a: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4o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Cloud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SauerkrautLM 8B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</a:t>
                      </a: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Local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Llama 3.2 3B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Gemma 4 4B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5" name="Text 3"/>
          <p:cNvSpPr/>
          <p:nvPr/>
        </p:nvSpPr>
        <p:spPr>
          <a:xfrm>
            <a:off x="457200" y="3291840"/>
            <a:ext cx="822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Tested Combinations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411480" y="3703320"/>
            <a:ext cx="1551240" cy="81972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 6"/>
          <p:cNvSpPr/>
          <p:nvPr/>
        </p:nvSpPr>
        <p:spPr>
          <a:xfrm>
            <a:off x="502920" y="3960000"/>
            <a:ext cx="1368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AssemblyAI + GPT-4o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7"/>
          <p:cNvSpPr/>
          <p:nvPr/>
        </p:nvSpPr>
        <p:spPr>
          <a:xfrm>
            <a:off x="2103120" y="3703320"/>
            <a:ext cx="1551240" cy="81972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9"/>
          <p:cNvSpPr/>
          <p:nvPr/>
        </p:nvSpPr>
        <p:spPr>
          <a:xfrm>
            <a:off x="2194560" y="3954960"/>
            <a:ext cx="1368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Speechmatics + GPT-4o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0"/>
          <p:cNvSpPr/>
          <p:nvPr/>
        </p:nvSpPr>
        <p:spPr>
          <a:xfrm>
            <a:off x="3794760" y="3703320"/>
            <a:ext cx="1551240" cy="81972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 12"/>
          <p:cNvSpPr/>
          <p:nvPr/>
        </p:nvSpPr>
        <p:spPr>
          <a:xfrm>
            <a:off x="3886200" y="3954960"/>
            <a:ext cx="1368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Sauerkraut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5486400" y="3703320"/>
            <a:ext cx="1551240" cy="81972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5"/>
          <p:cNvSpPr/>
          <p:nvPr/>
        </p:nvSpPr>
        <p:spPr>
          <a:xfrm>
            <a:off x="5578200" y="3954960"/>
            <a:ext cx="1368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Llama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6"/>
          <p:cNvSpPr/>
          <p:nvPr/>
        </p:nvSpPr>
        <p:spPr>
          <a:xfrm>
            <a:off x="7178040" y="3703320"/>
            <a:ext cx="1551240" cy="81972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7269480" y="3960000"/>
            <a:ext cx="1368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Gemma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9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5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" name="Grafik 75"/>
          <p:cNvPicPr/>
          <p:nvPr/>
        </p:nvPicPr>
        <p:blipFill>
          <a:blip r:embed="rId1"/>
          <a:stretch/>
        </p:blipFill>
        <p:spPr>
          <a:xfrm>
            <a:off x="2933280" y="202248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Grafik 78"/>
          <p:cNvPicPr/>
          <p:nvPr/>
        </p:nvPicPr>
        <p:blipFill>
          <a:blip r:embed="rId2"/>
          <a:stretch/>
        </p:blipFill>
        <p:spPr>
          <a:xfrm>
            <a:off x="2933280" y="231156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Grafik 79"/>
          <p:cNvPicPr/>
          <p:nvPr/>
        </p:nvPicPr>
        <p:blipFill>
          <a:blip r:embed="rId3"/>
          <a:stretch/>
        </p:blipFill>
        <p:spPr>
          <a:xfrm>
            <a:off x="7217280" y="2023920"/>
            <a:ext cx="177120" cy="9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1" dur="indefinite" restart="never" nodeType="tmRoot">
          <p:childTnLst>
            <p:seq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Hardware draws the line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"/>
          <p:cNvSpPr/>
          <p:nvPr/>
        </p:nvSpPr>
        <p:spPr>
          <a:xfrm>
            <a:off x="457200" y="1491120"/>
            <a:ext cx="3928680" cy="2465640"/>
          </a:xfrm>
          <a:prstGeom prst="roundRect">
            <a:avLst>
              <a:gd name="adj" fmla="val 5556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 2"/>
          <p:cNvSpPr/>
          <p:nvPr/>
        </p:nvSpPr>
        <p:spPr>
          <a:xfrm>
            <a:off x="640080" y="1628280"/>
            <a:ext cx="3562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FAF46"/>
                </a:solidFill>
                <a:effectLst/>
                <a:uFillTx/>
                <a:latin typeface="DejaVu Serif"/>
                <a:ea typeface="DejaVu Serif"/>
              </a:rPr>
              <a:t>On-Prem Stack</a:t>
            </a:r>
            <a:endParaRPr lang="de-DE" sz="1300" b="0" u="none" strike="noStrike">
              <a:solidFill>
                <a:srgbClr val="3FAF46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"/>
          <p:cNvSpPr/>
          <p:nvPr/>
        </p:nvSpPr>
        <p:spPr>
          <a:xfrm>
            <a:off x="685800" y="2131200"/>
            <a:ext cx="338004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Whisper turbo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  ~800M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SauerkrautLM / Llama / Gemma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  </a:t>
            </a:r>
            <a:br>
              <a:rPr sz="1300"/>
            </a:b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3–8B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AMD CPU — 16 GB RAM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4"/>
          <p:cNvSpPr/>
          <p:nvPr/>
        </p:nvSpPr>
        <p:spPr>
          <a:xfrm>
            <a:off x="4754880" y="1491120"/>
            <a:ext cx="3928680" cy="2465640"/>
          </a:xfrm>
          <a:prstGeom prst="roundRect">
            <a:avLst>
              <a:gd name="adj" fmla="val 5556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 5"/>
          <p:cNvSpPr/>
          <p:nvPr/>
        </p:nvSpPr>
        <p:spPr>
          <a:xfrm>
            <a:off x="4937760" y="1628280"/>
            <a:ext cx="3562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Feasibility Limit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4983480" y="2131200"/>
            <a:ext cx="338004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Whisper large-v3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  1.55B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SauerkrautLM 70B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  ~32 GB VRAM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6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 </a:t>
            </a:r>
            <a:endParaRPr lang="de-DE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Resources not available for this evaluation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8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6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7" dur="indefinite" restart="never" nodeType="tmRoot">
          <p:childTnLst>
            <p:seq>
              <p:cTn id="68" dur="indefinite" nodeType="mainSeq">
                <p:childTnLst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From clean recordings to total chaos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"/>
          <p:cNvSpPr/>
          <p:nvPr/>
        </p:nvSpPr>
        <p:spPr>
          <a:xfrm>
            <a:off x="457200" y="1188720"/>
            <a:ext cx="8226360" cy="77400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8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 2"/>
          <p:cNvSpPr/>
          <p:nvPr/>
        </p:nvSpPr>
        <p:spPr>
          <a:xfrm>
            <a:off x="640080" y="1188720"/>
            <a:ext cx="164268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Standard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2377440" y="1325880"/>
            <a:ext cx="360" cy="502920"/>
          </a:xfrm>
          <a:prstGeom prst="line">
            <a:avLst/>
          </a:prstGeom>
          <a:ln w="1908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 4"/>
          <p:cNvSpPr/>
          <p:nvPr/>
        </p:nvSpPr>
        <p:spPr>
          <a:xfrm>
            <a:off x="2651760" y="11887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Original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4663440" y="11887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Laptop-Middle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6675120" y="11887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Laptop-Doctor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7"/>
          <p:cNvSpPr/>
          <p:nvPr/>
        </p:nvSpPr>
        <p:spPr>
          <a:xfrm>
            <a:off x="457200" y="2103120"/>
            <a:ext cx="8226360" cy="77400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8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 8"/>
          <p:cNvSpPr/>
          <p:nvPr/>
        </p:nvSpPr>
        <p:spPr>
          <a:xfrm>
            <a:off x="640080" y="2103120"/>
            <a:ext cx="164268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Challenging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9"/>
          <p:cNvSpPr/>
          <p:nvPr/>
        </p:nvSpPr>
        <p:spPr>
          <a:xfrm>
            <a:off x="2377440" y="2240280"/>
            <a:ext cx="360" cy="502920"/>
          </a:xfrm>
          <a:prstGeom prst="line">
            <a:avLst/>
          </a:prstGeom>
          <a:ln w="1908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2651760" y="21031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White Noise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1"/>
          <p:cNvSpPr/>
          <p:nvPr/>
        </p:nvSpPr>
        <p:spPr>
          <a:xfrm>
            <a:off x="4663440" y="21031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Self-Corrections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6675120" y="21031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Interruptions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3"/>
          <p:cNvSpPr/>
          <p:nvPr/>
        </p:nvSpPr>
        <p:spPr>
          <a:xfrm>
            <a:off x="457200" y="3017520"/>
            <a:ext cx="8226360" cy="77400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8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640080" y="3017520"/>
            <a:ext cx="164268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Complex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5"/>
          <p:cNvSpPr/>
          <p:nvPr/>
        </p:nvSpPr>
        <p:spPr>
          <a:xfrm>
            <a:off x="2377440" y="3154680"/>
            <a:ext cx="360" cy="502920"/>
          </a:xfrm>
          <a:prstGeom prst="line">
            <a:avLst/>
          </a:prstGeom>
          <a:ln w="1908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2651760" y="30175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Topic Jumps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7"/>
          <p:cNvSpPr/>
          <p:nvPr/>
        </p:nvSpPr>
        <p:spPr>
          <a:xfrm>
            <a:off x="4663440" y="30175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Mind Changes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6675120" y="3017520"/>
            <a:ext cx="2008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Chaos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457200" y="3931920"/>
            <a:ext cx="8226360" cy="77400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8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20"/>
          <p:cNvSpPr/>
          <p:nvPr/>
        </p:nvSpPr>
        <p:spPr>
          <a:xfrm>
            <a:off x="640080" y="3931920"/>
            <a:ext cx="164268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Real-World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1"/>
          <p:cNvSpPr/>
          <p:nvPr/>
        </p:nvSpPr>
        <p:spPr>
          <a:xfrm>
            <a:off x="2377440" y="4069080"/>
            <a:ext cx="360" cy="502920"/>
          </a:xfrm>
          <a:prstGeom prst="line">
            <a:avLst/>
          </a:prstGeom>
          <a:ln w="1908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22"/>
          <p:cNvSpPr/>
          <p:nvPr/>
        </p:nvSpPr>
        <p:spPr>
          <a:xfrm>
            <a:off x="2651760" y="3931920"/>
            <a:ext cx="301428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Long Anamnesis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3"/>
          <p:cNvSpPr/>
          <p:nvPr/>
        </p:nvSpPr>
        <p:spPr>
          <a:xfrm>
            <a:off x="4663080" y="3931920"/>
            <a:ext cx="301428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Physiotherapy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5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6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7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7" dur="indefinite" restart="never" nodeType="tmRoot">
          <p:childTnLst>
            <p:seq>
              <p:cTn id="78" dur="indefinite" nodeType="mainSeq">
                <p:childTnLst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Three independent measurements per run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"/>
          <p:cNvSpPr/>
          <p:nvPr/>
        </p:nvSpPr>
        <p:spPr>
          <a:xfrm>
            <a:off x="411480" y="1280160"/>
            <a:ext cx="2648520" cy="255708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Shape 2"/>
          <p:cNvSpPr/>
          <p:nvPr/>
        </p:nvSpPr>
        <p:spPr>
          <a:xfrm>
            <a:off x="411480" y="1280160"/>
            <a:ext cx="2648520" cy="10656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411480" y="1508760"/>
            <a:ext cx="26485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📏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4"/>
          <p:cNvSpPr/>
          <p:nvPr/>
        </p:nvSpPr>
        <p:spPr>
          <a:xfrm>
            <a:off x="411480" y="2011680"/>
            <a:ext cx="26485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WER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411480" y="242316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Word Error Rate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548640" y="2926080"/>
            <a:ext cx="23742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Ground Truth vs. RAW STT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7"/>
          <p:cNvSpPr/>
          <p:nvPr/>
        </p:nvSpPr>
        <p:spPr>
          <a:xfrm>
            <a:off x="3246120" y="1280160"/>
            <a:ext cx="2648520" cy="255708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Shape 8"/>
          <p:cNvSpPr/>
          <p:nvPr/>
        </p:nvSpPr>
        <p:spPr>
          <a:xfrm>
            <a:off x="3246120" y="1280160"/>
            <a:ext cx="2648520" cy="10656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 9"/>
          <p:cNvSpPr/>
          <p:nvPr/>
        </p:nvSpPr>
        <p:spPr>
          <a:xfrm>
            <a:off x="3246120" y="1508760"/>
            <a:ext cx="26485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🔍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0"/>
          <p:cNvSpPr/>
          <p:nvPr/>
        </p:nvSpPr>
        <p:spPr>
          <a:xfrm>
            <a:off x="3246120" y="2011680"/>
            <a:ext cx="26485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LLM Fidelity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1"/>
          <p:cNvSpPr/>
          <p:nvPr/>
        </p:nvSpPr>
        <p:spPr>
          <a:xfrm>
            <a:off x="3246120" y="242316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Did the LLM hallucinate?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2"/>
          <p:cNvSpPr/>
          <p:nvPr/>
        </p:nvSpPr>
        <p:spPr>
          <a:xfrm>
            <a:off x="3383280" y="2926080"/>
            <a:ext cx="23742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RAW STT vs. Formatted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3"/>
          <p:cNvSpPr/>
          <p:nvPr/>
        </p:nvSpPr>
        <p:spPr>
          <a:xfrm>
            <a:off x="6080760" y="1280160"/>
            <a:ext cx="2648520" cy="255708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Shape 14"/>
          <p:cNvSpPr/>
          <p:nvPr/>
        </p:nvSpPr>
        <p:spPr>
          <a:xfrm>
            <a:off x="6080760" y="1280160"/>
            <a:ext cx="2648520" cy="10656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 15"/>
          <p:cNvSpPr/>
          <p:nvPr/>
        </p:nvSpPr>
        <p:spPr>
          <a:xfrm>
            <a:off x="6080760" y="1508760"/>
            <a:ext cx="26485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⚕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6"/>
          <p:cNvSpPr/>
          <p:nvPr/>
        </p:nvSpPr>
        <p:spPr>
          <a:xfrm>
            <a:off x="6080760" y="2011680"/>
            <a:ext cx="26485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SOAP Quality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7"/>
          <p:cNvSpPr/>
          <p:nvPr/>
        </p:nvSpPr>
        <p:spPr>
          <a:xfrm>
            <a:off x="6080760" y="242316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Is the note medically usable?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8"/>
          <p:cNvSpPr/>
          <p:nvPr/>
        </p:nvSpPr>
        <p:spPr>
          <a:xfrm>
            <a:off x="6217920" y="2926080"/>
            <a:ext cx="23742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Claude-as-Judge (0–8 pts)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9"/>
          <p:cNvSpPr/>
          <p:nvPr/>
        </p:nvSpPr>
        <p:spPr>
          <a:xfrm>
            <a:off x="457200" y="4114800"/>
            <a:ext cx="8226360" cy="499680"/>
          </a:xfrm>
          <a:prstGeom prst="roundRect">
            <a:avLst>
              <a:gd name="adj" fmla="val 27273"/>
            </a:avLst>
          </a:prstGeom>
          <a:solidFill>
            <a:srgbClr val="3A2510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20"/>
          <p:cNvSpPr/>
          <p:nvPr/>
        </p:nvSpPr>
        <p:spPr>
          <a:xfrm>
            <a:off x="594360" y="4160520"/>
            <a:ext cx="79520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Safety Rule: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Any hallucinated diagnosis or treatment = </a:t>
            </a: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0 points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in A &amp; P sections.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1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8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3" dur="indefinite" restart="never" nodeType="tmRoot">
          <p:childTnLst>
            <p:seq>
              <p:cTn id="134" dur="indefinite" nodeType="mainSeq">
                <p:childTnLst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34"/>
          <p:cNvSpPr/>
          <p:nvPr/>
        </p:nvSpPr>
        <p:spPr>
          <a:xfrm>
            <a:off x="457200" y="274320"/>
            <a:ext cx="8227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SOAP — four sections, one structured note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7"/>
          <p:cNvSpPr/>
          <p:nvPr/>
        </p:nvSpPr>
        <p:spPr>
          <a:xfrm>
            <a:off x="388800" y="1460160"/>
            <a:ext cx="1917720" cy="255780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5"/>
          <p:cNvSpPr/>
          <p:nvPr/>
        </p:nvSpPr>
        <p:spPr>
          <a:xfrm>
            <a:off x="388800" y="1643040"/>
            <a:ext cx="191772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S</a:t>
            </a:r>
            <a:endParaRPr lang="de-DE" sz="72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6"/>
          <p:cNvSpPr/>
          <p:nvPr/>
        </p:nvSpPr>
        <p:spPr>
          <a:xfrm>
            <a:off x="388800" y="2831760"/>
            <a:ext cx="1917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Subjective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7"/>
          <p:cNvSpPr/>
          <p:nvPr/>
        </p:nvSpPr>
        <p:spPr>
          <a:xfrm>
            <a:off x="388800" y="3243240"/>
            <a:ext cx="1917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Patient's own words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0"/>
          <p:cNvSpPr/>
          <p:nvPr/>
        </p:nvSpPr>
        <p:spPr>
          <a:xfrm>
            <a:off x="2537640" y="1460160"/>
            <a:ext cx="1917720" cy="255780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8"/>
          <p:cNvSpPr/>
          <p:nvPr/>
        </p:nvSpPr>
        <p:spPr>
          <a:xfrm>
            <a:off x="2537640" y="1643040"/>
            <a:ext cx="191772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O</a:t>
            </a:r>
            <a:endParaRPr lang="de-DE" sz="72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9"/>
          <p:cNvSpPr/>
          <p:nvPr/>
        </p:nvSpPr>
        <p:spPr>
          <a:xfrm>
            <a:off x="2537640" y="2831760"/>
            <a:ext cx="1917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Objective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0"/>
          <p:cNvSpPr/>
          <p:nvPr/>
        </p:nvSpPr>
        <p:spPr>
          <a:xfrm>
            <a:off x="2537640" y="3243240"/>
            <a:ext cx="1917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Clinical observations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2"/>
          <p:cNvSpPr/>
          <p:nvPr/>
        </p:nvSpPr>
        <p:spPr>
          <a:xfrm>
            <a:off x="4686480" y="1460160"/>
            <a:ext cx="1917720" cy="255780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1"/>
          <p:cNvSpPr/>
          <p:nvPr/>
        </p:nvSpPr>
        <p:spPr>
          <a:xfrm>
            <a:off x="4686480" y="1643040"/>
            <a:ext cx="191772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A</a:t>
            </a:r>
            <a:endParaRPr lang="de-DE" sz="72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2"/>
          <p:cNvSpPr/>
          <p:nvPr/>
        </p:nvSpPr>
        <p:spPr>
          <a:xfrm>
            <a:off x="4686480" y="2831760"/>
            <a:ext cx="1917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Assessment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3"/>
          <p:cNvSpPr/>
          <p:nvPr/>
        </p:nvSpPr>
        <p:spPr>
          <a:xfrm>
            <a:off x="4686480" y="3243240"/>
            <a:ext cx="1917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Diagnosis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4"/>
          <p:cNvSpPr/>
          <p:nvPr/>
        </p:nvSpPr>
        <p:spPr>
          <a:xfrm>
            <a:off x="6835320" y="1460160"/>
            <a:ext cx="1917720" cy="255780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4"/>
          <p:cNvSpPr/>
          <p:nvPr/>
        </p:nvSpPr>
        <p:spPr>
          <a:xfrm>
            <a:off x="6835320" y="1643040"/>
            <a:ext cx="191772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P</a:t>
            </a:r>
            <a:endParaRPr lang="de-DE" sz="72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5"/>
          <p:cNvSpPr/>
          <p:nvPr/>
        </p:nvSpPr>
        <p:spPr>
          <a:xfrm>
            <a:off x="6835320" y="2831760"/>
            <a:ext cx="1917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Plan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6"/>
          <p:cNvSpPr/>
          <p:nvPr/>
        </p:nvSpPr>
        <p:spPr>
          <a:xfrm>
            <a:off x="6835320" y="3243240"/>
            <a:ext cx="1917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Next steps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48"/>
          <p:cNvSpPr/>
          <p:nvPr/>
        </p:nvSpPr>
        <p:spPr>
          <a:xfrm>
            <a:off x="365760" y="48646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49"/>
          <p:cNvSpPr/>
          <p:nvPr/>
        </p:nvSpPr>
        <p:spPr>
          <a:xfrm>
            <a:off x="7772400" y="4864680"/>
            <a:ext cx="1003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13 / 20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3" dur="indefinite" restart="never" nodeType="tmRoot">
          <p:childTnLst>
            <p:seq>
              <p:cTn id="184" dur="indefinite" nodeType="mainSeq">
                <p:childTnLst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0"/>
          <p:cNvSpPr/>
          <p:nvPr/>
        </p:nvSpPr>
        <p:spPr>
          <a:xfrm>
            <a:off x="6949440" y="457200"/>
            <a:ext cx="2374200" cy="31680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457200" y="1188720"/>
            <a:ext cx="822636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Let's run it live</a:t>
            </a:r>
            <a:endParaRPr lang="de-DE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"/>
          <p:cNvSpPr/>
          <p:nvPr/>
        </p:nvSpPr>
        <p:spPr>
          <a:xfrm>
            <a:off x="4023360" y="2468880"/>
            <a:ext cx="1094040" cy="1094040"/>
          </a:xfrm>
          <a:prstGeom prst="ellipse">
            <a:avLst/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Shape 3"/>
          <p:cNvSpPr/>
          <p:nvPr/>
        </p:nvSpPr>
        <p:spPr>
          <a:xfrm rot="5400000">
            <a:off x="4339440" y="2715480"/>
            <a:ext cx="591120" cy="60120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 4"/>
          <p:cNvSpPr/>
          <p:nvPr/>
        </p:nvSpPr>
        <p:spPr>
          <a:xfrm>
            <a:off x="457200" y="3931920"/>
            <a:ext cx="822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Scenario:</a:t>
            </a: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 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Mind-change     </a:t>
            </a: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Pipeline:</a:t>
            </a: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 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AssemblyAI + GPT-4o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9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Cloud beats local — noise beats everyone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"/>
          <p:cNvSpPr/>
          <p:nvPr/>
        </p:nvSpPr>
        <p:spPr>
          <a:xfrm>
            <a:off x="5852160" y="1097280"/>
            <a:ext cx="2922840" cy="3014280"/>
          </a:xfrm>
          <a:prstGeom prst="roundRect">
            <a:avLst>
              <a:gd name="adj" fmla="val 4688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989320" y="118872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Outlier scenario: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5989320" y="1463040"/>
            <a:ext cx="26485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White Noise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989320" y="2011680"/>
            <a:ext cx="26485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Assembly: </a:t>
            </a: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33.2 %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Speechmatics: </a:t>
            </a: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30.6 %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Whisper-local: </a:t>
            </a: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41.0 %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"/>
          <p:cNvSpPr/>
          <p:nvPr/>
        </p:nvSpPr>
        <p:spPr>
          <a:xfrm>
            <a:off x="5989320" y="3200400"/>
            <a:ext cx="2560320" cy="360"/>
          </a:xfrm>
          <a:prstGeom prst="line">
            <a:avLst/>
          </a:prstGeom>
          <a:ln w="12600">
            <a:solidFill>
              <a:srgbClr val="3A3D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5989320" y="3291840"/>
            <a:ext cx="264852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Microphone quality is the hard floor of AI performance.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7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10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Rechteck 156"/>
          <p:cNvSpPr/>
          <p:nvPr/>
        </p:nvSpPr>
        <p:spPr>
          <a:xfrm>
            <a:off x="412920" y="2410560"/>
            <a:ext cx="357120" cy="3571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Grafik 158"/>
          <p:cNvPicPr/>
          <p:nvPr/>
        </p:nvPicPr>
        <p:blipFill>
          <a:blip r:embed="rId1"/>
          <a:stretch/>
        </p:blipFill>
        <p:spPr>
          <a:xfrm>
            <a:off x="573480" y="251640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Rechteck 159"/>
          <p:cNvSpPr/>
          <p:nvPr/>
        </p:nvSpPr>
        <p:spPr>
          <a:xfrm>
            <a:off x="1001520" y="3230280"/>
            <a:ext cx="357120" cy="3571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7" name="Grafik 160"/>
          <p:cNvPicPr/>
          <p:nvPr/>
        </p:nvPicPr>
        <p:blipFill>
          <a:blip r:embed="rId2"/>
          <a:stretch/>
        </p:blipFill>
        <p:spPr>
          <a:xfrm>
            <a:off x="1162080" y="333612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78" name="Chart 0"/>
          <p:cNvGraphicFramePr/>
          <p:nvPr/>
        </p:nvGraphicFramePr>
        <p:xfrm>
          <a:off x="457560" y="1177200"/>
          <a:ext cx="5300640" cy="301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9" name="Rechteck 1"/>
          <p:cNvSpPr/>
          <p:nvPr/>
        </p:nvSpPr>
        <p:spPr>
          <a:xfrm>
            <a:off x="784440" y="3310920"/>
            <a:ext cx="357120" cy="3571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Grafik 1"/>
          <p:cNvPicPr/>
          <p:nvPr/>
        </p:nvPicPr>
        <p:blipFill>
          <a:blip r:embed="rId4"/>
          <a:stretch/>
        </p:blipFill>
        <p:spPr>
          <a:xfrm>
            <a:off x="945000" y="341676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Rechteck 2"/>
          <p:cNvSpPr/>
          <p:nvPr/>
        </p:nvSpPr>
        <p:spPr>
          <a:xfrm>
            <a:off x="412920" y="2410560"/>
            <a:ext cx="357120" cy="3571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2" name="Grafik 2"/>
          <p:cNvPicPr/>
          <p:nvPr/>
        </p:nvPicPr>
        <p:blipFill>
          <a:blip r:embed="rId5"/>
          <a:stretch/>
        </p:blipFill>
        <p:spPr>
          <a:xfrm>
            <a:off x="573480" y="251640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Box 241"/>
          <p:cNvSpPr/>
          <p:nvPr/>
        </p:nvSpPr>
        <p:spPr>
          <a:xfrm>
            <a:off x="457560" y="925920"/>
            <a:ext cx="530316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Average WER across standard scenarios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240"/>
          <p:cNvSpPr/>
          <p:nvPr/>
        </p:nvSpPr>
        <p:spPr>
          <a:xfrm>
            <a:off x="731880" y="4224600"/>
            <a:ext cx="47545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Word Error Rate (%) — lower is better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5" dur="indefinite" restart="never" nodeType="tmRoot">
          <p:childTnLst>
            <p:seq>
              <p:cTn id="226" dur="indefinite" nodeType="mainSeq">
                <p:childTnLst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Cloud listens — local rewrites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Chart 0"/>
          <p:cNvGraphicFramePr/>
          <p:nvPr/>
        </p:nvGraphicFramePr>
        <p:xfrm>
          <a:off x="457200" y="1097280"/>
          <a:ext cx="7769160" cy="3197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87" name="Text 1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11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echteck 165"/>
          <p:cNvSpPr/>
          <p:nvPr/>
        </p:nvSpPr>
        <p:spPr>
          <a:xfrm>
            <a:off x="468720" y="3497400"/>
            <a:ext cx="1645200" cy="3571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           GPT-4o (avg)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0" name="Grafik 166"/>
          <p:cNvPicPr/>
          <p:nvPr/>
        </p:nvPicPr>
        <p:blipFill>
          <a:blip r:embed="rId2"/>
          <a:stretch/>
        </p:blipFill>
        <p:spPr>
          <a:xfrm>
            <a:off x="914760" y="362736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91" name="Chart 0"/>
          <p:cNvGraphicFramePr/>
          <p:nvPr/>
        </p:nvGraphicFramePr>
        <p:xfrm>
          <a:off x="685800" y="1096920"/>
          <a:ext cx="7769520" cy="319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2" name="Rechteck 3"/>
          <p:cNvSpPr/>
          <p:nvPr/>
        </p:nvSpPr>
        <p:spPr>
          <a:xfrm>
            <a:off x="691920" y="3499200"/>
            <a:ext cx="357120" cy="3571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Grafik 3"/>
          <p:cNvPicPr/>
          <p:nvPr/>
        </p:nvPicPr>
        <p:blipFill>
          <a:blip r:embed="rId4"/>
          <a:stretch/>
        </p:blipFill>
        <p:spPr>
          <a:xfrm>
            <a:off x="852480" y="360504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Box 191"/>
          <p:cNvSpPr/>
          <p:nvPr/>
        </p:nvSpPr>
        <p:spPr>
          <a:xfrm>
            <a:off x="457560" y="925920"/>
            <a:ext cx="777204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LLM Fidelity check — RAW STT vs. Formatted output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192"/>
          <p:cNvSpPr/>
          <p:nvPr/>
        </p:nvSpPr>
        <p:spPr>
          <a:xfrm>
            <a:off x="731880" y="4325040"/>
            <a:ext cx="71319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Hallucination Rate (%) — lower is better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Anamnese Catastrophe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Chart 0"/>
          <p:cNvGraphicFramePr/>
          <p:nvPr/>
        </p:nvGraphicFramePr>
        <p:xfrm>
          <a:off x="457200" y="1188720"/>
          <a:ext cx="5483160" cy="2557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98" name="Text 1"/>
          <p:cNvSpPr/>
          <p:nvPr/>
        </p:nvSpPr>
        <p:spPr>
          <a:xfrm>
            <a:off x="6217920" y="1620000"/>
            <a:ext cx="255708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–93%</a:t>
            </a:r>
            <a:endParaRPr lang="de-DE" sz="64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6217920" y="2717280"/>
            <a:ext cx="255708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content silently dropped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2205720" y="4226040"/>
            <a:ext cx="36370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SauerkrautLM 8B formatting step on a 19-min conversation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4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5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12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666000" y="1621080"/>
            <a:ext cx="1630440" cy="35820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>
              <a:lnSpc>
                <a:spcPct val="100000"/>
              </a:lnSpc>
            </a:pPr>
            <a:r>
              <a:rPr lang="de-DE" sz="13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 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783720" y="1633320"/>
            <a:ext cx="16182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3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Raw STT Output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249"/>
          <p:cNvSpPr/>
          <p:nvPr/>
        </p:nvSpPr>
        <p:spPr>
          <a:xfrm>
            <a:off x="457560" y="925920"/>
            <a:ext cx="548604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Content volume — before vs. after LLM formatting step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3334680" y="3745800"/>
            <a:ext cx="100080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Word count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1" dur="indefinite" restart="never" nodeType="tmRoot">
          <p:childTnLst>
            <p:seq>
              <p:cTn id="242" dur="indefinite" nodeType="mainSeq">
                <p:childTnLst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 model reached clinically acceptable quality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9"/>
          <p:cNvSpPr/>
          <p:nvPr/>
        </p:nvSpPr>
        <p:spPr>
          <a:xfrm>
            <a:off x="5577840" y="1321560"/>
            <a:ext cx="3197160" cy="2282760"/>
          </a:xfrm>
          <a:prstGeom prst="roundRect">
            <a:avLst>
              <a:gd name="adj" fmla="val 6000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 10"/>
          <p:cNvSpPr/>
          <p:nvPr/>
        </p:nvSpPr>
        <p:spPr>
          <a:xfrm>
            <a:off x="5715000" y="1394640"/>
            <a:ext cx="2922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Quality Distribution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0" name="Table 0"/>
          <p:cNvGraphicFramePr/>
          <p:nvPr/>
        </p:nvGraphicFramePr>
        <p:xfrm>
          <a:off x="5669280" y="1733040"/>
          <a:ext cx="3016080" cy="1790640"/>
        </p:xfrm>
        <a:graphic>
          <a:graphicData uri="http://schemas.openxmlformats.org/drawingml/2006/table">
            <a:tbl>
              <a:tblPr/>
              <a:tblGrid>
                <a:gridCol w="1400760"/>
                <a:gridCol w="538560"/>
                <a:gridCol w="538560"/>
                <a:gridCol w="538560"/>
              </a:tblGrid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+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o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-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GPT-4o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10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1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Gemma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5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6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Sauerkraut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4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7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Llama 3.2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2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9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1" name="Text 13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4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13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Rechteck 191"/>
          <p:cNvSpPr/>
          <p:nvPr/>
        </p:nvSpPr>
        <p:spPr>
          <a:xfrm>
            <a:off x="510840" y="1450080"/>
            <a:ext cx="357120" cy="3571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4" name="Chart 0"/>
          <p:cNvGraphicFramePr/>
          <p:nvPr/>
        </p:nvGraphicFramePr>
        <p:xfrm>
          <a:off x="360000" y="1229760"/>
          <a:ext cx="5077800" cy="292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5" name="Shape 1"/>
          <p:cNvSpPr/>
          <p:nvPr/>
        </p:nvSpPr>
        <p:spPr>
          <a:xfrm>
            <a:off x="1078920" y="4288320"/>
            <a:ext cx="161640" cy="125280"/>
          </a:xfrm>
          <a:prstGeom prst="roundRect">
            <a:avLst>
              <a:gd name="adj" fmla="val 21429"/>
            </a:avLst>
          </a:prstGeom>
          <a:solidFill>
            <a:srgbClr val="D04A3A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2"/>
          <p:cNvSpPr/>
          <p:nvPr/>
        </p:nvSpPr>
        <p:spPr>
          <a:xfrm>
            <a:off x="1280160" y="4260960"/>
            <a:ext cx="118584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0–3 not usable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"/>
          <p:cNvSpPr/>
          <p:nvPr/>
        </p:nvSpPr>
        <p:spPr>
          <a:xfrm>
            <a:off x="2541960" y="4288320"/>
            <a:ext cx="161640" cy="125280"/>
          </a:xfrm>
          <a:prstGeom prst="roundRect">
            <a:avLst>
              <a:gd name="adj" fmla="val 21429"/>
            </a:avLst>
          </a:prstGeom>
          <a:solidFill>
            <a:srgbClr val="D89614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 4"/>
          <p:cNvSpPr/>
          <p:nvPr/>
        </p:nvSpPr>
        <p:spPr>
          <a:xfrm>
            <a:off x="2743200" y="4260960"/>
            <a:ext cx="136872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&gt;3–6 needs revision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5"/>
          <p:cNvSpPr/>
          <p:nvPr/>
        </p:nvSpPr>
        <p:spPr>
          <a:xfrm>
            <a:off x="4187880" y="4288320"/>
            <a:ext cx="161640" cy="125280"/>
          </a:xfrm>
          <a:prstGeom prst="roundRect">
            <a:avLst>
              <a:gd name="adj" fmla="val 21429"/>
            </a:avLst>
          </a:prstGeom>
          <a:solidFill>
            <a:srgbClr val="3DA070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4389120" y="4260960"/>
            <a:ext cx="118584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&gt;6 acceptable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"/>
          <p:cNvSpPr/>
          <p:nvPr/>
        </p:nvSpPr>
        <p:spPr>
          <a:xfrm>
            <a:off x="4499640" y="1260000"/>
            <a:ext cx="360" cy="2671560"/>
          </a:xfrm>
          <a:prstGeom prst="line">
            <a:avLst/>
          </a:prstGeom>
          <a:ln w="25560">
            <a:solidFill>
              <a:srgbClr val="3DA0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" name="Rechteck 5"/>
          <p:cNvSpPr/>
          <p:nvPr/>
        </p:nvSpPr>
        <p:spPr>
          <a:xfrm>
            <a:off x="317880" y="1451880"/>
            <a:ext cx="357120" cy="35712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Grafik 5"/>
          <p:cNvPicPr/>
          <p:nvPr/>
        </p:nvPicPr>
        <p:blipFill>
          <a:blip r:embed="rId2"/>
          <a:stretch/>
        </p:blipFill>
        <p:spPr>
          <a:xfrm>
            <a:off x="478440" y="1557720"/>
            <a:ext cx="177120" cy="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TextBox 259"/>
          <p:cNvSpPr/>
          <p:nvPr/>
        </p:nvSpPr>
        <p:spPr>
          <a:xfrm>
            <a:off x="4115160" y="1005840"/>
            <a:ext cx="1188360" cy="1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de-DE" sz="900" b="0" i="1" u="none" strike="noStrike">
                <a:solidFill>
                  <a:srgbClr val="2EBD8F"/>
                </a:solidFill>
                <a:effectLst/>
                <a:uFillTx/>
                <a:latin typeface="DejaVu Serif"/>
              </a:rPr>
              <a:t>Acceptable (≥ 6)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260"/>
          <p:cNvSpPr/>
          <p:nvPr/>
        </p:nvSpPr>
        <p:spPr>
          <a:xfrm>
            <a:off x="5669640" y="3665520"/>
            <a:ext cx="30171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+ </a:t>
            </a:r>
            <a:r>
              <a:rPr lang="de-DE" sz="9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acceptable   </a:t>
            </a: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o </a:t>
            </a:r>
            <a:r>
              <a:rPr lang="de-DE" sz="9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needs revision   </a:t>
            </a: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− </a:t>
            </a:r>
            <a:r>
              <a:rPr lang="de-DE" sz="900" b="0" u="none" strike="noStrike">
                <a:solidFill>
                  <a:srgbClr val="FFFFFF"/>
                </a:solidFill>
                <a:effectLst/>
                <a:uFillTx/>
                <a:latin typeface="DejaVu Serif"/>
              </a:rPr>
              <a:t>not usable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9" dur="indefinite" restart="never" nodeType="tmRoot">
          <p:childTnLst>
            <p:seq>
              <p:cTn id="250" dur="indefinite" nodeType="mainSeq">
                <p:childTnLst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Technology assists —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but doesn't yet replace a clinician's pen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"/>
          <p:cNvSpPr/>
          <p:nvPr/>
        </p:nvSpPr>
        <p:spPr>
          <a:xfrm>
            <a:off x="457200" y="1188720"/>
            <a:ext cx="3928680" cy="2648520"/>
          </a:xfrm>
          <a:prstGeom prst="roundRect">
            <a:avLst>
              <a:gd name="adj" fmla="val 5172"/>
            </a:avLst>
          </a:prstGeom>
          <a:solidFill>
            <a:srgbClr val="3A2510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 2"/>
          <p:cNvSpPr/>
          <p:nvPr/>
        </p:nvSpPr>
        <p:spPr>
          <a:xfrm>
            <a:off x="640080" y="1325880"/>
            <a:ext cx="2739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Winners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640080" y="1645920"/>
            <a:ext cx="35629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 &amp; GPT-4o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640080" y="2240280"/>
            <a:ext cx="3562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Lowest WER (8.9 %)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5"/>
          <p:cNvSpPr/>
          <p:nvPr/>
        </p:nvSpPr>
        <p:spPr>
          <a:xfrm>
            <a:off x="640080" y="2606040"/>
            <a:ext cx="3562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Lowest hallucination rate (0.0 %)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640080" y="2971800"/>
            <a:ext cx="3562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Best SOAP score (4.4 / 8)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7"/>
          <p:cNvSpPr/>
          <p:nvPr/>
        </p:nvSpPr>
        <p:spPr>
          <a:xfrm>
            <a:off x="4754880" y="1188720"/>
            <a:ext cx="3928680" cy="2648520"/>
          </a:xfrm>
          <a:prstGeom prst="roundRect">
            <a:avLst>
              <a:gd name="adj" fmla="val 5172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8"/>
          <p:cNvSpPr/>
          <p:nvPr/>
        </p:nvSpPr>
        <p:spPr>
          <a:xfrm>
            <a:off x="4937760" y="1325880"/>
            <a:ext cx="2739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But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9"/>
          <p:cNvSpPr/>
          <p:nvPr/>
        </p:nvSpPr>
        <p:spPr>
          <a:xfrm>
            <a:off x="4937760" y="1645920"/>
            <a:ext cx="35629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Still not clinically usable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4937760" y="2240280"/>
            <a:ext cx="3562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Zero runs reached 'acceptable'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1"/>
          <p:cNvSpPr/>
          <p:nvPr/>
        </p:nvSpPr>
        <p:spPr>
          <a:xfrm>
            <a:off x="4937760" y="2606040"/>
            <a:ext cx="3562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Plan section averaged 0.1 / 2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2"/>
          <p:cNvSpPr/>
          <p:nvPr/>
        </p:nvSpPr>
        <p:spPr>
          <a:xfrm>
            <a:off x="4937760" y="2971800"/>
            <a:ext cx="3562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Performance collapses with bad audio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3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4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14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59" dur="indefinite" restart="never" nodeType="tmRoot">
          <p:childTnLst>
            <p:seq>
              <p:cTn id="260" dur="indefinite" nodeType="mainSeq">
                <p:childTnLst>
                  <p:par>
                    <p:cTn id="261" fill="hold">
                      <p:stCondLst>
                        <p:cond delay="indefinite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What we deliberately left out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"/>
          <p:cNvSpPr/>
          <p:nvPr/>
        </p:nvSpPr>
        <p:spPr>
          <a:xfrm>
            <a:off x="411480" y="1280160"/>
            <a:ext cx="2648520" cy="255708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Shape 2"/>
          <p:cNvSpPr/>
          <p:nvPr/>
        </p:nvSpPr>
        <p:spPr>
          <a:xfrm>
            <a:off x="411480" y="1280160"/>
            <a:ext cx="69840" cy="255708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640080" y="1463040"/>
            <a:ext cx="5454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⏱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4"/>
          <p:cNvSpPr/>
          <p:nvPr/>
        </p:nvSpPr>
        <p:spPr>
          <a:xfrm>
            <a:off x="640080" y="2011680"/>
            <a:ext cx="2282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 real-time mode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640080" y="2514600"/>
            <a:ext cx="228276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Batch over streaming — to isolate model quality from latency engineering.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3246120" y="1280160"/>
            <a:ext cx="2648520" cy="255708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Shape 7"/>
          <p:cNvSpPr/>
          <p:nvPr/>
        </p:nvSpPr>
        <p:spPr>
          <a:xfrm>
            <a:off x="3246120" y="1280160"/>
            <a:ext cx="69840" cy="255708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3474720" y="1463040"/>
            <a:ext cx="5454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🔄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9"/>
          <p:cNvSpPr/>
          <p:nvPr/>
        </p:nvSpPr>
        <p:spPr>
          <a:xfrm>
            <a:off x="3474720" y="2011680"/>
            <a:ext cx="2282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 prompt iteration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0"/>
          <p:cNvSpPr/>
          <p:nvPr/>
        </p:nvSpPr>
        <p:spPr>
          <a:xfrm>
            <a:off x="3474720" y="2514600"/>
            <a:ext cx="228276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Same prompt for all models. The Plan section is highly prompt-sensitive.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1"/>
          <p:cNvSpPr/>
          <p:nvPr/>
        </p:nvSpPr>
        <p:spPr>
          <a:xfrm>
            <a:off x="6120000" y="1280160"/>
            <a:ext cx="2648520" cy="255708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Shape 12"/>
          <p:cNvSpPr/>
          <p:nvPr/>
        </p:nvSpPr>
        <p:spPr>
          <a:xfrm>
            <a:off x="6080760" y="1280160"/>
            <a:ext cx="69840" cy="255708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6309360" y="1463040"/>
            <a:ext cx="5454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4"/>
          <p:cNvSpPr/>
          <p:nvPr/>
        </p:nvSpPr>
        <p:spPr>
          <a:xfrm>
            <a:off x="6309360" y="2011680"/>
            <a:ext cx="2282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German only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5"/>
          <p:cNvSpPr/>
          <p:nvPr/>
        </p:nvSpPr>
        <p:spPr>
          <a:xfrm>
            <a:off x="6309360" y="2514600"/>
            <a:ext cx="228276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All scenarios in German. Generalization to other languages untested.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6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7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15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9" name=""/>
          <p:cNvPicPr/>
          <p:nvPr/>
        </p:nvPicPr>
        <p:blipFill>
          <a:blip r:embed="rId1"/>
          <a:stretch/>
        </p:blipFill>
        <p:spPr>
          <a:xfrm>
            <a:off x="6342840" y="1585080"/>
            <a:ext cx="35964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5" dur="indefinite" restart="never" nodeType="tmRoot">
          <p:childTnLst>
            <p:seq>
              <p:cTn id="276" dur="indefinite" nodeType="mainSeq">
                <p:childTnLst>
                  <p:par>
                    <p:cTn id="277" fill="hold">
                      <p:stCondLst>
                        <p:cond delay="indefinite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9" fill="hold">
                      <p:stCondLst>
                        <p:cond delay="indefinite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1" fill="hold">
                      <p:stCondLst>
                        <p:cond delay="indefinite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Best model ≠ safe model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"/>
          <p:cNvSpPr/>
          <p:nvPr/>
        </p:nvSpPr>
        <p:spPr>
          <a:xfrm>
            <a:off x="1097280" y="4389120"/>
            <a:ext cx="4572000" cy="360"/>
          </a:xfrm>
          <a:prstGeom prst="line">
            <a:avLst/>
          </a:prstGeom>
          <a:ln w="1908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Shape 2"/>
          <p:cNvSpPr/>
          <p:nvPr/>
        </p:nvSpPr>
        <p:spPr>
          <a:xfrm>
            <a:off x="1097280" y="1188720"/>
            <a:ext cx="360" cy="3200400"/>
          </a:xfrm>
          <a:prstGeom prst="line">
            <a:avLst/>
          </a:prstGeom>
          <a:ln w="1908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Shape 3"/>
          <p:cNvSpPr/>
          <p:nvPr/>
        </p:nvSpPr>
        <p:spPr>
          <a:xfrm>
            <a:off x="3383280" y="1188720"/>
            <a:ext cx="360" cy="3200400"/>
          </a:xfrm>
          <a:prstGeom prst="line">
            <a:avLst/>
          </a:prstGeom>
          <a:ln w="6480">
            <a:solidFill>
              <a:srgbClr val="3A3D4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" name="Shape 4"/>
          <p:cNvSpPr/>
          <p:nvPr/>
        </p:nvSpPr>
        <p:spPr>
          <a:xfrm>
            <a:off x="1097280" y="2788920"/>
            <a:ext cx="4572000" cy="360"/>
          </a:xfrm>
          <a:prstGeom prst="line">
            <a:avLst/>
          </a:prstGeom>
          <a:ln w="6480">
            <a:solidFill>
              <a:srgbClr val="3A3D4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1097280" y="4566960"/>
            <a:ext cx="4568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SOAP Quality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 rot="16200000">
            <a:off x="289080" y="2258640"/>
            <a:ext cx="11084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Data sovereignty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7"/>
          <p:cNvSpPr/>
          <p:nvPr/>
        </p:nvSpPr>
        <p:spPr>
          <a:xfrm>
            <a:off x="960120" y="4407480"/>
            <a:ext cx="27108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0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8"/>
          <p:cNvSpPr/>
          <p:nvPr/>
        </p:nvSpPr>
        <p:spPr>
          <a:xfrm>
            <a:off x="3246120" y="4407480"/>
            <a:ext cx="27108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4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9"/>
          <p:cNvSpPr/>
          <p:nvPr/>
        </p:nvSpPr>
        <p:spPr>
          <a:xfrm>
            <a:off x="5532120" y="4407480"/>
            <a:ext cx="27108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8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0"/>
          <p:cNvSpPr/>
          <p:nvPr/>
        </p:nvSpPr>
        <p:spPr>
          <a:xfrm>
            <a:off x="2160360" y="1097640"/>
            <a:ext cx="271080" cy="271080"/>
          </a:xfrm>
          <a:prstGeom prst="ellipse">
            <a:avLst/>
          </a:prstGeom>
          <a:solidFill>
            <a:srgbClr val="3DA070"/>
          </a:solidFill>
          <a:ln w="190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1"/>
          <p:cNvSpPr/>
          <p:nvPr/>
        </p:nvSpPr>
        <p:spPr>
          <a:xfrm>
            <a:off x="1320120" y="1380240"/>
            <a:ext cx="1368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FAF46"/>
                </a:solidFill>
                <a:effectLst/>
                <a:uFillTx/>
                <a:latin typeface="DejaVu Serif"/>
                <a:ea typeface="DejaVu Serif"/>
              </a:rPr>
              <a:t>Llama 3.2</a:t>
            </a:r>
            <a:endParaRPr lang="de-DE" sz="1300" b="0" u="none" strike="noStrike">
              <a:solidFill>
                <a:srgbClr val="3FAF46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2"/>
          <p:cNvSpPr/>
          <p:nvPr/>
        </p:nvSpPr>
        <p:spPr>
          <a:xfrm>
            <a:off x="2783160" y="1097640"/>
            <a:ext cx="271080" cy="271080"/>
          </a:xfrm>
          <a:prstGeom prst="ellipse">
            <a:avLst/>
          </a:prstGeom>
          <a:solidFill>
            <a:srgbClr val="3DA070"/>
          </a:solidFill>
          <a:ln w="190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 13"/>
          <p:cNvSpPr/>
          <p:nvPr/>
        </p:nvSpPr>
        <p:spPr>
          <a:xfrm>
            <a:off x="2046240" y="855720"/>
            <a:ext cx="1368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FAF46"/>
                </a:solidFill>
                <a:effectLst/>
                <a:uFillTx/>
                <a:latin typeface="DejaVu Serif"/>
                <a:ea typeface="DejaVu Serif"/>
              </a:rPr>
              <a:t>Sauerkraut</a:t>
            </a:r>
            <a:endParaRPr lang="de-DE" sz="1300" b="0" u="none" strike="noStrike">
              <a:solidFill>
                <a:srgbClr val="3FAF46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4"/>
          <p:cNvSpPr/>
          <p:nvPr/>
        </p:nvSpPr>
        <p:spPr>
          <a:xfrm>
            <a:off x="2886840" y="1097640"/>
            <a:ext cx="271080" cy="271080"/>
          </a:xfrm>
          <a:prstGeom prst="ellipse">
            <a:avLst/>
          </a:prstGeom>
          <a:solidFill>
            <a:srgbClr val="3DA070"/>
          </a:solidFill>
          <a:ln w="190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 15"/>
          <p:cNvSpPr/>
          <p:nvPr/>
        </p:nvSpPr>
        <p:spPr>
          <a:xfrm>
            <a:off x="2560680" y="1399680"/>
            <a:ext cx="1368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FAF46"/>
                </a:solidFill>
                <a:effectLst/>
                <a:uFillTx/>
                <a:latin typeface="DejaVu Serif"/>
                <a:ea typeface="DejaVu Serif"/>
              </a:rPr>
              <a:t>Gemma</a:t>
            </a:r>
            <a:endParaRPr lang="de-DE" sz="1300" b="0" u="none" strike="noStrike">
              <a:solidFill>
                <a:srgbClr val="3FAF46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6"/>
          <p:cNvSpPr/>
          <p:nvPr/>
        </p:nvSpPr>
        <p:spPr>
          <a:xfrm>
            <a:off x="3531960" y="2651760"/>
            <a:ext cx="271080" cy="271080"/>
          </a:xfrm>
          <a:prstGeom prst="ellipse">
            <a:avLst/>
          </a:prstGeom>
          <a:solidFill>
            <a:srgbClr val="D89614"/>
          </a:solidFill>
          <a:ln w="190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 17"/>
          <p:cNvSpPr/>
          <p:nvPr/>
        </p:nvSpPr>
        <p:spPr>
          <a:xfrm>
            <a:off x="3365640" y="2432880"/>
            <a:ext cx="1368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D428"/>
                </a:solidFill>
                <a:effectLst/>
                <a:uFillTx/>
                <a:latin typeface="DejaVu Serif"/>
                <a:ea typeface="DejaVu Serif"/>
              </a:rPr>
              <a:t>Speechmatics</a:t>
            </a:r>
            <a:endParaRPr lang="de-DE" sz="1300" b="0" u="none" strike="noStrike">
              <a:solidFill>
                <a:srgbClr val="E6E905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8"/>
          <p:cNvSpPr/>
          <p:nvPr/>
        </p:nvSpPr>
        <p:spPr>
          <a:xfrm>
            <a:off x="3417480" y="3996000"/>
            <a:ext cx="271080" cy="271080"/>
          </a:xfrm>
          <a:prstGeom prst="ellipse">
            <a:avLst/>
          </a:prstGeom>
          <a:solidFill>
            <a:srgbClr val="D04A3A"/>
          </a:solidFill>
          <a:ln w="190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 19"/>
          <p:cNvSpPr/>
          <p:nvPr/>
        </p:nvSpPr>
        <p:spPr>
          <a:xfrm>
            <a:off x="3143160" y="3777120"/>
            <a:ext cx="1368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Assembly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1"/>
          <p:cNvSpPr/>
          <p:nvPr/>
        </p:nvSpPr>
        <p:spPr>
          <a:xfrm>
            <a:off x="4628880" y="1271520"/>
            <a:ext cx="12769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Where we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want to be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3"/>
          <p:cNvSpPr/>
          <p:nvPr/>
        </p:nvSpPr>
        <p:spPr>
          <a:xfrm>
            <a:off x="6492600" y="2171880"/>
            <a:ext cx="179640" cy="179640"/>
          </a:xfrm>
          <a:prstGeom prst="ellipse">
            <a:avLst/>
          </a:prstGeom>
          <a:solidFill>
            <a:srgbClr val="3DA070"/>
          </a:solidFill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 24"/>
          <p:cNvSpPr/>
          <p:nvPr/>
        </p:nvSpPr>
        <p:spPr>
          <a:xfrm>
            <a:off x="6766920" y="2126160"/>
            <a:ext cx="2557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Local models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5"/>
          <p:cNvSpPr/>
          <p:nvPr/>
        </p:nvSpPr>
        <p:spPr>
          <a:xfrm>
            <a:off x="6766920" y="2354760"/>
            <a:ext cx="2557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fully on-premise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6"/>
          <p:cNvSpPr/>
          <p:nvPr/>
        </p:nvSpPr>
        <p:spPr>
          <a:xfrm>
            <a:off x="6492600" y="2674800"/>
            <a:ext cx="179640" cy="179640"/>
          </a:xfrm>
          <a:prstGeom prst="ellipse">
            <a:avLst/>
          </a:prstGeom>
          <a:solidFill>
            <a:srgbClr val="D89614"/>
          </a:solidFill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 27"/>
          <p:cNvSpPr/>
          <p:nvPr/>
        </p:nvSpPr>
        <p:spPr>
          <a:xfrm>
            <a:off x="6766920" y="2629080"/>
            <a:ext cx="2557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Speechmatics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8"/>
          <p:cNvSpPr/>
          <p:nvPr/>
        </p:nvSpPr>
        <p:spPr>
          <a:xfrm>
            <a:off x="6766920" y="2857680"/>
            <a:ext cx="2557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STT in EU, LLM in US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29"/>
          <p:cNvSpPr/>
          <p:nvPr/>
        </p:nvSpPr>
        <p:spPr>
          <a:xfrm>
            <a:off x="6492600" y="3177720"/>
            <a:ext cx="179640" cy="179640"/>
          </a:xfrm>
          <a:prstGeom prst="ellipse">
            <a:avLst/>
          </a:prstGeom>
          <a:solidFill>
            <a:srgbClr val="D04A3A"/>
          </a:solidFill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 30"/>
          <p:cNvSpPr/>
          <p:nvPr/>
        </p:nvSpPr>
        <p:spPr>
          <a:xfrm>
            <a:off x="6766920" y="3132000"/>
            <a:ext cx="2557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31"/>
          <p:cNvSpPr/>
          <p:nvPr/>
        </p:nvSpPr>
        <p:spPr>
          <a:xfrm>
            <a:off x="6766920" y="3360600"/>
            <a:ext cx="2557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fully US-hosted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2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3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16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15" dur="indefinite" restart="never" nodeType="tmRoot">
          <p:childTnLst>
            <p:seq>
              <p:cTn id="316" dur="indefinite" nodeType="mainSeq">
                <p:childTnLst>
                  <p:par>
                    <p:cTn id="317" fill="hold">
                      <p:stCondLst>
                        <p:cond delay="indefinite"/>
                      </p:stCondLst>
                      <p:childTnLst>
                        <p:par>
                          <p:cTn id="318" fill="hold">
                            <p:stCondLst>
                              <p:cond delay="0"/>
                            </p:stCondLst>
                            <p:childTnLst>
                              <p:par>
                                <p:cTn id="31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7" fill="hold">
                      <p:stCondLst>
                        <p:cond delay="indefinite"/>
                      </p:stCondLst>
                      <p:childTnLst>
                        <p:par>
                          <p:cTn id="338" fill="hold">
                            <p:stCondLst>
                              <p:cond delay="0"/>
                            </p:stCondLst>
                            <p:childTnLst>
                              <p:par>
                                <p:cTn id="33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9" fill="hold">
                      <p:stCondLst>
                        <p:cond delay="indefinite"/>
                      </p:stCondLst>
                      <p:childTnLst>
                        <p:par>
                          <p:cTn id="350" fill="hold">
                            <p:stCondLst>
                              <p:cond delay="0"/>
                            </p:stCondLst>
                            <p:childTnLst>
                              <p:par>
                                <p:cTn id="35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Three concrete next steps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"/>
          <p:cNvSpPr/>
          <p:nvPr/>
        </p:nvSpPr>
        <p:spPr>
          <a:xfrm>
            <a:off x="457200" y="1188720"/>
            <a:ext cx="819720" cy="91116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 2"/>
          <p:cNvSpPr/>
          <p:nvPr/>
        </p:nvSpPr>
        <p:spPr>
          <a:xfrm>
            <a:off x="457200" y="1188720"/>
            <a:ext cx="8197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01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3"/>
          <p:cNvSpPr/>
          <p:nvPr/>
        </p:nvSpPr>
        <p:spPr>
          <a:xfrm>
            <a:off x="1371600" y="1188720"/>
            <a:ext cx="7311960" cy="91116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6" name="Text 4"/>
          <p:cNvSpPr/>
          <p:nvPr/>
        </p:nvSpPr>
        <p:spPr>
          <a:xfrm>
            <a:off x="1554480" y="1280160"/>
            <a:ext cx="69462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Scale up the local stack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5"/>
          <p:cNvSpPr/>
          <p:nvPr/>
        </p:nvSpPr>
        <p:spPr>
          <a:xfrm>
            <a:off x="1554480" y="1691640"/>
            <a:ext cx="69462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Expected: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Close the cloud-vs-local quality gap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6"/>
          <p:cNvSpPr/>
          <p:nvPr/>
        </p:nvSpPr>
        <p:spPr>
          <a:xfrm>
            <a:off x="457200" y="2331720"/>
            <a:ext cx="819720" cy="91116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9" name="Text 7"/>
          <p:cNvSpPr/>
          <p:nvPr/>
        </p:nvSpPr>
        <p:spPr>
          <a:xfrm>
            <a:off x="457200" y="2331720"/>
            <a:ext cx="8197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02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8"/>
          <p:cNvSpPr/>
          <p:nvPr/>
        </p:nvSpPr>
        <p:spPr>
          <a:xfrm>
            <a:off x="1371600" y="2331720"/>
            <a:ext cx="7311960" cy="91116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 9"/>
          <p:cNvSpPr/>
          <p:nvPr/>
        </p:nvSpPr>
        <p:spPr>
          <a:xfrm>
            <a:off x="1554480" y="2423160"/>
            <a:ext cx="69462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Prompt engineering for better SOAP quality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0"/>
          <p:cNvSpPr/>
          <p:nvPr/>
        </p:nvSpPr>
        <p:spPr>
          <a:xfrm>
            <a:off x="1554480" y="2834640"/>
            <a:ext cx="69462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Expected: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Lift average P-score from 0.1 to 1.0+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1"/>
          <p:cNvSpPr/>
          <p:nvPr/>
        </p:nvSpPr>
        <p:spPr>
          <a:xfrm>
            <a:off x="457200" y="3474720"/>
            <a:ext cx="819720" cy="91116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 12"/>
          <p:cNvSpPr/>
          <p:nvPr/>
        </p:nvSpPr>
        <p:spPr>
          <a:xfrm>
            <a:off x="457200" y="3474720"/>
            <a:ext cx="8197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03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3"/>
          <p:cNvSpPr/>
          <p:nvPr/>
        </p:nvSpPr>
        <p:spPr>
          <a:xfrm>
            <a:off x="1371600" y="3474720"/>
            <a:ext cx="7311960" cy="91116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 14"/>
          <p:cNvSpPr/>
          <p:nvPr/>
        </p:nvSpPr>
        <p:spPr>
          <a:xfrm>
            <a:off x="1554480" y="3566160"/>
            <a:ext cx="69462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Real-time streaming UX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5"/>
          <p:cNvSpPr/>
          <p:nvPr/>
        </p:nvSpPr>
        <p:spPr>
          <a:xfrm>
            <a:off x="1554480" y="3977640"/>
            <a:ext cx="69462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Expected: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Draft note ready before patient leaves the room</a:t>
            </a:r>
            <a:endParaRPr lang="de-DE" sz="13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6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7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17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61" dur="indefinite" restart="never" nodeType="tmRoot">
          <p:childTnLst>
            <p:seq>
              <p:cTn id="362" dur="indefinite" nodeType="mainSeq">
                <p:childTnLst>
                  <p:par>
                    <p:cTn id="363" fill="hold">
                      <p:stCondLst>
                        <p:cond delay="indefinite"/>
                      </p:stCondLst>
                      <p:childTnLst>
                        <p:par>
                          <p:cTn id="364" fill="hold">
                            <p:stCondLst>
                              <p:cond delay="0"/>
                            </p:stCondLst>
                            <p:childTnLst>
                              <p:par>
                                <p:cTn id="36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5" fill="hold">
                      <p:stCondLst>
                        <p:cond delay="indefinite"/>
                      </p:stCondLst>
                      <p:childTnLst>
                        <p:par>
                          <p:cTn id="376" fill="hold">
                            <p:stCondLst>
                              <p:cond delay="0"/>
                            </p:stCondLst>
                            <p:childTnLst>
                              <p:par>
                                <p:cTn id="37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7" fill="hold">
                      <p:stCondLst>
                        <p:cond delay="indefinite"/>
                      </p:stCondLst>
                      <p:childTnLst>
                        <p:par>
                          <p:cTn id="388" fill="hold">
                            <p:stCondLst>
                              <p:cond delay="0"/>
                            </p:stCondLst>
                            <p:childTnLst>
                              <p:par>
                                <p:cTn id="38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0"/>
          <p:cNvSpPr/>
          <p:nvPr/>
        </p:nvSpPr>
        <p:spPr>
          <a:xfrm>
            <a:off x="457200" y="274320"/>
            <a:ext cx="82263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If you remember only three things...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"/>
          <p:cNvSpPr/>
          <p:nvPr/>
        </p:nvSpPr>
        <p:spPr>
          <a:xfrm>
            <a:off x="365760" y="1188720"/>
            <a:ext cx="9111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1</a:t>
            </a:r>
            <a:endParaRPr lang="de-DE" sz="64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"/>
          <p:cNvSpPr/>
          <p:nvPr/>
        </p:nvSpPr>
        <p:spPr>
          <a:xfrm>
            <a:off x="1371600" y="1188720"/>
            <a:ext cx="73119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pipeline works — the Plan section doesn't.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"/>
          <p:cNvSpPr/>
          <p:nvPr/>
        </p:nvSpPr>
        <p:spPr>
          <a:xfrm>
            <a:off x="365760" y="2286000"/>
            <a:ext cx="9111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2</a:t>
            </a:r>
            <a:endParaRPr lang="de-DE" sz="64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4"/>
          <p:cNvSpPr/>
          <p:nvPr/>
        </p:nvSpPr>
        <p:spPr>
          <a:xfrm>
            <a:off x="1371600" y="2286000"/>
            <a:ext cx="73119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Hardware and model size are the bottleneck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DejaVu Serif"/>
                <a:ea typeface="DejaVu Serif"/>
              </a:rPr>
              <a:t>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5"/>
          <p:cNvSpPr/>
          <p:nvPr/>
        </p:nvSpPr>
        <p:spPr>
          <a:xfrm>
            <a:off x="365760" y="3383280"/>
            <a:ext cx="9111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3</a:t>
            </a:r>
            <a:endParaRPr lang="de-DE" sz="64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1371600" y="3383280"/>
            <a:ext cx="73119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Assistive today. Autonomous tomorrow?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9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18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99" dur="indefinite" restart="never" nodeType="tmRoot">
          <p:childTnLst>
            <p:seq>
              <p:cTn id="400" dur="indefinite" nodeType="mainSeq">
                <p:childTnLst>
                  <p:par>
                    <p:cTn id="401" fill="hold">
                      <p:stCondLst>
                        <p:cond delay="indefinite"/>
                      </p:stCondLst>
                      <p:childTnLst>
                        <p:par>
                          <p:cTn id="402" fill="hold">
                            <p:stCondLst>
                              <p:cond delay="0"/>
                            </p:stCondLst>
                            <p:childTnLst>
                              <p:par>
                                <p:cTn id="40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7" fill="hold">
                      <p:stCondLst>
                        <p:cond delay="indefinite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3" fill="hold">
                      <p:stCondLst>
                        <p:cond delay="indefinite"/>
                      </p:stCondLst>
                      <p:childTnLst>
                        <p:par>
                          <p:cTn id="414" fill="hold">
                            <p:stCondLst>
                              <p:cond delay="0"/>
                            </p:stCondLst>
                            <p:childTnLst>
                              <p:par>
                                <p:cTn id="41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0"/>
          <p:cNvSpPr/>
          <p:nvPr/>
        </p:nvSpPr>
        <p:spPr>
          <a:xfrm>
            <a:off x="6400800" y="548640"/>
            <a:ext cx="2374200" cy="31680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Shape 1"/>
          <p:cNvSpPr/>
          <p:nvPr/>
        </p:nvSpPr>
        <p:spPr>
          <a:xfrm>
            <a:off x="6583680" y="1005840"/>
            <a:ext cx="2191320" cy="252720"/>
          </a:xfrm>
          <a:prstGeom prst="parallelogram">
            <a:avLst>
              <a:gd name="adj" fmla="val 25000"/>
            </a:avLst>
          </a:prstGeom>
          <a:solidFill>
            <a:srgbClr val="D04A02">
              <a:alpha val="50000"/>
            </a:srgbClr>
          </a:solidFill>
          <a:ln w="126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 2"/>
          <p:cNvSpPr/>
          <p:nvPr/>
        </p:nvSpPr>
        <p:spPr>
          <a:xfrm>
            <a:off x="457200" y="1645920"/>
            <a:ext cx="822636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Questions?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3"/>
          <p:cNvSpPr/>
          <p:nvPr/>
        </p:nvSpPr>
        <p:spPr>
          <a:xfrm>
            <a:off x="457200" y="3749040"/>
            <a:ext cx="82263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5429"/>
                </a:solidFill>
                <a:effectLst/>
                <a:uFillTx/>
                <a:latin typeface="DejaVu Serif"/>
                <a:ea typeface="DejaVu Serif"/>
              </a:rPr>
              <a:t>Thank you.</a:t>
            </a:r>
            <a:endParaRPr lang="de-DE" sz="1600" b="0" u="none" strike="noStrike">
              <a:solidFill>
                <a:srgbClr val="FF5429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4"/>
          <p:cNvSpPr/>
          <p:nvPr/>
        </p:nvSpPr>
        <p:spPr>
          <a:xfrm>
            <a:off x="365760" y="48646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5"/>
          <p:cNvSpPr/>
          <p:nvPr/>
        </p:nvSpPr>
        <p:spPr>
          <a:xfrm>
            <a:off x="7772400" y="4864680"/>
            <a:ext cx="1002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19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582</TotalTime>
  <Application>LibreOffice/26.2.1.2$Linux_X86_64 LibreOffice_project/620$Build-2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2026-05-15T07:25:02Z</dcterms:created>
  <dc:creator>Anton Reinhard &amp; Leonard Niedens</dc:creator>
  <dc:description/>
  <dc:language>de-DE</dc:language>
  <cp:lastModifiedBy/>
  <dcterms:modified xsi:type="dcterms:W3CDTF">2026-05-20T14:44:45Z</dcterms:modified>
  <cp:revision>34</cp:revision>
  <dc:subject>PptxGenJS Presentation</dc:subject>
  <dc:title>AI-Anamnesis of Patients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0x01010009ABEE73BF99044B8E88242258EF819B</vt:lpwstr>
  </property>
  <property fmtid="{D5CDD505-2E9C-101B-9397-08002B2CF9AE}" pid="3" name="Notes">
    <vt:r8>19</vt:r8>
  </property>
  <property fmtid="{D5CDD505-2E9C-101B-9397-08002B2CF9AE}" pid="4" name="PresentationFormat">
    <vt:lpwstr>Bildschirmpräsentation (16:9)</vt:lpwstr>
  </property>
  <property fmtid="{D5CDD505-2E9C-101B-9397-08002B2CF9AE}" pid="5" name="Slides">
    <vt:r8>19</vt:r8>
  </property>
</Properties>
</file>