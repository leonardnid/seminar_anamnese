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5.xml" ContentType="application/vnd.openxmlformats-officedocument.drawingml.chart+xml"/>
  <Override PartName="/ppt/charts/colors5.xml" ContentType="application/vnd.ms-office.chartcolorstyle+xml"/>
  <Override PartName="/ppt/charts/style5.xml" ContentType="application/vnd.ms-office.chartstyle+xml"/>
  <Override PartName="/ppt/charts/colors3.xml" ContentType="application/vnd.ms-office.chartcolorstyle+xml"/>
  <Override PartName="/ppt/charts/style1.xml" ContentType="application/vnd.ms-office.chartstyle+xml"/>
  <Override PartName="/ppt/charts/chart1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3.xml" ContentType="application/vnd.openxmlformats-officedocument.drawingml.chart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3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4.xml" ContentType="application/vnd.openxmlformats-officedocument.drawingml.char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_rels/chart3.xml.rels><?xml version="1.0" encoding="UTF-8"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
</Relationships>
</file>

<file path=ppt/charts/_rels/chart4.xml.rels><?xml version="1.0" encoding="UTF-8"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
</Relationships>
</file>

<file path=ppt/charts/_rels/chart5.xml.rels><?xml version="1.0" encoding="UTF-8"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WER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☁ Assembly</c:v>
                </c:pt>
                <c:pt idx="1">
                  <c:v>☁ Speechmatics</c:v>
                </c:pt>
                <c:pt idx="2">
                  <c:v>▣ Whisper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8.9</c:v>
                </c:pt>
                <c:pt idx="1">
                  <c:v>11.4</c:v>
                </c:pt>
                <c:pt idx="2">
                  <c:v>13.5</c:v>
                </c:pt>
              </c:numCache>
            </c:numRef>
          </c:val>
        </c:ser>
        <c:gapWidth val="60"/>
        <c:overlap val="0"/>
        <c:axId val="54229068"/>
        <c:axId val="19302128"/>
      </c:barChart>
      <c:catAx>
        <c:axId val="5422906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19302128"/>
        <c:crosses val="autoZero"/>
        <c:auto val="1"/>
        <c:lblAlgn val="ctr"/>
        <c:lblOffset val="100"/>
        <c:noMultiLvlLbl val="0"/>
      </c:catAx>
      <c:valAx>
        <c:axId val="19302128"/>
        <c:scaling>
          <c:orientation val="minMax"/>
          <c:max val="16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54229068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(cloud 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86031415"/>
        <c:axId val="42246654"/>
      </c:barChart>
      <c:catAx>
        <c:axId val="8603141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42246654"/>
        <c:crosses val="autoZero"/>
        <c:auto val="1"/>
        <c:lblAlgn val="ctr"/>
        <c:lblOffset val="100"/>
        <c:noMultiLvlLbl val="0"/>
      </c:catAx>
      <c:valAx>
        <c:axId val="42246654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8603141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Avg LLM error rate (%)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\%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☁ GPT-4o (avg)</c:v>
                </c:pt>
                <c:pt idx="1">
                  <c:v>▣ Gemma</c:v>
                </c:pt>
                <c:pt idx="2">
                  <c:v>▣ Llama 3.2</c:v>
                </c:pt>
                <c:pt idx="3">
                  <c:v>▣ Sauerkraut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</c:v>
                </c:pt>
                <c:pt idx="1">
                  <c:v>13.3</c:v>
                </c:pt>
                <c:pt idx="2">
                  <c:v>15.1</c:v>
                </c:pt>
                <c:pt idx="3">
                  <c:v>19.7</c:v>
                </c:pt>
              </c:numCache>
            </c:numRef>
          </c:val>
        </c:ser>
        <c:gapWidth val="60"/>
        <c:overlap val="0"/>
        <c:axId val="23224381"/>
        <c:axId val="59325843"/>
      </c:barChart>
      <c:catAx>
        <c:axId val="2322438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59325843"/>
        <c:crosses val="autoZero"/>
        <c:auto val="1"/>
        <c:lblAlgn val="ctr"/>
        <c:lblOffset val="100"/>
        <c:noMultiLvlLbl val="0"/>
      </c:catAx>
      <c:valAx>
        <c:axId val="59325843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23224381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Word count</c:v>
                </c:pt>
              </c:strCache>
            </c:strRef>
          </c:tx>
          <c:spPr>
            <a:solidFill>
              <a:srgbClr val="D04A02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02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8A95A0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After SauerkrautLM</c:v>
                </c:pt>
                <c:pt idx="1">
                  <c:v>Ground Truth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152</c:v>
                </c:pt>
                <c:pt idx="1">
                  <c:v>2269</c:v>
                </c:pt>
              </c:numCache>
            </c:numRef>
          </c:val>
        </c:ser>
        <c:gapWidth val="60"/>
        <c:overlap val="0"/>
        <c:axId val="56007492"/>
        <c:axId val="80522977"/>
      </c:barChart>
      <c:catAx>
        <c:axId val="5600749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80522977"/>
        <c:crosses val="autoZero"/>
        <c:auto val="1"/>
        <c:lblAlgn val="ctr"/>
        <c:lblOffset val="100"/>
        <c:noMultiLvlLbl val="0"/>
      </c:catAx>
      <c:valAx>
        <c:axId val="80522977"/>
        <c:scaling>
          <c:orientation val="minMax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5600749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Ø SOAP Score</c:v>
                </c:pt>
              </c:strCache>
            </c:strRef>
          </c:tx>
          <c:spPr>
            <a:solidFill>
              <a:srgbClr val="D04A3A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D04A3A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D89614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E8E8E8"/>
                      </a:solidFill>
                      <a:uFillTx/>
                      <a:latin typeface="DejaVu Serif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E8E8E8"/>
                    </a:solidFill>
                    <a:uFillTx/>
                    <a:latin typeface="DejaVu Serif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▣ Llama 3.2</c:v>
                </c:pt>
                <c:pt idx="1">
                  <c:v>▣ Sauerkraut</c:v>
                </c:pt>
                <c:pt idx="2">
                  <c:v>▣ Gemma</c:v>
                </c:pt>
                <c:pt idx="3">
                  <c:v>☁ GPT-4o (avg)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2.1</c:v>
                </c:pt>
                <c:pt idx="1">
                  <c:v>3.2</c:v>
                </c:pt>
                <c:pt idx="2">
                  <c:v>3.4</c:v>
                </c:pt>
                <c:pt idx="3">
                  <c:v>4.4</c:v>
                </c:pt>
              </c:numCache>
            </c:numRef>
          </c:val>
        </c:ser>
        <c:gapWidth val="60"/>
        <c:overlap val="0"/>
        <c:axId val="17810945"/>
        <c:axId val="26214815"/>
      </c:barChart>
      <c:catAx>
        <c:axId val="1781094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E8E8E8"/>
                </a:solidFill>
                <a:uFillTx/>
                <a:latin typeface="DejaVu Serif"/>
              </a:defRPr>
            </a:pPr>
          </a:p>
        </c:txPr>
        <c:crossAx val="26214815"/>
        <c:crosses val="autoZero"/>
        <c:auto val="1"/>
        <c:lblAlgn val="ctr"/>
        <c:lblOffset val="100"/>
        <c:noMultiLvlLbl val="0"/>
      </c:catAx>
      <c:valAx>
        <c:axId val="26214815"/>
        <c:scaling>
          <c:orientation val="minMax"/>
          <c:max val="8"/>
          <c:min val="0"/>
        </c:scaling>
        <c:delete val="0"/>
        <c:axPos val="l"/>
        <c:majorGridlines>
          <c:spPr>
            <a:ln w="6480">
              <a:solidFill>
                <a:srgbClr val="3A3D42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8A95A0"/>
                </a:solidFill>
                <a:uFillTx/>
                <a:latin typeface="Arial"/>
              </a:defRPr>
            </a:pPr>
          </a:p>
        </c:txPr>
        <c:crossAx val="17810945"/>
        <c:crosses val="autoZero"/>
        <c:crossBetween val="between"/>
        <c:majorUnit val="2"/>
      </c:valAx>
      <c:spPr>
        <a:noFill/>
        <a:ln w="0">
          <a:noFill/>
        </a:ln>
      </c:spPr>
    </c:plotArea>
    <c:plotVisOnly val="1"/>
    <c:dispBlanksAs val="span"/>
  </c:chart>
  <c:spPr>
    <a:solidFill>
      <a:srgbClr val="1A1A1A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5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Folie 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mittels 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Klicken 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verschieb</a:t>
            </a: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25B59E-648A-4A55-AA77-CB485F98F08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31F6EDB-8240-42E0-BC88-FBBBA0EF7B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69520C2-49B0-4125-BD0E-EC871CDB1A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D1B386F-A19E-4526-BFF7-0F19C53D42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4E7EAFF-6481-44F2-A26E-3687C97653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0B58E41-E5AA-4D14-90A9-96719870C9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F67BA79-D7F8-4711-AA4D-F7178387A5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3C4EA4D-89E4-41E4-B9B0-79B677D1B1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F1174D0-D36B-4788-921F-470D849114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BABE4D-017E-4844-8D34-F1754A2A6B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97DFEA8-131F-4051-BB90-9714EB8B08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F2FF89-E9B6-4E55-8977-DB2347A1FB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E6A42E4-13B5-4F14-AB4C-358437EDC3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FDB0715-3BAE-431C-B3FD-AF1ADD11CC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6EEB2CF-FDE0-4A30-A3CA-D67910F559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0508767-6AD1-41BD-98E8-8810F186CC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882C134-0EB2-4ABA-B191-2B69B3D18E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81E509-D520-4226-B0BB-D9AE1D8BFE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49D9A30-668B-4587-B6CB-754B70A8B8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F4FE24C-7EC7-44F2-8DFF-CCAEE0E875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41A88FF-ABBB-44EA-AFDE-0C3E2FAEBD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chart" Target="../charts/chart1.xml"/><Relationship Id="rId4" Type="http://schemas.openxmlformats.org/officeDocument/2006/relationships/image" Target="../media/image4.png"/><Relationship Id="rId5" Type="http://schemas.openxmlformats.org/officeDocument/2006/relationships/image" Target="../media/image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4.png"/><Relationship Id="rId3" Type="http://schemas.openxmlformats.org/officeDocument/2006/relationships/chart" Target="../charts/chart3.xml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6949440" y="2011680"/>
            <a:ext cx="2376360" cy="36468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6400800" y="2560320"/>
            <a:ext cx="2925000" cy="410400"/>
          </a:xfrm>
          <a:prstGeom prst="parallelogram">
            <a:avLst>
              <a:gd name="adj" fmla="val 25000"/>
            </a:avLst>
          </a:prstGeom>
          <a:solidFill>
            <a:srgbClr val="D04A02">
              <a:alpha val="6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137160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AI-Anamnesis of Patients</a:t>
            </a:r>
            <a:endParaRPr lang="de-DE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2286000"/>
            <a:ext cx="73141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Evaluating End-to-End STT + LLM Pipelines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for Medical Documentation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39319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Anton Reinhard  ·  Leonard Niedens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425196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Master Seminar  ·  PwC Cloud &amp; AI  ×  Hochschule Hannover  ·  </a:t>
            </a:r>
            <a:r>
              <a:rPr lang="en-US" sz="9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2026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"/>
          <p:cNvSpPr/>
          <p:nvPr/>
        </p:nvSpPr>
        <p:spPr>
          <a:xfrm>
            <a:off x="457200" y="925920"/>
            <a:ext cx="68569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2 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h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o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u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</a:t>
            </a:r>
            <a:r>
              <a:rPr lang="en-US" sz="120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</a:t>
            </a:r>
            <a:endParaRPr lang="de-DE" sz="1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457200" y="2571840"/>
            <a:ext cx="6856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per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da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y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nt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by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ph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ysi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cia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ns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on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do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cu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me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nta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tio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—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not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pat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ien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car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457200" y="330336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49% </a:t>
            </a: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of physicians report burnout — administrative load is the #1 cited driver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457200" y="4526280"/>
            <a:ext cx="8228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Sourc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es: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Annal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 of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Inter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nal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Medi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cine,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2016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·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Meds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cape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Physi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cian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Burno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ut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Repor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t </a:t>
            </a:r>
            <a:r>
              <a:rPr lang="en-US" sz="900" b="0" i="1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457200" y="27432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 we asked ourselves...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457200" y="822960"/>
            <a:ext cx="82285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"Can an AI listen to a doctor-patient conversation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and produce usable medical documentation —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completely automatically?"</a:t>
            </a:r>
            <a:endParaRPr lang="de-DE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490400" y="2743200"/>
            <a:ext cx="58428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4"/>
          <p:cNvSpPr/>
          <p:nvPr/>
        </p:nvSpPr>
        <p:spPr>
          <a:xfrm>
            <a:off x="502920" y="347472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Accurate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"/>
          <p:cNvSpPr/>
          <p:nvPr/>
        </p:nvSpPr>
        <p:spPr>
          <a:xfrm>
            <a:off x="502920" y="379476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Facts must match what was said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3291840" y="347472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Structured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3291840" y="379476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SOAP format implementation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2"/>
          <p:cNvSpPr/>
          <p:nvPr/>
        </p:nvSpPr>
        <p:spPr>
          <a:xfrm>
            <a:off x="6080760" y="347472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Trustworthy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6080760" y="3794760"/>
            <a:ext cx="25592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Zero tolerance for hallucinations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" name="Grafik 35"/>
          <p:cNvPicPr/>
          <p:nvPr/>
        </p:nvPicPr>
        <p:blipFill>
          <a:blip r:embed="rId1"/>
          <a:stretch/>
        </p:blipFill>
        <p:spPr>
          <a:xfrm>
            <a:off x="1483200" y="2759040"/>
            <a:ext cx="591480" cy="59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Grafik 36"/>
          <p:cNvPicPr/>
          <p:nvPr/>
        </p:nvPicPr>
        <p:blipFill>
          <a:blip r:embed="rId2"/>
          <a:stretch/>
        </p:blipFill>
        <p:spPr>
          <a:xfrm>
            <a:off x="4343760" y="2759040"/>
            <a:ext cx="455040" cy="59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37"/>
          <p:cNvPicPr/>
          <p:nvPr/>
        </p:nvPicPr>
        <p:blipFill>
          <a:blip r:embed="rId3"/>
          <a:stretch/>
        </p:blipFill>
        <p:spPr>
          <a:xfrm>
            <a:off x="7048800" y="2759040"/>
            <a:ext cx="611640" cy="61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1"/>
          <p:cNvSpPr/>
          <p:nvPr/>
        </p:nvSpPr>
        <p:spPr>
          <a:xfrm>
            <a:off x="452520" y="1626480"/>
            <a:ext cx="1827720" cy="1461960"/>
          </a:xfrm>
          <a:prstGeom prst="roundRect">
            <a:avLst>
              <a:gd name="adj" fmla="val 10764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u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st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g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—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kf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589680" y="217512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Audio Capture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2281320" y="2175120"/>
            <a:ext cx="282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2583360" y="1626480"/>
            <a:ext cx="1827720" cy="146196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6"/>
          <p:cNvSpPr/>
          <p:nvPr/>
        </p:nvSpPr>
        <p:spPr>
          <a:xfrm>
            <a:off x="2715840" y="217512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STT + Diarization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4430160" y="2175120"/>
            <a:ext cx="282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4732200" y="1626480"/>
            <a:ext cx="1827720" cy="146196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4869360" y="217512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Format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6579000" y="2175120"/>
            <a:ext cx="282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→</a:t>
            </a:r>
            <a:endParaRPr lang="de-D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6881040" y="1626480"/>
            <a:ext cx="1827720" cy="1461960"/>
          </a:xfrm>
          <a:prstGeom prst="roundRect">
            <a:avLst>
              <a:gd name="adj" fmla="val 9375"/>
            </a:avLst>
          </a:prstGeom>
          <a:solidFill>
            <a:srgbClr val="D04A02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6995160" y="217836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SOAP LLM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434520" y="322668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① Recording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7"/>
          <p:cNvSpPr/>
          <p:nvPr/>
        </p:nvSpPr>
        <p:spPr>
          <a:xfrm>
            <a:off x="2583360" y="322668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② Transcribe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8"/>
          <p:cNvSpPr/>
          <p:nvPr/>
        </p:nvSpPr>
        <p:spPr>
          <a:xfrm>
            <a:off x="4732200" y="322668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③ Format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9"/>
          <p:cNvSpPr/>
          <p:nvPr/>
        </p:nvSpPr>
        <p:spPr>
          <a:xfrm>
            <a:off x="6881040" y="322668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④ Generate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0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1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Contenders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457200" y="1280160"/>
            <a:ext cx="3930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STT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" name="Table 0"/>
          <p:cNvGraphicFramePr/>
          <p:nvPr/>
        </p:nvGraphicFramePr>
        <p:xfrm>
          <a:off x="457200" y="1645920"/>
          <a:ext cx="3931560" cy="103824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AssemblyAI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Speechmatics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Whisper turbo (~800M)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7" name="Text 2"/>
          <p:cNvSpPr/>
          <p:nvPr/>
        </p:nvSpPr>
        <p:spPr>
          <a:xfrm>
            <a:off x="4754880" y="1280160"/>
            <a:ext cx="3930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LLM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" name="Table 1"/>
          <p:cNvGraphicFramePr/>
          <p:nvPr/>
        </p:nvGraphicFramePr>
        <p:xfrm>
          <a:off x="4754880" y="1645920"/>
          <a:ext cx="3931560" cy="12978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</a:tblGrid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Type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GPT-4o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     Cloud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SauerkrautLM 8B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 3B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 4 4B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▣ Local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9" name="Text 3"/>
          <p:cNvSpPr/>
          <p:nvPr/>
        </p:nvSpPr>
        <p:spPr>
          <a:xfrm>
            <a:off x="457200" y="329184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Tested Combinations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4"/>
          <p:cNvSpPr/>
          <p:nvPr/>
        </p:nvSpPr>
        <p:spPr>
          <a:xfrm>
            <a:off x="411480" y="3703320"/>
            <a:ext cx="1553400" cy="8218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6"/>
          <p:cNvSpPr/>
          <p:nvPr/>
        </p:nvSpPr>
        <p:spPr>
          <a:xfrm>
            <a:off x="502920" y="3960000"/>
            <a:ext cx="1370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2103120" y="3703320"/>
            <a:ext cx="1553400" cy="82188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9"/>
          <p:cNvSpPr/>
          <p:nvPr/>
        </p:nvSpPr>
        <p:spPr>
          <a:xfrm>
            <a:off x="2194560" y="3954960"/>
            <a:ext cx="1370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Speechmatics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3794760" y="3703320"/>
            <a:ext cx="1553400" cy="82188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3886200" y="3954960"/>
            <a:ext cx="1370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Sauerkraut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3"/>
          <p:cNvSpPr/>
          <p:nvPr/>
        </p:nvSpPr>
        <p:spPr>
          <a:xfrm>
            <a:off x="5486400" y="3703320"/>
            <a:ext cx="1553400" cy="82188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5578200" y="3954960"/>
            <a:ext cx="1370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Llama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6"/>
          <p:cNvSpPr/>
          <p:nvPr/>
        </p:nvSpPr>
        <p:spPr>
          <a:xfrm>
            <a:off x="7178040" y="3703320"/>
            <a:ext cx="1553400" cy="821880"/>
          </a:xfrm>
          <a:prstGeom prst="roundRect">
            <a:avLst>
              <a:gd name="adj" fmla="val 16667"/>
            </a:avLst>
          </a:prstGeom>
          <a:solidFill>
            <a:srgbClr val="8A95A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18"/>
          <p:cNvSpPr/>
          <p:nvPr/>
        </p:nvSpPr>
        <p:spPr>
          <a:xfrm>
            <a:off x="7269480" y="3960000"/>
            <a:ext cx="1370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+ Gemma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9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0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5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" name="Grafik 75"/>
          <p:cNvPicPr/>
          <p:nvPr/>
        </p:nvPicPr>
        <p:blipFill>
          <a:blip r:embed="rId1"/>
          <a:stretch/>
        </p:blipFill>
        <p:spPr>
          <a:xfrm>
            <a:off x="2933280" y="198648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Grafik 76"/>
          <p:cNvPicPr/>
          <p:nvPr/>
        </p:nvPicPr>
        <p:blipFill>
          <a:blip r:embed="rId2"/>
          <a:stretch/>
        </p:blipFill>
        <p:spPr>
          <a:xfrm>
            <a:off x="2933280" y="198684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Grafik 77"/>
          <p:cNvPicPr/>
          <p:nvPr/>
        </p:nvPicPr>
        <p:blipFill>
          <a:blip r:embed="rId3"/>
          <a:stretch/>
        </p:blipFill>
        <p:spPr>
          <a:xfrm>
            <a:off x="2933280" y="198720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Grafik 78"/>
          <p:cNvPicPr/>
          <p:nvPr/>
        </p:nvPicPr>
        <p:blipFill>
          <a:blip r:embed="rId4"/>
          <a:stretch/>
        </p:blipFill>
        <p:spPr>
          <a:xfrm>
            <a:off x="2933280" y="223956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Grafik 79"/>
          <p:cNvPicPr/>
          <p:nvPr/>
        </p:nvPicPr>
        <p:blipFill>
          <a:blip r:embed="rId5"/>
          <a:stretch/>
        </p:blipFill>
        <p:spPr>
          <a:xfrm>
            <a:off x="7217280" y="1987920"/>
            <a:ext cx="179280" cy="9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draws the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line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"/>
          <p:cNvSpPr/>
          <p:nvPr/>
        </p:nvSpPr>
        <p:spPr>
          <a:xfrm>
            <a:off x="457200" y="1491120"/>
            <a:ext cx="3930840" cy="246780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2"/>
          <p:cNvSpPr/>
          <p:nvPr/>
        </p:nvSpPr>
        <p:spPr>
          <a:xfrm>
            <a:off x="640080" y="162828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On-Prem Stack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685800" y="2131200"/>
            <a:ext cx="338220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Whisper turbo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  ~800M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SauerkrautLM / Llama / Gemma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  </a:t>
            </a:r>
            <a:br>
              <a:rPr sz="1300"/>
            </a:b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3–8B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AMD iGPU — 16 GB shared 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4"/>
          <p:cNvSpPr/>
          <p:nvPr/>
        </p:nvSpPr>
        <p:spPr>
          <a:xfrm>
            <a:off x="4754880" y="1491120"/>
            <a:ext cx="3930840" cy="2467800"/>
          </a:xfrm>
          <a:prstGeom prst="roundRect">
            <a:avLst>
              <a:gd name="adj" fmla="val 5556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5"/>
          <p:cNvSpPr/>
          <p:nvPr/>
        </p:nvSpPr>
        <p:spPr>
          <a:xfrm>
            <a:off x="4937760" y="162828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Feasibility Limit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"/>
          <p:cNvSpPr/>
          <p:nvPr/>
        </p:nvSpPr>
        <p:spPr>
          <a:xfrm>
            <a:off x="4983480" y="2131200"/>
            <a:ext cx="338220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Whisper large-v3</a:t>
            </a: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1.55B params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SauerkrautLM 70B</a:t>
            </a: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~32 GB VRAM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</a:t>
            </a:r>
            <a:endParaRPr lang="de-DE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Resources not available for this evaluation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7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8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6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7" dur="indefinite" restart="never" nodeType="tmRoot">
          <p:childTnLst>
            <p:seq>
              <p:cTn id="68" dur="indefinite" nodeType="mainSeq">
                <p:childTnLst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From clean recordings to total chaos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"/>
          <p:cNvSpPr/>
          <p:nvPr/>
        </p:nvSpPr>
        <p:spPr>
          <a:xfrm>
            <a:off x="457200" y="1188720"/>
            <a:ext cx="8228520" cy="77616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2"/>
          <p:cNvSpPr/>
          <p:nvPr/>
        </p:nvSpPr>
        <p:spPr>
          <a:xfrm>
            <a:off x="640080" y="1188720"/>
            <a:ext cx="16448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Standard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2377440" y="13258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4"/>
          <p:cNvSpPr/>
          <p:nvPr/>
        </p:nvSpPr>
        <p:spPr>
          <a:xfrm>
            <a:off x="2651760" y="11887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OriginalDC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663440" y="11887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Laptop-Middle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6675120" y="11887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Laptop-Doctor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7"/>
          <p:cNvSpPr/>
          <p:nvPr/>
        </p:nvSpPr>
        <p:spPr>
          <a:xfrm>
            <a:off x="457200" y="2103120"/>
            <a:ext cx="8228520" cy="77616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 8"/>
          <p:cNvSpPr/>
          <p:nvPr/>
        </p:nvSpPr>
        <p:spPr>
          <a:xfrm>
            <a:off x="640080" y="2103120"/>
            <a:ext cx="16448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Challenging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9"/>
          <p:cNvSpPr/>
          <p:nvPr/>
        </p:nvSpPr>
        <p:spPr>
          <a:xfrm>
            <a:off x="2377440" y="22402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2651760" y="21031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4663440" y="21031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Self-Corrections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6675120" y="21031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Interruptions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3"/>
          <p:cNvSpPr/>
          <p:nvPr/>
        </p:nvSpPr>
        <p:spPr>
          <a:xfrm>
            <a:off x="457200" y="3017520"/>
            <a:ext cx="8228520" cy="77616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640080" y="3017520"/>
            <a:ext cx="16448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Complex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5"/>
          <p:cNvSpPr/>
          <p:nvPr/>
        </p:nvSpPr>
        <p:spPr>
          <a:xfrm>
            <a:off x="2377440" y="31546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2651760" y="30175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Topic Jumps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4663440" y="30175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Mind Changes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6675120" y="3017520"/>
            <a:ext cx="20106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Chaos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9"/>
          <p:cNvSpPr/>
          <p:nvPr/>
        </p:nvSpPr>
        <p:spPr>
          <a:xfrm>
            <a:off x="457200" y="3931920"/>
            <a:ext cx="8228520" cy="776160"/>
          </a:xfrm>
          <a:prstGeom prst="roundRect">
            <a:avLst>
              <a:gd name="adj" fmla="val 17647"/>
            </a:avLst>
          </a:prstGeom>
          <a:solidFill>
            <a:srgbClr val="D04A02">
              <a:alpha val="8000"/>
            </a:srgbClr>
          </a:solidFill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640080" y="3931920"/>
            <a:ext cx="16448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Real-World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1"/>
          <p:cNvSpPr/>
          <p:nvPr/>
        </p:nvSpPr>
        <p:spPr>
          <a:xfrm>
            <a:off x="2377440" y="4069080"/>
            <a:ext cx="360" cy="502920"/>
          </a:xfrm>
          <a:prstGeom prst="line">
            <a:avLst/>
          </a:prstGeom>
          <a:ln w="19050">
            <a:solidFill>
              <a:srgbClr val="D04A0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22"/>
          <p:cNvSpPr/>
          <p:nvPr/>
        </p:nvSpPr>
        <p:spPr>
          <a:xfrm>
            <a:off x="2651760" y="3931920"/>
            <a:ext cx="3016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Long Anamnesis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4663080" y="3931920"/>
            <a:ext cx="3016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Physiotherapy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5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Anam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nesis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Maste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Semin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PwC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chule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Hanno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ver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7" dur="indefinite" restart="never" nodeType="tmRoot">
          <p:childTnLst>
            <p:seq>
              <p:cTn id="78" dur="indefinite" nodeType="mainSeq">
                <p:childTnLst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independent measurements per run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"/>
          <p:cNvSpPr/>
          <p:nvPr/>
        </p:nvSpPr>
        <p:spPr>
          <a:xfrm>
            <a:off x="41148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" name="Shape 2"/>
          <p:cNvSpPr/>
          <p:nvPr/>
        </p:nvSpPr>
        <p:spPr>
          <a:xfrm>
            <a:off x="411480" y="1280160"/>
            <a:ext cx="2650680" cy="10872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411480" y="1508760"/>
            <a:ext cx="2650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📏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411480" y="2011680"/>
            <a:ext cx="2650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WER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411480" y="242316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Word Error Rate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548640" y="2926080"/>
            <a:ext cx="2376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RAW STT vs. Ground Truth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7"/>
          <p:cNvSpPr/>
          <p:nvPr/>
        </p:nvSpPr>
        <p:spPr>
          <a:xfrm>
            <a:off x="324612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Shape 8"/>
          <p:cNvSpPr/>
          <p:nvPr/>
        </p:nvSpPr>
        <p:spPr>
          <a:xfrm>
            <a:off x="3246120" y="1280160"/>
            <a:ext cx="2650680" cy="10872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 9"/>
          <p:cNvSpPr/>
          <p:nvPr/>
        </p:nvSpPr>
        <p:spPr>
          <a:xfrm>
            <a:off x="3246120" y="1508760"/>
            <a:ext cx="2650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🔍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0"/>
          <p:cNvSpPr/>
          <p:nvPr/>
        </p:nvSpPr>
        <p:spPr>
          <a:xfrm>
            <a:off x="3246120" y="2011680"/>
            <a:ext cx="2650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LLM Fidelity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1"/>
          <p:cNvSpPr/>
          <p:nvPr/>
        </p:nvSpPr>
        <p:spPr>
          <a:xfrm>
            <a:off x="3246120" y="242316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Did the LLM hallucinate?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3383280" y="2926080"/>
            <a:ext cx="2376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RAW STT vs. Formatted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3"/>
          <p:cNvSpPr/>
          <p:nvPr/>
        </p:nvSpPr>
        <p:spPr>
          <a:xfrm>
            <a:off x="608076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6080760" y="1280160"/>
            <a:ext cx="2650680" cy="108720"/>
          </a:xfrm>
          <a:prstGeom prst="roundRect">
            <a:avLst>
              <a:gd name="adj" fmla="val 1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2760" rIns="90000" bIns="3276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 15"/>
          <p:cNvSpPr/>
          <p:nvPr/>
        </p:nvSpPr>
        <p:spPr>
          <a:xfrm>
            <a:off x="6080760" y="1508760"/>
            <a:ext cx="2650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⚕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6"/>
          <p:cNvSpPr/>
          <p:nvPr/>
        </p:nvSpPr>
        <p:spPr>
          <a:xfrm>
            <a:off x="6080760" y="2011680"/>
            <a:ext cx="2650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7"/>
          <p:cNvSpPr/>
          <p:nvPr/>
        </p:nvSpPr>
        <p:spPr>
          <a:xfrm>
            <a:off x="6080760" y="242316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Is the note medically usable?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6217920" y="2926080"/>
            <a:ext cx="2376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Claude-as-Judge (0–8 pts)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9"/>
          <p:cNvSpPr/>
          <p:nvPr/>
        </p:nvSpPr>
        <p:spPr>
          <a:xfrm>
            <a:off x="457200" y="4114800"/>
            <a:ext cx="8228520" cy="501840"/>
          </a:xfrm>
          <a:prstGeom prst="roundRect">
            <a:avLst>
              <a:gd name="adj" fmla="val 27273"/>
            </a:avLst>
          </a:prstGeom>
          <a:solidFill>
            <a:srgbClr val="3A251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 20"/>
          <p:cNvSpPr/>
          <p:nvPr/>
        </p:nvSpPr>
        <p:spPr>
          <a:xfrm>
            <a:off x="594360" y="4160520"/>
            <a:ext cx="7954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Safety Rule: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Any hallucinated diagnosis or treatment = 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0 points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in A &amp; P sections.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3" dur="indefinite" restart="never" nodeType="tmRoot">
          <p:childTnLst>
            <p:seq>
              <p:cTn id="134" dur="indefinite" nodeType="mainSeq">
                <p:childTnLst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34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SOAP — four sections, one structured note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388800" y="1460160"/>
            <a:ext cx="1919880" cy="255996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5"/>
          <p:cNvSpPr/>
          <p:nvPr/>
        </p:nvSpPr>
        <p:spPr>
          <a:xfrm>
            <a:off x="388800" y="1643040"/>
            <a:ext cx="1919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6"/>
          <p:cNvSpPr/>
          <p:nvPr/>
        </p:nvSpPr>
        <p:spPr>
          <a:xfrm>
            <a:off x="388800" y="28317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Subjective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7"/>
          <p:cNvSpPr/>
          <p:nvPr/>
        </p:nvSpPr>
        <p:spPr>
          <a:xfrm>
            <a:off x="388800" y="3243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Patient's own words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2537640" y="1460160"/>
            <a:ext cx="1919880" cy="255996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8"/>
          <p:cNvSpPr/>
          <p:nvPr/>
        </p:nvSpPr>
        <p:spPr>
          <a:xfrm>
            <a:off x="2537640" y="1643040"/>
            <a:ext cx="1919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O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9"/>
          <p:cNvSpPr/>
          <p:nvPr/>
        </p:nvSpPr>
        <p:spPr>
          <a:xfrm>
            <a:off x="2537640" y="28317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Objective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0"/>
          <p:cNvSpPr/>
          <p:nvPr/>
        </p:nvSpPr>
        <p:spPr>
          <a:xfrm>
            <a:off x="2537640" y="3243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Clinical observations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2"/>
          <p:cNvSpPr/>
          <p:nvPr/>
        </p:nvSpPr>
        <p:spPr>
          <a:xfrm>
            <a:off x="4686480" y="1460160"/>
            <a:ext cx="1919880" cy="255996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1"/>
          <p:cNvSpPr/>
          <p:nvPr/>
        </p:nvSpPr>
        <p:spPr>
          <a:xfrm>
            <a:off x="4686480" y="1643040"/>
            <a:ext cx="1919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A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2"/>
          <p:cNvSpPr/>
          <p:nvPr/>
        </p:nvSpPr>
        <p:spPr>
          <a:xfrm>
            <a:off x="4686480" y="28317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Assessment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3"/>
          <p:cNvSpPr/>
          <p:nvPr/>
        </p:nvSpPr>
        <p:spPr>
          <a:xfrm>
            <a:off x="4686480" y="3243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Diagnosis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4"/>
          <p:cNvSpPr/>
          <p:nvPr/>
        </p:nvSpPr>
        <p:spPr>
          <a:xfrm>
            <a:off x="6835320" y="1460160"/>
            <a:ext cx="1919880" cy="2559960"/>
          </a:xfrm>
          <a:prstGeom prst="roundRect">
            <a:avLst>
              <a:gd name="adj" fmla="val 7143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4"/>
          <p:cNvSpPr/>
          <p:nvPr/>
        </p:nvSpPr>
        <p:spPr>
          <a:xfrm>
            <a:off x="6835320" y="1643040"/>
            <a:ext cx="1919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P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5"/>
          <p:cNvSpPr/>
          <p:nvPr/>
        </p:nvSpPr>
        <p:spPr>
          <a:xfrm>
            <a:off x="6835320" y="28317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Plan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6"/>
          <p:cNvSpPr/>
          <p:nvPr/>
        </p:nvSpPr>
        <p:spPr>
          <a:xfrm>
            <a:off x="6835320" y="324324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Next steps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8"/>
          <p:cNvSpPr/>
          <p:nvPr/>
        </p:nvSpPr>
        <p:spPr>
          <a:xfrm>
            <a:off x="365760" y="4864680"/>
            <a:ext cx="6857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9"/>
          <p:cNvSpPr/>
          <p:nvPr/>
        </p:nvSpPr>
        <p:spPr>
          <a:xfrm>
            <a:off x="7772400" y="486468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20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83" dur="indefinite" restart="never" nodeType="tmRoot">
          <p:childTnLst>
            <p:seq>
              <p:cTn id="184" dur="indefinite" nodeType="mainSeq">
                <p:childTnLst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6949440" y="457200"/>
            <a:ext cx="2376360" cy="31896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457200" y="118872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Let's run it live</a:t>
            </a:r>
            <a:endParaRPr lang="de-DE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"/>
          <p:cNvSpPr/>
          <p:nvPr/>
        </p:nvSpPr>
        <p:spPr>
          <a:xfrm>
            <a:off x="4023360" y="2468880"/>
            <a:ext cx="1096200" cy="1096200"/>
          </a:xfrm>
          <a:prstGeom prst="ellipse">
            <a:avLst/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Shape 3"/>
          <p:cNvSpPr/>
          <p:nvPr/>
        </p:nvSpPr>
        <p:spPr>
          <a:xfrm rot="5400000">
            <a:off x="4337280" y="2715480"/>
            <a:ext cx="593280" cy="60336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457200" y="3931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Scenario: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Mind-change    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Pipeline: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AssemblyAI + GPT-4o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beats local — noise beats everyone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"/>
          <p:cNvSpPr/>
          <p:nvPr/>
        </p:nvSpPr>
        <p:spPr>
          <a:xfrm>
            <a:off x="5852160" y="1097280"/>
            <a:ext cx="2925000" cy="3016440"/>
          </a:xfrm>
          <a:prstGeom prst="roundRect">
            <a:avLst>
              <a:gd name="adj" fmla="val 4688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5989320" y="118872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Outlier scenario: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5989320" y="1463040"/>
            <a:ext cx="2650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White Noise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5989320" y="2011680"/>
            <a:ext cx="26506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33.2 %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Speechmatics: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30.6 %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Whisper-local: </a:t>
            </a: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41.0 %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5"/>
          <p:cNvSpPr/>
          <p:nvPr/>
        </p:nvSpPr>
        <p:spPr>
          <a:xfrm>
            <a:off x="5989320" y="3200400"/>
            <a:ext cx="2560320" cy="360"/>
          </a:xfrm>
          <a:prstGeom prst="line">
            <a:avLst/>
          </a:prstGeom>
          <a:ln w="12700">
            <a:solidFill>
              <a:srgbClr val="3A3D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5989320" y="3291840"/>
            <a:ext cx="2650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Microphone quality is the hard floor of AI performance.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Seminar · PwC 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10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echteck 156"/>
          <p:cNvSpPr/>
          <p:nvPr/>
        </p:nvSpPr>
        <p:spPr>
          <a:xfrm>
            <a:off x="412920" y="241056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Grafik 158"/>
          <p:cNvPicPr/>
          <p:nvPr/>
        </p:nvPicPr>
        <p:blipFill>
          <a:blip r:embed="rId1"/>
          <a:stretch/>
        </p:blipFill>
        <p:spPr>
          <a:xfrm>
            <a:off x="573480" y="251640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Rechteck 159"/>
          <p:cNvSpPr/>
          <p:nvPr/>
        </p:nvSpPr>
        <p:spPr>
          <a:xfrm>
            <a:off x="1001520" y="323028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3" name="Grafik 160"/>
          <p:cNvPicPr/>
          <p:nvPr/>
        </p:nvPicPr>
        <p:blipFill>
          <a:blip r:embed="rId2"/>
          <a:stretch/>
        </p:blipFill>
        <p:spPr>
          <a:xfrm>
            <a:off x="1162080" y="333612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74" name="Chart 0"/>
          <p:cNvGraphicFramePr/>
          <p:nvPr/>
        </p:nvGraphicFramePr>
        <p:xfrm>
          <a:off x="457560" y="1177200"/>
          <a:ext cx="5302800" cy="3016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5" name="Rechteck 1"/>
          <p:cNvSpPr/>
          <p:nvPr/>
        </p:nvSpPr>
        <p:spPr>
          <a:xfrm>
            <a:off x="784440" y="331092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6" name="Grafik 1"/>
          <p:cNvPicPr/>
          <p:nvPr/>
        </p:nvPicPr>
        <p:blipFill>
          <a:blip r:embed="rId4"/>
          <a:stretch/>
        </p:blipFill>
        <p:spPr>
          <a:xfrm>
            <a:off x="945000" y="341676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Rechteck 2"/>
          <p:cNvSpPr/>
          <p:nvPr/>
        </p:nvSpPr>
        <p:spPr>
          <a:xfrm>
            <a:off x="412920" y="241056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8" name="Grafik 2"/>
          <p:cNvPicPr/>
          <p:nvPr/>
        </p:nvPicPr>
        <p:blipFill>
          <a:blip r:embed="rId5"/>
          <a:stretch/>
        </p:blipFill>
        <p:spPr>
          <a:xfrm>
            <a:off x="573480" y="2516400"/>
            <a:ext cx="179280" cy="9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5" dur="indefinite" restart="never" nodeType="tmRoot">
          <p:childTnLst>
            <p:seq>
              <p:cTn id="226" dur="indefinite" nodeType="mainSeq">
                <p:childTnLst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Cloud listens — local rewrites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0" name="Chart 0"/>
          <p:cNvGraphicFramePr/>
          <p:nvPr/>
        </p:nvGraphicFramePr>
        <p:xfrm>
          <a:off x="457200" y="1097280"/>
          <a:ext cx="7771320" cy="3199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1" name="Text 1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11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hteck 165"/>
          <p:cNvSpPr/>
          <p:nvPr/>
        </p:nvSpPr>
        <p:spPr>
          <a:xfrm>
            <a:off x="468720" y="3497400"/>
            <a:ext cx="164736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           GPT-4o (avg)</a:t>
            </a:r>
            <a:endParaRPr lang="de-D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" name="Grafik 166"/>
          <p:cNvPicPr/>
          <p:nvPr/>
        </p:nvPicPr>
        <p:blipFill>
          <a:blip r:embed="rId2"/>
          <a:stretch/>
        </p:blipFill>
        <p:spPr>
          <a:xfrm>
            <a:off x="914760" y="3627360"/>
            <a:ext cx="179280" cy="997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85" name="Chart 0"/>
          <p:cNvGraphicFramePr/>
          <p:nvPr/>
        </p:nvGraphicFramePr>
        <p:xfrm>
          <a:off x="685800" y="1096920"/>
          <a:ext cx="7771680" cy="3199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6" name="Rechteck 3"/>
          <p:cNvSpPr/>
          <p:nvPr/>
        </p:nvSpPr>
        <p:spPr>
          <a:xfrm>
            <a:off x="691920" y="349920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Grafik 3"/>
          <p:cNvPicPr/>
          <p:nvPr/>
        </p:nvPicPr>
        <p:blipFill>
          <a:blip r:embed="rId4"/>
          <a:stretch/>
        </p:blipFill>
        <p:spPr>
          <a:xfrm>
            <a:off x="852480" y="3605040"/>
            <a:ext cx="179280" cy="9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Anamnese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Catastrophe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9" name="Chart 0"/>
          <p:cNvGraphicFramePr/>
          <p:nvPr/>
        </p:nvGraphicFramePr>
        <p:xfrm>
          <a:off x="457200" y="1188720"/>
          <a:ext cx="5485320" cy="2559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90" name="Text 1"/>
          <p:cNvSpPr/>
          <p:nvPr/>
        </p:nvSpPr>
        <p:spPr>
          <a:xfrm>
            <a:off x="6217920" y="1620000"/>
            <a:ext cx="255924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–93%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6217920" y="2717280"/>
            <a:ext cx="2559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content silently dropped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2205720" y="3955320"/>
            <a:ext cx="3639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SauerkrautLM 8B formatting step on a 19-min conversation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12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1" dur="indefinite" restart="never" nodeType="tmRoot">
          <p:childTnLst>
            <p:seq>
              <p:cTn id="242" dur="indefinite" nodeType="mainSeq">
                <p:childTnLst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el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in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ic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al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ly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pt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bl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q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u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al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it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y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5577840" y="1321560"/>
            <a:ext cx="3199320" cy="2284920"/>
          </a:xfrm>
          <a:prstGeom prst="roundRect">
            <a:avLst>
              <a:gd name="adj" fmla="val 6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 10"/>
          <p:cNvSpPr/>
          <p:nvPr/>
        </p:nvSpPr>
        <p:spPr>
          <a:xfrm>
            <a:off x="5715000" y="1394640"/>
            <a:ext cx="2925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Quality Distribution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8" name="Table 0"/>
          <p:cNvGraphicFramePr/>
          <p:nvPr/>
        </p:nvGraphicFramePr>
        <p:xfrm>
          <a:off x="5669280" y="1733040"/>
          <a:ext cx="3016080" cy="1791000"/>
        </p:xfrm>
        <a:graphic>
          <a:graphicData uri="http://schemas.openxmlformats.org/drawingml/2006/table">
            <a:tbl>
              <a:tblPr/>
              <a:tblGrid>
                <a:gridCol w="1400760"/>
                <a:gridCol w="538560"/>
                <a:gridCol w="538560"/>
                <a:gridCol w="538560"/>
              </a:tblGrid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Model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+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o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DejaVu Serif"/>
                        </a:rPr>
                        <a:t>-</a:t>
                      </a:r>
                      <a:endParaRPr lang="de-DE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solidFill>
                      <a:srgbClr val="D04A02"/>
                    </a:solidFill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GPT-4o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1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Gemma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5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6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Sauerkraut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4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7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  <a:tr h="358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Llama 3.2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0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2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E8E8E8"/>
                          </a:solidFill>
                          <a:effectLst/>
                          <a:uFillTx/>
                          <a:latin typeface="DejaVu Serif"/>
                          <a:ea typeface="DejaVu Serif"/>
                        </a:rPr>
                        <a:t>9</a:t>
                      </a:r>
                      <a:endParaRPr lang="de-DE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3A3D42"/>
                      </a:solidFill>
                      <a:prstDash val="solid"/>
                    </a:lnL>
                    <a:lnR w="6480">
                      <a:solidFill>
                        <a:srgbClr val="3A3D42"/>
                      </a:solidFill>
                      <a:prstDash val="solid"/>
                    </a:lnR>
                    <a:lnT w="6480">
                      <a:solidFill>
                        <a:srgbClr val="3A3D42"/>
                      </a:solidFill>
                      <a:prstDash val="solid"/>
                    </a:lnT>
                    <a:lnB w="6480">
                      <a:solidFill>
                        <a:srgbClr val="3A3D4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9" name="Text 13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Anam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nesis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Maste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Semin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PwC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chule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Hanno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ver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13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Rechteck 191"/>
          <p:cNvSpPr/>
          <p:nvPr/>
        </p:nvSpPr>
        <p:spPr>
          <a:xfrm>
            <a:off x="510840" y="145008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Chart 0"/>
          <p:cNvGraphicFramePr/>
          <p:nvPr/>
        </p:nvGraphicFramePr>
        <p:xfrm>
          <a:off x="360000" y="1229760"/>
          <a:ext cx="5079960" cy="2925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3" name="Shape 1"/>
          <p:cNvSpPr/>
          <p:nvPr/>
        </p:nvSpPr>
        <p:spPr>
          <a:xfrm>
            <a:off x="1078920" y="4288320"/>
            <a:ext cx="163800" cy="127440"/>
          </a:xfrm>
          <a:prstGeom prst="roundRect">
            <a:avLst>
              <a:gd name="adj" fmla="val 21429"/>
            </a:avLst>
          </a:prstGeom>
          <a:solidFill>
            <a:srgbClr val="D04A3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1280160" y="4260960"/>
            <a:ext cx="1188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0–3 not usable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"/>
          <p:cNvSpPr/>
          <p:nvPr/>
        </p:nvSpPr>
        <p:spPr>
          <a:xfrm>
            <a:off x="2541960" y="4288320"/>
            <a:ext cx="163800" cy="127440"/>
          </a:xfrm>
          <a:prstGeom prst="roundRect">
            <a:avLst>
              <a:gd name="adj" fmla="val 21429"/>
            </a:avLst>
          </a:prstGeom>
          <a:solidFill>
            <a:srgbClr val="D89614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2743200" y="426096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3–6 needs revision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4187880" y="4288320"/>
            <a:ext cx="163800" cy="127440"/>
          </a:xfrm>
          <a:prstGeom prst="roundRect">
            <a:avLst>
              <a:gd name="adj" fmla="val 21429"/>
            </a:avLst>
          </a:prstGeom>
          <a:solidFill>
            <a:srgbClr val="3DA07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389120" y="4260960"/>
            <a:ext cx="1188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6–8 acceptable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"/>
          <p:cNvSpPr/>
          <p:nvPr/>
        </p:nvSpPr>
        <p:spPr>
          <a:xfrm>
            <a:off x="4446720" y="1258200"/>
            <a:ext cx="0" cy="2671560"/>
          </a:xfrm>
          <a:prstGeom prst="line">
            <a:avLst/>
          </a:prstGeom>
          <a:ln w="25400">
            <a:solidFill>
              <a:srgbClr val="3DA07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hteck 5"/>
          <p:cNvSpPr/>
          <p:nvPr/>
        </p:nvSpPr>
        <p:spPr>
          <a:xfrm>
            <a:off x="317880" y="1451880"/>
            <a:ext cx="359280" cy="359280"/>
          </a:xfrm>
          <a:prstGeom prst="rect">
            <a:avLst/>
          </a:prstGeom>
          <a:solidFill>
            <a:srgbClr val="1A1A1A"/>
          </a:solidFill>
          <a:ln w="0">
            <a:solidFill>
              <a:srgbClr val="1A1A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Grafik 5"/>
          <p:cNvPicPr/>
          <p:nvPr/>
        </p:nvPicPr>
        <p:blipFill>
          <a:blip r:embed="rId2"/>
          <a:stretch/>
        </p:blipFill>
        <p:spPr>
          <a:xfrm>
            <a:off x="478440" y="1557720"/>
            <a:ext cx="179280" cy="9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9" dur="indefinite" restart="never" nodeType="tmRoot">
          <p:childTnLst>
            <p:seq>
              <p:cTn id="250" dur="indefinite" nodeType="mainSeq">
                <p:childTnLst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Technology assists —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but doesn't yet replace a clinician's pen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"/>
          <p:cNvSpPr/>
          <p:nvPr/>
        </p:nvSpPr>
        <p:spPr>
          <a:xfrm>
            <a:off x="457200" y="1188720"/>
            <a:ext cx="3930840" cy="2650680"/>
          </a:xfrm>
          <a:prstGeom prst="roundRect">
            <a:avLst>
              <a:gd name="adj" fmla="val 5172"/>
            </a:avLst>
          </a:prstGeom>
          <a:solidFill>
            <a:srgbClr val="3A251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 2"/>
          <p:cNvSpPr/>
          <p:nvPr/>
        </p:nvSpPr>
        <p:spPr>
          <a:xfrm>
            <a:off x="640080" y="132588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Winners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40080" y="1645920"/>
            <a:ext cx="35650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 &amp; GPT-4o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4"/>
          <p:cNvSpPr/>
          <p:nvPr/>
        </p:nvSpPr>
        <p:spPr>
          <a:xfrm>
            <a:off x="640080" y="224028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Low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est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WE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(8.9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40080" y="260604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Lowest hallucination rate (0.0 %)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640080" y="297180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+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Best SOAP score (4.5 / 8)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7"/>
          <p:cNvSpPr/>
          <p:nvPr/>
        </p:nvSpPr>
        <p:spPr>
          <a:xfrm>
            <a:off x="4754880" y="1188720"/>
            <a:ext cx="3930840" cy="2650680"/>
          </a:xfrm>
          <a:prstGeom prst="roundRect">
            <a:avLst>
              <a:gd name="adj" fmla="val 5172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4937760" y="132588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But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9"/>
          <p:cNvSpPr/>
          <p:nvPr/>
        </p:nvSpPr>
        <p:spPr>
          <a:xfrm>
            <a:off x="4937760" y="1645920"/>
            <a:ext cx="35650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Sti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ll 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 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cli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nic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all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y 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us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abl</a:t>
            </a: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0"/>
          <p:cNvSpPr/>
          <p:nvPr/>
        </p:nvSpPr>
        <p:spPr>
          <a:xfrm>
            <a:off x="4937760" y="224028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Zer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run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rea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che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'acc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ept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able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'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1"/>
          <p:cNvSpPr/>
          <p:nvPr/>
        </p:nvSpPr>
        <p:spPr>
          <a:xfrm>
            <a:off x="4937760" y="260604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Pla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sect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ion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ave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rag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ed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0.1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/ 2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2"/>
          <p:cNvSpPr/>
          <p:nvPr/>
        </p:nvSpPr>
        <p:spPr>
          <a:xfrm>
            <a:off x="4937760" y="297180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-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 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Perf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orm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anc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coll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aps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es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wit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bad 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aud</a:t>
            </a: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io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4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14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3" dur="indefinite" restart="never" nodeType="tmRoot">
          <p:childTnLst>
            <p:seq>
              <p:cTn id="264" dur="indefinite" nodeType="mainSeq">
                <p:childTnLst>
                  <p:par>
                    <p:cTn id="265" fill="hold">
                      <p:stCondLst>
                        <p:cond delay="indefinite"/>
                      </p:stCondLst>
                      <p:childTnLst>
                        <p:par>
                          <p:cTn id="266" fill="hold">
                            <p:stCondLst>
                              <p:cond delay="0"/>
                            </p:stCondLst>
                            <p:childTnLst>
                              <p:par>
                                <p:cTn id="26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What we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deliberately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left out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"/>
          <p:cNvSpPr/>
          <p:nvPr/>
        </p:nvSpPr>
        <p:spPr>
          <a:xfrm>
            <a:off x="41148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2"/>
          <p:cNvSpPr/>
          <p:nvPr/>
        </p:nvSpPr>
        <p:spPr>
          <a:xfrm>
            <a:off x="411480" y="1280160"/>
            <a:ext cx="72000" cy="255924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640080" y="1463040"/>
            <a:ext cx="5475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⏱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640080" y="201168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real-time mode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640080" y="2514600"/>
            <a:ext cx="2284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Batch over streaming — to isolate model quality from latency engineering.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324612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3246120" y="1280160"/>
            <a:ext cx="72000" cy="255924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3474720" y="1463040"/>
            <a:ext cx="5475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🔄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9"/>
          <p:cNvSpPr/>
          <p:nvPr/>
        </p:nvSpPr>
        <p:spPr>
          <a:xfrm>
            <a:off x="3474720" y="201168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No prompt iteration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0"/>
          <p:cNvSpPr/>
          <p:nvPr/>
        </p:nvSpPr>
        <p:spPr>
          <a:xfrm>
            <a:off x="3474720" y="2514600"/>
            <a:ext cx="2284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Same prompt for all models. The Plan section is highly prompt-sensitive.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6080760" y="1280160"/>
            <a:ext cx="2650680" cy="2559240"/>
          </a:xfrm>
          <a:prstGeom prst="roundRect">
            <a:avLst>
              <a:gd name="adj" fmla="val 5357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6080760" y="1280160"/>
            <a:ext cx="72000" cy="255924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 13"/>
          <p:cNvSpPr/>
          <p:nvPr/>
        </p:nvSpPr>
        <p:spPr>
          <a:xfrm>
            <a:off x="6309360" y="1463040"/>
            <a:ext cx="5475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🇩🇪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6309360" y="2011680"/>
            <a:ext cx="2284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German only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5"/>
          <p:cNvSpPr/>
          <p:nvPr/>
        </p:nvSpPr>
        <p:spPr>
          <a:xfrm>
            <a:off x="6309360" y="2514600"/>
            <a:ext cx="2284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All scenarios in German. Generalization to other languages untested.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6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15 /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9" dur="indefinite" restart="never" nodeType="tmRoot">
          <p:childTnLst>
            <p:seq>
              <p:cTn id="280" dur="indefinite" nodeType="mainSeq">
                <p:childTnLst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5" fill="hold">
                      <p:stCondLst>
                        <p:cond delay="indefinite"/>
                      </p:stCondLst>
                      <p:childTnLst>
                        <p:par>
                          <p:cTn id="306" fill="hold">
                            <p:stCondLst>
                              <p:cond delay="0"/>
                            </p:stCondLst>
                            <p:childTnLst>
                              <p:par>
                                <p:cTn id="30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best model and the safe model aren't the same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"/>
          <p:cNvSpPr/>
          <p:nvPr/>
        </p:nvSpPr>
        <p:spPr>
          <a:xfrm>
            <a:off x="1097280" y="4389120"/>
            <a:ext cx="4572000" cy="360"/>
          </a:xfrm>
          <a:prstGeom prst="line">
            <a:avLst/>
          </a:prstGeom>
          <a:ln w="190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2"/>
          <p:cNvSpPr/>
          <p:nvPr/>
        </p:nvSpPr>
        <p:spPr>
          <a:xfrm>
            <a:off x="1097280" y="1188720"/>
            <a:ext cx="360" cy="3200400"/>
          </a:xfrm>
          <a:prstGeom prst="line">
            <a:avLst/>
          </a:prstGeom>
          <a:ln w="19050">
            <a:solidFill>
              <a:srgbClr val="E8E8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Shape 3"/>
          <p:cNvSpPr/>
          <p:nvPr/>
        </p:nvSpPr>
        <p:spPr>
          <a:xfrm>
            <a:off x="3383280" y="1188720"/>
            <a:ext cx="360" cy="3200400"/>
          </a:xfrm>
          <a:prstGeom prst="line">
            <a:avLst/>
          </a:prstGeom>
          <a:ln w="635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1097280" y="2788920"/>
            <a:ext cx="4572000" cy="360"/>
          </a:xfrm>
          <a:prstGeom prst="line">
            <a:avLst/>
          </a:prstGeom>
          <a:ln w="6350">
            <a:solidFill>
              <a:srgbClr val="3A3D42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1097280" y="453096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SOAP Quality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 rot="16200000">
            <a:off x="423720" y="235512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Data sovereignty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960120" y="4407480"/>
            <a:ext cx="273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0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3246120" y="4407480"/>
            <a:ext cx="273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4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5532120" y="4407480"/>
            <a:ext cx="273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8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2160360" y="1097640"/>
            <a:ext cx="273240" cy="27324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 11"/>
          <p:cNvSpPr/>
          <p:nvPr/>
        </p:nvSpPr>
        <p:spPr>
          <a:xfrm>
            <a:off x="1320120" y="1344240"/>
            <a:ext cx="13705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Llama 3.2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2"/>
          <p:cNvSpPr/>
          <p:nvPr/>
        </p:nvSpPr>
        <p:spPr>
          <a:xfrm>
            <a:off x="2783160" y="1097640"/>
            <a:ext cx="273240" cy="27324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 13"/>
          <p:cNvSpPr/>
          <p:nvPr/>
        </p:nvSpPr>
        <p:spPr>
          <a:xfrm>
            <a:off x="2046240" y="891720"/>
            <a:ext cx="13705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Sauerkraut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4"/>
          <p:cNvSpPr/>
          <p:nvPr/>
        </p:nvSpPr>
        <p:spPr>
          <a:xfrm>
            <a:off x="2886840" y="1097640"/>
            <a:ext cx="273240" cy="273240"/>
          </a:xfrm>
          <a:prstGeom prst="ellipse">
            <a:avLst/>
          </a:prstGeom>
          <a:solidFill>
            <a:srgbClr val="3DA070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2560680" y="1363680"/>
            <a:ext cx="13705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DA070"/>
                </a:solidFill>
                <a:effectLst/>
                <a:uFillTx/>
                <a:latin typeface="DejaVu Serif"/>
                <a:ea typeface="DejaVu Serif"/>
              </a:rPr>
              <a:t>Gemma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6"/>
          <p:cNvSpPr/>
          <p:nvPr/>
        </p:nvSpPr>
        <p:spPr>
          <a:xfrm>
            <a:off x="3531960" y="2651760"/>
            <a:ext cx="273240" cy="273240"/>
          </a:xfrm>
          <a:prstGeom prst="ellipse">
            <a:avLst/>
          </a:prstGeom>
          <a:solidFill>
            <a:srgbClr val="D89614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17"/>
          <p:cNvSpPr/>
          <p:nvPr/>
        </p:nvSpPr>
        <p:spPr>
          <a:xfrm>
            <a:off x="3257640" y="2468880"/>
            <a:ext cx="13705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9614"/>
                </a:solidFill>
                <a:effectLst/>
                <a:uFillTx/>
                <a:latin typeface="DejaVu Serif"/>
                <a:ea typeface="DejaVu Serif"/>
              </a:rPr>
              <a:t>Speechmatics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8"/>
          <p:cNvSpPr/>
          <p:nvPr/>
        </p:nvSpPr>
        <p:spPr>
          <a:xfrm>
            <a:off x="3417480" y="3996000"/>
            <a:ext cx="273240" cy="273240"/>
          </a:xfrm>
          <a:prstGeom prst="ellipse">
            <a:avLst/>
          </a:prstGeom>
          <a:solidFill>
            <a:srgbClr val="D04A3A"/>
          </a:solidFill>
          <a:ln w="190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3143160" y="3813120"/>
            <a:ext cx="13705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04A3A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1"/>
          <p:cNvSpPr/>
          <p:nvPr/>
        </p:nvSpPr>
        <p:spPr>
          <a:xfrm>
            <a:off x="4628880" y="1271520"/>
            <a:ext cx="12790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Where we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lt1"/>
                </a:solidFill>
                <a:effectLst/>
                <a:uFillTx/>
                <a:latin typeface="DejaVu Serif"/>
                <a:ea typeface="DejaVu Serif"/>
              </a:rPr>
              <a:t>want to be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3"/>
          <p:cNvSpPr/>
          <p:nvPr/>
        </p:nvSpPr>
        <p:spPr>
          <a:xfrm>
            <a:off x="6492600" y="2171880"/>
            <a:ext cx="181800" cy="181800"/>
          </a:xfrm>
          <a:prstGeom prst="ellipse">
            <a:avLst/>
          </a:prstGeom>
          <a:solidFill>
            <a:srgbClr val="3DA070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 24"/>
          <p:cNvSpPr/>
          <p:nvPr/>
        </p:nvSpPr>
        <p:spPr>
          <a:xfrm>
            <a:off x="6766920" y="212616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Local models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5"/>
          <p:cNvSpPr/>
          <p:nvPr/>
        </p:nvSpPr>
        <p:spPr>
          <a:xfrm>
            <a:off x="6766920" y="235476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fully on-premise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26"/>
          <p:cNvSpPr/>
          <p:nvPr/>
        </p:nvSpPr>
        <p:spPr>
          <a:xfrm>
            <a:off x="6492600" y="2674800"/>
            <a:ext cx="181800" cy="181800"/>
          </a:xfrm>
          <a:prstGeom prst="ellipse">
            <a:avLst/>
          </a:prstGeom>
          <a:solidFill>
            <a:srgbClr val="D89614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 27"/>
          <p:cNvSpPr/>
          <p:nvPr/>
        </p:nvSpPr>
        <p:spPr>
          <a:xfrm>
            <a:off x="6766920" y="262908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Sp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ee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ch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m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ati</a:t>
            </a: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cs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8"/>
          <p:cNvSpPr/>
          <p:nvPr/>
        </p:nvSpPr>
        <p:spPr>
          <a:xfrm>
            <a:off x="6766920" y="285768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STT in EU, LLM in US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9"/>
          <p:cNvSpPr/>
          <p:nvPr/>
        </p:nvSpPr>
        <p:spPr>
          <a:xfrm>
            <a:off x="6492600" y="3177720"/>
            <a:ext cx="181800" cy="181800"/>
          </a:xfrm>
          <a:prstGeom prst="ellipse">
            <a:avLst/>
          </a:prstGeom>
          <a:solidFill>
            <a:srgbClr val="D04A3A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30"/>
          <p:cNvSpPr/>
          <p:nvPr/>
        </p:nvSpPr>
        <p:spPr>
          <a:xfrm>
            <a:off x="6766920" y="313200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Assembly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31"/>
          <p:cNvSpPr/>
          <p:nvPr/>
        </p:nvSpPr>
        <p:spPr>
          <a:xfrm>
            <a:off x="6766920" y="336060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A95A0"/>
                </a:solidFill>
                <a:effectLst/>
                <a:uFillTx/>
                <a:latin typeface="DejaVu Serif"/>
                <a:ea typeface="DejaVu Serif"/>
              </a:rPr>
              <a:t>fully US-hosted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2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3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16 /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17" dur="indefinite" restart="never" nodeType="tmRoot">
          <p:childTnLst>
            <p:seq>
              <p:cTn id="318" dur="indefinite" nodeType="mainSeq">
                <p:childTnLst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Three concrete next steps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1188720"/>
            <a:ext cx="821880" cy="91332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457200" y="1188720"/>
            <a:ext cx="8218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01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3"/>
          <p:cNvSpPr/>
          <p:nvPr/>
        </p:nvSpPr>
        <p:spPr>
          <a:xfrm>
            <a:off x="1371600" y="1188720"/>
            <a:ext cx="7314120" cy="91332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 4"/>
          <p:cNvSpPr/>
          <p:nvPr/>
        </p:nvSpPr>
        <p:spPr>
          <a:xfrm>
            <a:off x="1554480" y="1280160"/>
            <a:ext cx="6948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Scale up the local stack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1554480" y="1691640"/>
            <a:ext cx="6948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Close the cloud-vs-local quality gap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6"/>
          <p:cNvSpPr/>
          <p:nvPr/>
        </p:nvSpPr>
        <p:spPr>
          <a:xfrm>
            <a:off x="457200" y="2331720"/>
            <a:ext cx="821880" cy="91332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 7"/>
          <p:cNvSpPr/>
          <p:nvPr/>
        </p:nvSpPr>
        <p:spPr>
          <a:xfrm>
            <a:off x="457200" y="2331720"/>
            <a:ext cx="8218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02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8"/>
          <p:cNvSpPr/>
          <p:nvPr/>
        </p:nvSpPr>
        <p:spPr>
          <a:xfrm>
            <a:off x="1371600" y="2331720"/>
            <a:ext cx="7314120" cy="91332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 9"/>
          <p:cNvSpPr/>
          <p:nvPr/>
        </p:nvSpPr>
        <p:spPr>
          <a:xfrm>
            <a:off x="1554480" y="2423160"/>
            <a:ext cx="6948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Prompt engineering for the Plan section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0"/>
          <p:cNvSpPr/>
          <p:nvPr/>
        </p:nvSpPr>
        <p:spPr>
          <a:xfrm>
            <a:off x="1554480" y="2834640"/>
            <a:ext cx="6948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Lift average P-score from 0.1 to 1.0+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1"/>
          <p:cNvSpPr/>
          <p:nvPr/>
        </p:nvSpPr>
        <p:spPr>
          <a:xfrm>
            <a:off x="457200" y="3474720"/>
            <a:ext cx="821880" cy="913320"/>
          </a:xfrm>
          <a:prstGeom prst="roundRect">
            <a:avLst>
              <a:gd name="adj" fmla="val 16667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 12"/>
          <p:cNvSpPr/>
          <p:nvPr/>
        </p:nvSpPr>
        <p:spPr>
          <a:xfrm>
            <a:off x="457200" y="3474720"/>
            <a:ext cx="8218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03</a:t>
            </a:r>
            <a:endParaRPr lang="de-D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3"/>
          <p:cNvSpPr/>
          <p:nvPr/>
        </p:nvSpPr>
        <p:spPr>
          <a:xfrm>
            <a:off x="1371600" y="3474720"/>
            <a:ext cx="7314120" cy="913320"/>
          </a:xfrm>
          <a:prstGeom prst="roundRect">
            <a:avLst>
              <a:gd name="adj" fmla="val 15000"/>
            </a:avLst>
          </a:prstGeom>
          <a:solidFill>
            <a:srgbClr val="2A2D3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 14"/>
          <p:cNvSpPr/>
          <p:nvPr/>
        </p:nvSpPr>
        <p:spPr>
          <a:xfrm>
            <a:off x="1554480" y="3566160"/>
            <a:ext cx="6948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Real-time streaming UX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5"/>
          <p:cNvSpPr/>
          <p:nvPr/>
        </p:nvSpPr>
        <p:spPr>
          <a:xfrm>
            <a:off x="1554480" y="3977640"/>
            <a:ext cx="6948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Expected: Draft note ready before patient leaves the room</a:t>
            </a:r>
            <a:endParaRPr lang="de-D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6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7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17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63" dur="indefinite" restart="never" nodeType="tmRoot">
          <p:childTnLst>
            <p:seq>
              <p:cTn id="364" dur="indefinite" nodeType="mainSeq">
                <p:childTnLst>
                  <p:par>
                    <p:cTn id="365" fill="hold">
                      <p:stCondLst>
                        <p:cond delay="indefinite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7" fill="hold">
                      <p:stCondLst>
                        <p:cond delay="indefinite"/>
                      </p:stCondLst>
                      <p:childTnLst>
                        <p:par>
                          <p:cTn id="378" fill="hold">
                            <p:stCondLst>
                              <p:cond delay="0"/>
                            </p:stCondLst>
                            <p:childTnLst>
                              <p:par>
                                <p:cTn id="37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9" fill="hold">
                      <p:stCondLst>
                        <p:cond delay="indefinite"/>
                      </p:stCondLst>
                      <p:childTnLst>
                        <p:par>
                          <p:cTn id="390" fill="hold">
                            <p:stCondLst>
                              <p:cond delay="0"/>
                            </p:stCondLst>
                            <p:childTnLst>
                              <p:par>
                                <p:cTn id="39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457200" y="2743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If you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remember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only three </a:t>
            </a:r>
            <a:r>
              <a:rPr lang="en-US" sz="2400" b="1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things...</a:t>
            </a:r>
            <a:endParaRPr lang="de-D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365760" y="118872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1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1371600" y="118872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The pipeline works — but the Plan section is where every model still hallucinates.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3"/>
          <p:cNvSpPr/>
          <p:nvPr/>
        </p:nvSpPr>
        <p:spPr>
          <a:xfrm>
            <a:off x="365760" y="228600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2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"/>
          <p:cNvSpPr/>
          <p:nvPr/>
        </p:nvSpPr>
        <p:spPr>
          <a:xfrm>
            <a:off x="1371600" y="228600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Hardware and model size dominate — the cloud gap will close as local models grow.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365760" y="338328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3</a:t>
            </a:r>
            <a:endParaRPr lang="de-DE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1371600" y="3383280"/>
            <a:ext cx="731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8E8"/>
                </a:solidFill>
                <a:effectLst/>
                <a:uFillTx/>
                <a:latin typeface="DejaVu Serif"/>
                <a:ea typeface="DejaVu Serif"/>
              </a:rPr>
              <a:t>AI today assists medical documentation. It does not yet replace it.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8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Anam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nesis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Maste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r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Semin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PwC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chule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Hanno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ver ·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18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01" dur="indefinite" restart="never" nodeType="tmRoot">
          <p:childTnLst>
            <p:seq>
              <p:cTn id="402" dur="indefinite" nodeType="mainSeq">
                <p:childTnLst>
                  <p:par>
                    <p:cTn id="403" fill="hold">
                      <p:stCondLst>
                        <p:cond delay="indefinite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id="40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9" fill="hold">
                      <p:stCondLst>
                        <p:cond delay="indefinite"/>
                      </p:stCondLst>
                      <p:childTnLst>
                        <p:par>
                          <p:cTn id="410" fill="hold">
                            <p:stCondLst>
                              <p:cond delay="0"/>
                            </p:stCondLst>
                            <p:childTnLst>
                              <p:par>
                                <p:cTn id="4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0"/>
          <p:cNvSpPr/>
          <p:nvPr/>
        </p:nvSpPr>
        <p:spPr>
          <a:xfrm>
            <a:off x="6400800" y="548640"/>
            <a:ext cx="2376360" cy="318960"/>
          </a:xfrm>
          <a:prstGeom prst="parallelogram">
            <a:avLst>
              <a:gd name="adj" fmla="val 25000"/>
            </a:avLst>
          </a:prstGeom>
          <a:solidFill>
            <a:srgbClr val="D04A02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5" name="Shape 1"/>
          <p:cNvSpPr/>
          <p:nvPr/>
        </p:nvSpPr>
        <p:spPr>
          <a:xfrm>
            <a:off x="6583680" y="1005840"/>
            <a:ext cx="2193480" cy="254880"/>
          </a:xfrm>
          <a:prstGeom prst="parallelogram">
            <a:avLst>
              <a:gd name="adj" fmla="val 25000"/>
            </a:avLst>
          </a:prstGeom>
          <a:solidFill>
            <a:srgbClr val="D04A02">
              <a:alpha val="5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457200" y="1645920"/>
            <a:ext cx="8228520" cy="16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Quest</a:t>
            </a:r>
            <a:r>
              <a:rPr lang="en-US" sz="7200" b="0" u="none" strike="noStrike">
                <a:solidFill>
                  <a:srgbClr val="FFFFFF"/>
                </a:solidFill>
                <a:effectLst/>
                <a:uFillTx/>
                <a:latin typeface="DejaVu Serif"/>
                <a:ea typeface="DejaVu Serif"/>
              </a:rPr>
              <a:t>ions?</a:t>
            </a:r>
            <a:endParaRPr lang="de-DE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457200" y="3749040"/>
            <a:ext cx="8228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04A02"/>
                </a:solidFill>
                <a:effectLst/>
                <a:uFillTx/>
                <a:latin typeface="DejaVu Serif"/>
                <a:ea typeface="DejaVu Serif"/>
              </a:rPr>
              <a:t>Thank you.</a:t>
            </a:r>
            <a:endParaRPr lang="de-D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365760" y="48646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AI-Anamnesis · Master Seminar · PwC × </a:t>
            </a: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Hochschule Hannover · 2026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7772400" y="4864680"/>
            <a:ext cx="1004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5A6570"/>
                </a:solidFill>
                <a:effectLst/>
                <a:uFillTx/>
                <a:latin typeface="DejaVu Serif"/>
                <a:ea typeface="DejaVu Serif"/>
              </a:rPr>
              <a:t>19 / 19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Application>LibreOffice/26.2.1.2$Linux_X86_64 LibreOffice_project/620$Build-2</Application>
  <AppVersion>15.0000</AppVersion>
  <Words>982</Words>
  <Paragraphs>254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2026-05-15T07:25:02Z</dcterms:created>
  <dc:creator>Anton Reinhard &amp; Leonard Niedens</dc:creator>
  <dc:description/>
  <dc:language>de-DE</dc:language>
  <cp:lastModifiedBy/>
  <dcterms:modified xsi:type="dcterms:W3CDTF">2026-05-15T16:19:35Z</dcterms:modified>
  <cp:revision>14</cp:revision>
  <dc:subject>PptxGenJS Presentation</dc:subject>
  <dc:title>AI-Anamnesis of Patients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0x01010009ABEE73BF99044B8E88242258EF819B</vt:lpwstr>
  </property>
  <property fmtid="{D5CDD505-2E9C-101B-9397-08002B2CF9AE}" pid="3" name="Notes">
    <vt:i4>19</vt:i4>
  </property>
  <property fmtid="{D5CDD505-2E9C-101B-9397-08002B2CF9AE}" pid="4" name="PresentationFormat">
    <vt:lpwstr>Bildschirmpräsentation (16:9)</vt:lpwstr>
  </property>
  <property fmtid="{D5CDD505-2E9C-101B-9397-08002B2CF9AE}" pid="5" name="Slides">
    <vt:i4>19</vt:i4>
  </property>
</Properties>
</file>