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5.xml" ContentType="application/vnd.openxmlformats-officedocument.drawingml.chart+xml"/>
  <Override PartName="/ppt/charts/colors5.xml" ContentType="application/vnd.ms-office.chartcolorstyle+xml"/>
  <Override PartName="/ppt/charts/style5.xml" ContentType="application/vnd.ms-office.chartstyle+xml"/>
  <Override PartName="/ppt/charts/colors3.xml" ContentType="application/vnd.ms-office.chartcolorstyle+xml"/>
  <Override PartName="/ppt/charts/style1.xml" ContentType="application/vnd.ms-office.chartstyle+xml"/>
  <Override PartName="/ppt/charts/chart1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3.xml" ContentType="application/vnd.openxmlformats-officedocument.drawingml.chart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3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4.xml" ContentType="application/vnd.openxmlformats-officedocument.drawingml.char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_rels/chart3.xml.rels><?xml version="1.0" encoding="UTF-8"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
</Relationships>
</file>

<file path=ppt/charts/_rels/chart4.xml.rels><?xml version="1.0" encoding="UTF-8"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
</Relationships>
</file>

<file path=ppt/charts/_rels/chart5.xml.rels><?xml version="1.0" encoding="UTF-8"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WER (%)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\%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☁ Assembly</c:v>
                </c:pt>
                <c:pt idx="1">
                  <c:v>☁ Speechmatics</c:v>
                </c:pt>
                <c:pt idx="2">
                  <c:v>▣ Whisper (avg)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8.9</c:v>
                </c:pt>
                <c:pt idx="1">
                  <c:v>11.4</c:v>
                </c:pt>
                <c:pt idx="2">
                  <c:v>13.5</c:v>
                </c:pt>
              </c:numCache>
            </c:numRef>
          </c:val>
        </c:ser>
        <c:gapWidth val="60"/>
        <c:overlap val="0"/>
        <c:axId val="3952415"/>
        <c:axId val="90607020"/>
      </c:barChart>
      <c:catAx>
        <c:axId val="395241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90607020"/>
        <c:crosses val="autoZero"/>
        <c:auto val="1"/>
        <c:lblAlgn val="ctr"/>
        <c:lblOffset val="100"/>
        <c:noMultiLvlLbl val="0"/>
      </c:catAx>
      <c:valAx>
        <c:axId val="90607020"/>
        <c:scaling>
          <c:orientation val="minMax"/>
          <c:max val="16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3952415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Avg LLM error rate (%)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\%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☁ GPT-4o (cloud avg)</c:v>
                </c:pt>
                <c:pt idx="1">
                  <c:v>▣ Gemma</c:v>
                </c:pt>
                <c:pt idx="2">
                  <c:v>▣ Llama 3.2</c:v>
                </c:pt>
                <c:pt idx="3">
                  <c:v>▣ Sauerkraut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</c:v>
                </c:pt>
                <c:pt idx="1">
                  <c:v>13.3</c:v>
                </c:pt>
                <c:pt idx="2">
                  <c:v>15.1</c:v>
                </c:pt>
                <c:pt idx="3">
                  <c:v>19.7</c:v>
                </c:pt>
              </c:numCache>
            </c:numRef>
          </c:val>
        </c:ser>
        <c:gapWidth val="60"/>
        <c:overlap val="0"/>
        <c:axId val="47478533"/>
        <c:axId val="92684582"/>
      </c:barChart>
      <c:catAx>
        <c:axId val="4747853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92684582"/>
        <c:crosses val="autoZero"/>
        <c:auto val="1"/>
        <c:lblAlgn val="ctr"/>
        <c:lblOffset val="100"/>
        <c:noMultiLvlLbl val="0"/>
      </c:catAx>
      <c:valAx>
        <c:axId val="92684582"/>
        <c:scaling>
          <c:orientation val="minMax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47478533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Avg LLM error rate (%)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\%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☁ GPT-4o (avg)</c:v>
                </c:pt>
                <c:pt idx="1">
                  <c:v>▣ Gemma</c:v>
                </c:pt>
                <c:pt idx="2">
                  <c:v>▣ Llama 3.2</c:v>
                </c:pt>
                <c:pt idx="3">
                  <c:v>▣ Sauerkraut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</c:v>
                </c:pt>
                <c:pt idx="1">
                  <c:v>13.3</c:v>
                </c:pt>
                <c:pt idx="2">
                  <c:v>15.1</c:v>
                </c:pt>
                <c:pt idx="3">
                  <c:v>19.7</c:v>
                </c:pt>
              </c:numCache>
            </c:numRef>
          </c:val>
        </c:ser>
        <c:gapWidth val="60"/>
        <c:overlap val="0"/>
        <c:axId val="42573150"/>
        <c:axId val="76167877"/>
      </c:barChart>
      <c:catAx>
        <c:axId val="4257315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76167877"/>
        <c:crosses val="autoZero"/>
        <c:auto val="1"/>
        <c:lblAlgn val="ctr"/>
        <c:lblOffset val="100"/>
        <c:noMultiLvlLbl val="0"/>
      </c:catAx>
      <c:valAx>
        <c:axId val="76167877"/>
        <c:scaling>
          <c:orientation val="minMax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42573150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Word count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#,##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#,##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#,##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"/>
                <c:pt idx="0">
                  <c:v>After SauerkrautLM</c:v>
                </c:pt>
                <c:pt idx="1">
                  <c:v>Ground Truth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"/>
                <c:pt idx="0">
                  <c:v>152</c:v>
                </c:pt>
                <c:pt idx="1">
                  <c:v>2269</c:v>
                </c:pt>
              </c:numCache>
            </c:numRef>
          </c:val>
        </c:ser>
        <c:gapWidth val="60"/>
        <c:overlap val="0"/>
        <c:axId val="33030907"/>
        <c:axId val="17455257"/>
      </c:barChart>
      <c:catAx>
        <c:axId val="3303090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17455257"/>
        <c:crosses val="autoZero"/>
        <c:auto val="1"/>
        <c:lblAlgn val="ctr"/>
        <c:lblOffset val="100"/>
        <c:noMultiLvlLbl val="0"/>
      </c:catAx>
      <c:valAx>
        <c:axId val="17455257"/>
        <c:scaling>
          <c:orientation val="minMax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33030907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Ø SOAP Score</c:v>
                </c:pt>
              </c:strCache>
            </c:strRef>
          </c:tx>
          <c:spPr>
            <a:solidFill>
              <a:srgbClr val="D04A3A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3A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D89614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D89614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D89614"/>
              </a:solidFill>
              <a:ln w="0">
                <a:noFill/>
              </a:ln>
            </c:spPr>
          </c:dPt>
          <c:dLbls>
            <c:dLbl>
              <c:idx val="0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▣ Llama 3.2</c:v>
                </c:pt>
                <c:pt idx="1">
                  <c:v>▣ Sauerkraut</c:v>
                </c:pt>
                <c:pt idx="2">
                  <c:v>▣ Gemma</c:v>
                </c:pt>
                <c:pt idx="3">
                  <c:v>☁ GPT-4o (avg)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2.1</c:v>
                </c:pt>
                <c:pt idx="1">
                  <c:v>3.2</c:v>
                </c:pt>
                <c:pt idx="2">
                  <c:v>3.4</c:v>
                </c:pt>
                <c:pt idx="3">
                  <c:v>4.4</c:v>
                </c:pt>
              </c:numCache>
            </c:numRef>
          </c:val>
        </c:ser>
        <c:gapWidth val="60"/>
        <c:overlap val="0"/>
        <c:axId val="67994286"/>
        <c:axId val="78578329"/>
      </c:barChart>
      <c:catAx>
        <c:axId val="6799428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78578329"/>
        <c:crosses val="autoZero"/>
        <c:auto val="1"/>
        <c:lblAlgn val="ctr"/>
        <c:lblOffset val="100"/>
        <c:noMultiLvlLbl val="0"/>
      </c:catAx>
      <c:valAx>
        <c:axId val="78578329"/>
        <c:scaling>
          <c:orientation val="minMax"/>
          <c:max val="8"/>
          <c:min val="0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67994286"/>
        <c:crosses val="autoZero"/>
        <c:crossBetween val="between"/>
        <c:majorUnit val="2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5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</a:t>
            </a: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mittels </a:t>
            </a: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Klicken </a:t>
            </a: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verschieb</a:t>
            </a: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618805B-434A-42CA-9098-641C583E32B3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71A0581-B2AB-4AA7-829A-1153A5F8E29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180000" y="180000"/>
            <a:ext cx="3000600" cy="11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das sind meine notizer.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Nächste zeile.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HALLOO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61A8DB6-5B9E-49FA-AF1E-0E2606D688B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64437BB-11B7-41CF-9DEF-C1BA01E6D02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E1C514F-6F4B-4DA0-AE4B-17F9FCF11E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811F64E-42C2-41F2-81A3-DB40A82AF5B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75714E6-9090-44E9-8073-AF3EA087B3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59CE964-9677-4CBF-9034-4F7C62A309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39E7AD2-DC30-4209-98C3-B231ADD3C83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2EB95B-4AE5-43CA-9603-25844D2B39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D99F652-9FFF-47CB-8E49-804327C2F90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B82FCD9-C3B7-4788-9B56-1ECBB5A513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27229E2-A870-4BE2-90CE-8141CAEDC56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C10DC19-CA6E-4D25-AEC6-494D6EBFF7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3A75416-88C7-4C5E-9517-572002694F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DA05569-22F6-4E08-AA5D-0E61B55347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D3368A3-878B-489E-BA9B-45F5B2222AE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E556933-090D-43AB-B4AE-F79A3C3C025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678CBD2-0F30-409B-A1A5-05B55BB1068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1CB7956-258F-43E1-BD36-7E443358890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A5B918D-AD16-4F6B-98AF-9D6E208B16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</a:t>
            </a: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 </a:t>
            </a: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Titeltextes </a:t>
            </a: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durch </a:t>
            </a: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Klicken </a:t>
            </a: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bearbeite</a:t>
            </a: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image" Target="../media/image5.png"/><Relationship Id="rId4" Type="http://schemas.openxmlformats.org/officeDocument/2006/relationships/image" Target="../media/image5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chart" Target="../charts/chart1.xml"/><Relationship Id="rId4" Type="http://schemas.openxmlformats.org/officeDocument/2006/relationships/image" Target="../media/image5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5.png"/><Relationship Id="rId3" Type="http://schemas.openxmlformats.org/officeDocument/2006/relationships/chart" Target="../charts/chart3.xml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6949440" y="2011680"/>
            <a:ext cx="2374920" cy="363240"/>
          </a:xfrm>
          <a:prstGeom prst="parallelogram">
            <a:avLst>
              <a:gd name="adj" fmla="val 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6400800" y="2560320"/>
            <a:ext cx="2923560" cy="408960"/>
          </a:xfrm>
          <a:prstGeom prst="parallelogram">
            <a:avLst>
              <a:gd name="adj" fmla="val 25000"/>
            </a:avLst>
          </a:prstGeom>
          <a:solidFill>
            <a:srgbClr val="D04A02">
              <a:alpha val="6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" y="1371600"/>
            <a:ext cx="73126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AI-</a:t>
            </a: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Ana</a:t>
            </a: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mne</a:t>
            </a: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sis </a:t>
            </a: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of </a:t>
            </a: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Pati</a:t>
            </a: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ents</a:t>
            </a:r>
            <a:endParaRPr lang="de-DE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2286000"/>
            <a:ext cx="73126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Evaluating </a:t>
            </a: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End-to-End </a:t>
            </a: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STT + LLM </a:t>
            </a: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Pipelines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for Medical </a:t>
            </a: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Documentati</a:t>
            </a: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on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" y="393192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Anton Reinhard 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·  Leonard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Niedens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57200" y="4251960"/>
            <a:ext cx="6398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Master Seminar  ·  </a:t>
            </a:r>
            <a:r>
              <a:rPr lang="en-US" sz="9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PwC Cloud &amp; AI  ×  </a:t>
            </a:r>
            <a:r>
              <a:rPr lang="en-US" sz="9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Hochschule Hannover  </a:t>
            </a:r>
            <a:r>
              <a:rPr lang="en-US" sz="9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·  2026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" name=""/>
          <p:cNvPicPr/>
          <p:nvPr/>
        </p:nvPicPr>
        <p:blipFill>
          <a:blip r:embed="rId1"/>
          <a:stretch/>
        </p:blipFill>
        <p:spPr>
          <a:xfrm>
            <a:off x="7007040" y="3060000"/>
            <a:ext cx="1992600" cy="199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1"/>
          <p:cNvSpPr/>
          <p:nvPr/>
        </p:nvSpPr>
        <p:spPr>
          <a:xfrm>
            <a:off x="457200" y="925920"/>
            <a:ext cx="685548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2 </a:t>
            </a:r>
            <a:r>
              <a:rPr lang="en-US" sz="120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ho</a:t>
            </a:r>
            <a:r>
              <a:rPr lang="en-US" sz="120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ur</a:t>
            </a:r>
            <a:r>
              <a:rPr lang="en-US" sz="120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</a:t>
            </a:r>
            <a:endParaRPr lang="de-DE" sz="1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"/>
          <p:cNvSpPr/>
          <p:nvPr/>
        </p:nvSpPr>
        <p:spPr>
          <a:xfrm>
            <a:off x="457200" y="2571840"/>
            <a:ext cx="68554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per day spent by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physicians on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documentation — not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patient care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3"/>
          <p:cNvSpPr/>
          <p:nvPr/>
        </p:nvSpPr>
        <p:spPr>
          <a:xfrm>
            <a:off x="457200" y="3303360"/>
            <a:ext cx="82270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49%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of physicians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report burnout —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administrative load is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#1 cited driver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"/>
          <p:cNvSpPr/>
          <p:nvPr/>
        </p:nvSpPr>
        <p:spPr>
          <a:xfrm>
            <a:off x="457200" y="4526280"/>
            <a:ext cx="82270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Sources: Annals of Internal Medicine,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2016 · Medscape Physician Burnout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Report 2024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6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7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So we asked ourselves...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57200" y="822960"/>
            <a:ext cx="822708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"Can an AI </a:t>
            </a: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listen to a </a:t>
            </a: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doctor-patient </a:t>
            </a: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conversation</a:t>
            </a:r>
            <a:endParaRPr lang="de-D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and produce </a:t>
            </a: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usable medical </a:t>
            </a: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documentation </a:t>
            </a: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—</a:t>
            </a:r>
            <a:endParaRPr lang="de-D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completely </a:t>
            </a: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automatically?"</a:t>
            </a:r>
            <a:endParaRPr lang="de-D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1490400" y="2743200"/>
            <a:ext cx="58284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Text 4"/>
          <p:cNvSpPr/>
          <p:nvPr/>
        </p:nvSpPr>
        <p:spPr>
          <a:xfrm>
            <a:off x="502920" y="347472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Accurate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/>
          <p:cNvSpPr/>
          <p:nvPr/>
        </p:nvSpPr>
        <p:spPr>
          <a:xfrm>
            <a:off x="502920" y="379476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Facts must match what was said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8"/>
          <p:cNvSpPr/>
          <p:nvPr/>
        </p:nvSpPr>
        <p:spPr>
          <a:xfrm>
            <a:off x="3291840" y="347472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Structured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9"/>
          <p:cNvSpPr/>
          <p:nvPr/>
        </p:nvSpPr>
        <p:spPr>
          <a:xfrm>
            <a:off x="3291840" y="379476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SOAP format </a:t>
            </a: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implementation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2"/>
          <p:cNvSpPr/>
          <p:nvPr/>
        </p:nvSpPr>
        <p:spPr>
          <a:xfrm>
            <a:off x="6080760" y="347472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Trustworthy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3"/>
          <p:cNvSpPr/>
          <p:nvPr/>
        </p:nvSpPr>
        <p:spPr>
          <a:xfrm>
            <a:off x="6080760" y="379476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Zero tolerance for </a:t>
            </a: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hallucinations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4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5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3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Grafik 35"/>
          <p:cNvPicPr/>
          <p:nvPr/>
        </p:nvPicPr>
        <p:blipFill>
          <a:blip r:embed="rId1"/>
          <a:stretch/>
        </p:blipFill>
        <p:spPr>
          <a:xfrm>
            <a:off x="1483200" y="2759040"/>
            <a:ext cx="590040" cy="58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Grafik 36"/>
          <p:cNvPicPr/>
          <p:nvPr/>
        </p:nvPicPr>
        <p:blipFill>
          <a:blip r:embed="rId2"/>
          <a:stretch/>
        </p:blipFill>
        <p:spPr>
          <a:xfrm>
            <a:off x="4343760" y="2759040"/>
            <a:ext cx="453600" cy="598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Grafik 37"/>
          <p:cNvPicPr/>
          <p:nvPr/>
        </p:nvPicPr>
        <p:blipFill>
          <a:blip r:embed="rId3"/>
          <a:stretch/>
        </p:blipFill>
        <p:spPr>
          <a:xfrm>
            <a:off x="7048800" y="2759040"/>
            <a:ext cx="610200" cy="610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1"/>
          <p:cNvSpPr/>
          <p:nvPr/>
        </p:nvSpPr>
        <p:spPr>
          <a:xfrm>
            <a:off x="452520" y="1626480"/>
            <a:ext cx="1826280" cy="1460520"/>
          </a:xfrm>
          <a:prstGeom prst="roundRect">
            <a:avLst>
              <a:gd name="adj" fmla="val 10764"/>
            </a:avLst>
          </a:prstGeom>
          <a:solidFill>
            <a:srgbClr val="D04A0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Four stages — one workflow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589680" y="2175120"/>
            <a:ext cx="1551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Audio Capture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4"/>
          <p:cNvSpPr/>
          <p:nvPr/>
        </p:nvSpPr>
        <p:spPr>
          <a:xfrm>
            <a:off x="2281320" y="2175120"/>
            <a:ext cx="2808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→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5"/>
          <p:cNvSpPr/>
          <p:nvPr/>
        </p:nvSpPr>
        <p:spPr>
          <a:xfrm>
            <a:off x="2583360" y="1626480"/>
            <a:ext cx="1826280" cy="1460520"/>
          </a:xfrm>
          <a:prstGeom prst="roundRect">
            <a:avLst>
              <a:gd name="adj" fmla="val 9375"/>
            </a:avLst>
          </a:prstGeom>
          <a:solidFill>
            <a:srgbClr val="D04A0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Text 6"/>
          <p:cNvSpPr/>
          <p:nvPr/>
        </p:nvSpPr>
        <p:spPr>
          <a:xfrm>
            <a:off x="2715840" y="2175120"/>
            <a:ext cx="1551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STT + Diarization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4430160" y="2175120"/>
            <a:ext cx="2808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→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9"/>
          <p:cNvSpPr/>
          <p:nvPr/>
        </p:nvSpPr>
        <p:spPr>
          <a:xfrm>
            <a:off x="4732200" y="1626480"/>
            <a:ext cx="1826280" cy="1460520"/>
          </a:xfrm>
          <a:prstGeom prst="roundRect">
            <a:avLst>
              <a:gd name="adj" fmla="val 9375"/>
            </a:avLst>
          </a:prstGeom>
          <a:solidFill>
            <a:srgbClr val="D04A0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Text 10"/>
          <p:cNvSpPr/>
          <p:nvPr/>
        </p:nvSpPr>
        <p:spPr>
          <a:xfrm>
            <a:off x="4869360" y="2175120"/>
            <a:ext cx="1551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Format LLM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2"/>
          <p:cNvSpPr/>
          <p:nvPr/>
        </p:nvSpPr>
        <p:spPr>
          <a:xfrm>
            <a:off x="6579000" y="2175120"/>
            <a:ext cx="2808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→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3"/>
          <p:cNvSpPr/>
          <p:nvPr/>
        </p:nvSpPr>
        <p:spPr>
          <a:xfrm>
            <a:off x="6881040" y="1626480"/>
            <a:ext cx="1826280" cy="1460520"/>
          </a:xfrm>
          <a:prstGeom prst="roundRect">
            <a:avLst>
              <a:gd name="adj" fmla="val 9375"/>
            </a:avLst>
          </a:prstGeom>
          <a:solidFill>
            <a:srgbClr val="D04A0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Text 14"/>
          <p:cNvSpPr/>
          <p:nvPr/>
        </p:nvSpPr>
        <p:spPr>
          <a:xfrm>
            <a:off x="6995160" y="2178360"/>
            <a:ext cx="1551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SOAP LLM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6"/>
          <p:cNvSpPr/>
          <p:nvPr/>
        </p:nvSpPr>
        <p:spPr>
          <a:xfrm>
            <a:off x="434520" y="3226680"/>
            <a:ext cx="1826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① Recording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2583360" y="3226680"/>
            <a:ext cx="1826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② Transcribe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4732200" y="3226680"/>
            <a:ext cx="1826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③ Format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6881040" y="3226680"/>
            <a:ext cx="1826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④ Generate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0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1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4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Contenders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457200" y="1280160"/>
            <a:ext cx="39294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STT </a:t>
            </a: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Models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7" name="Table 0"/>
          <p:cNvGraphicFramePr/>
          <p:nvPr/>
        </p:nvGraphicFramePr>
        <p:xfrm>
          <a:off x="457200" y="1645920"/>
          <a:ext cx="3931560" cy="103824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Model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Type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AssemblyAI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     Cloud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Speechmatics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     Cloud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Whisper turbo (~800M)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Local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8" name="Text 2"/>
          <p:cNvSpPr/>
          <p:nvPr/>
        </p:nvSpPr>
        <p:spPr>
          <a:xfrm>
            <a:off x="4754880" y="1280160"/>
            <a:ext cx="39294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LLM Models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9" name="Table 1"/>
          <p:cNvGraphicFramePr/>
          <p:nvPr/>
        </p:nvGraphicFramePr>
        <p:xfrm>
          <a:off x="4754880" y="1645920"/>
          <a:ext cx="3931560" cy="12978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Model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Type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GPT-4o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     Cloud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SauerkrautLM 8B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Local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Llama 3.2 3B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Local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Gemma 4 4B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Local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0" name="Text 3"/>
          <p:cNvSpPr/>
          <p:nvPr/>
        </p:nvSpPr>
        <p:spPr>
          <a:xfrm>
            <a:off x="457200" y="3291840"/>
            <a:ext cx="8227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Tested Combinations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411480" y="3703320"/>
            <a:ext cx="1551960" cy="82044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 6"/>
          <p:cNvSpPr/>
          <p:nvPr/>
        </p:nvSpPr>
        <p:spPr>
          <a:xfrm>
            <a:off x="502920" y="3960000"/>
            <a:ext cx="1369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AssemblyAI + GPT-4o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7"/>
          <p:cNvSpPr/>
          <p:nvPr/>
        </p:nvSpPr>
        <p:spPr>
          <a:xfrm>
            <a:off x="2103120" y="3703320"/>
            <a:ext cx="1551960" cy="82044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 9"/>
          <p:cNvSpPr/>
          <p:nvPr/>
        </p:nvSpPr>
        <p:spPr>
          <a:xfrm>
            <a:off x="2194560" y="3954960"/>
            <a:ext cx="1369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Speechmatics + GPT-4o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3794760" y="3703320"/>
            <a:ext cx="1551960" cy="820440"/>
          </a:xfrm>
          <a:prstGeom prst="roundRect">
            <a:avLst>
              <a:gd name="adj" fmla="val 16667"/>
            </a:avLst>
          </a:prstGeom>
          <a:solidFill>
            <a:srgbClr val="8A95A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12"/>
          <p:cNvSpPr/>
          <p:nvPr/>
        </p:nvSpPr>
        <p:spPr>
          <a:xfrm>
            <a:off x="3886200" y="3954960"/>
            <a:ext cx="1369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+ Sauerkraut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5486400" y="3703320"/>
            <a:ext cx="1551960" cy="820440"/>
          </a:xfrm>
          <a:prstGeom prst="roundRect">
            <a:avLst>
              <a:gd name="adj" fmla="val 16667"/>
            </a:avLst>
          </a:prstGeom>
          <a:solidFill>
            <a:srgbClr val="8A95A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 15"/>
          <p:cNvSpPr/>
          <p:nvPr/>
        </p:nvSpPr>
        <p:spPr>
          <a:xfrm>
            <a:off x="5578200" y="3954960"/>
            <a:ext cx="1369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+ Llama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6"/>
          <p:cNvSpPr/>
          <p:nvPr/>
        </p:nvSpPr>
        <p:spPr>
          <a:xfrm>
            <a:off x="7178040" y="3703320"/>
            <a:ext cx="1551960" cy="820440"/>
          </a:xfrm>
          <a:prstGeom prst="roundRect">
            <a:avLst>
              <a:gd name="adj" fmla="val 16667"/>
            </a:avLst>
          </a:prstGeom>
          <a:solidFill>
            <a:srgbClr val="8A95A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8"/>
          <p:cNvSpPr/>
          <p:nvPr/>
        </p:nvSpPr>
        <p:spPr>
          <a:xfrm>
            <a:off x="7269480" y="3960000"/>
            <a:ext cx="1369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+ Gemma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9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Seminar · PwC ×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Hochschule Hannover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0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5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" name="Grafik 75"/>
          <p:cNvPicPr/>
          <p:nvPr/>
        </p:nvPicPr>
        <p:blipFill>
          <a:blip r:embed="rId1"/>
          <a:stretch/>
        </p:blipFill>
        <p:spPr>
          <a:xfrm>
            <a:off x="2933280" y="1986480"/>
            <a:ext cx="177840" cy="9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Grafik 76"/>
          <p:cNvPicPr/>
          <p:nvPr/>
        </p:nvPicPr>
        <p:blipFill>
          <a:blip r:embed="rId2"/>
          <a:stretch/>
        </p:blipFill>
        <p:spPr>
          <a:xfrm>
            <a:off x="2933280" y="1986840"/>
            <a:ext cx="177840" cy="9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Grafik 77"/>
          <p:cNvPicPr/>
          <p:nvPr/>
        </p:nvPicPr>
        <p:blipFill>
          <a:blip r:embed="rId3"/>
          <a:stretch/>
        </p:blipFill>
        <p:spPr>
          <a:xfrm>
            <a:off x="2933280" y="1987200"/>
            <a:ext cx="177840" cy="9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Grafik 78"/>
          <p:cNvPicPr/>
          <p:nvPr/>
        </p:nvPicPr>
        <p:blipFill>
          <a:blip r:embed="rId4"/>
          <a:stretch/>
        </p:blipFill>
        <p:spPr>
          <a:xfrm>
            <a:off x="2933280" y="2239560"/>
            <a:ext cx="177840" cy="9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Grafik 79"/>
          <p:cNvPicPr/>
          <p:nvPr/>
        </p:nvPicPr>
        <p:blipFill>
          <a:blip r:embed="rId5"/>
          <a:stretch/>
        </p:blipFill>
        <p:spPr>
          <a:xfrm>
            <a:off x="7217280" y="1987920"/>
            <a:ext cx="177840" cy="9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1" dur="indefinite" restart="never" nodeType="tmRoot">
          <p:childTnLst>
            <p:seq>
              <p:cTn id="42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Hardware draws the line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"/>
          <p:cNvSpPr/>
          <p:nvPr/>
        </p:nvSpPr>
        <p:spPr>
          <a:xfrm>
            <a:off x="457200" y="1491120"/>
            <a:ext cx="3929400" cy="2466360"/>
          </a:xfrm>
          <a:prstGeom prst="roundRect">
            <a:avLst>
              <a:gd name="adj" fmla="val 5556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 2"/>
          <p:cNvSpPr/>
          <p:nvPr/>
        </p:nvSpPr>
        <p:spPr>
          <a:xfrm>
            <a:off x="640080" y="1628280"/>
            <a:ext cx="35636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DA070"/>
                </a:solidFill>
                <a:effectLst/>
                <a:uFillTx/>
                <a:latin typeface="DejaVu Serif"/>
                <a:ea typeface="DejaVu Serif"/>
              </a:rPr>
              <a:t>On-Prem Stack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685800" y="2131200"/>
            <a:ext cx="338076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Whisper turbo</a:t>
            </a: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  ~800M params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SauerkrautLM / Llama / Gemma</a:t>
            </a: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  </a:t>
            </a:r>
            <a:br>
              <a:rPr sz="1300"/>
            </a:b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3–8B params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3DA070"/>
                </a:solidFill>
                <a:effectLst/>
                <a:uFillTx/>
                <a:latin typeface="DejaVu Serif"/>
                <a:ea typeface="DejaVu Serif"/>
              </a:rPr>
              <a:t>AMD CPU — 16 GB RAM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4"/>
          <p:cNvSpPr/>
          <p:nvPr/>
        </p:nvSpPr>
        <p:spPr>
          <a:xfrm>
            <a:off x="4754880" y="1491120"/>
            <a:ext cx="3929400" cy="2466360"/>
          </a:xfrm>
          <a:prstGeom prst="roundRect">
            <a:avLst>
              <a:gd name="adj" fmla="val 5556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 5"/>
          <p:cNvSpPr/>
          <p:nvPr/>
        </p:nvSpPr>
        <p:spPr>
          <a:xfrm>
            <a:off x="4937760" y="1628280"/>
            <a:ext cx="35636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3A"/>
                </a:solidFill>
                <a:effectLst/>
                <a:uFillTx/>
                <a:latin typeface="DejaVu Serif"/>
                <a:ea typeface="DejaVu Serif"/>
              </a:rPr>
              <a:t>Feasibility Limit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6"/>
          <p:cNvSpPr/>
          <p:nvPr/>
        </p:nvSpPr>
        <p:spPr>
          <a:xfrm>
            <a:off x="4983480" y="2131200"/>
            <a:ext cx="338076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large-v3</a:t>
            </a:r>
            <a:r>
              <a:rPr lang="en-US" sz="1300" b="0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  </a:t>
            </a: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1.55B params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SauerkrautLM 70B</a:t>
            </a:r>
            <a:r>
              <a:rPr lang="en-US" sz="1300" b="0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  </a:t>
            </a: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~32 GB VRAM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</a:t>
            </a:r>
            <a:endParaRPr lang="de-DE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D04A3A"/>
                </a:solidFill>
                <a:effectLst/>
                <a:uFillTx/>
                <a:latin typeface="DejaVu Serif"/>
                <a:ea typeface="DejaVu Serif"/>
              </a:rPr>
              <a:t>Resources not available for this evaluation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7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8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6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7" dur="indefinite" restart="never" nodeType="tmRoot">
          <p:childTnLst>
            <p:seq>
              <p:cTn id="68" dur="indefinite" nodeType="mainSeq">
                <p:childTnLst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From clean recordings to total chaos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"/>
          <p:cNvSpPr/>
          <p:nvPr/>
        </p:nvSpPr>
        <p:spPr>
          <a:xfrm>
            <a:off x="457200" y="1188720"/>
            <a:ext cx="8227080" cy="77472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 2"/>
          <p:cNvSpPr/>
          <p:nvPr/>
        </p:nvSpPr>
        <p:spPr>
          <a:xfrm>
            <a:off x="640080" y="1188720"/>
            <a:ext cx="164340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Standard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2377440" y="1325880"/>
            <a:ext cx="360" cy="502920"/>
          </a:xfrm>
          <a:prstGeom prst="line">
            <a:avLst/>
          </a:prstGeom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 4"/>
          <p:cNvSpPr/>
          <p:nvPr/>
        </p:nvSpPr>
        <p:spPr>
          <a:xfrm>
            <a:off x="2651760" y="1188720"/>
            <a:ext cx="200916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Original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5"/>
          <p:cNvSpPr/>
          <p:nvPr/>
        </p:nvSpPr>
        <p:spPr>
          <a:xfrm>
            <a:off x="4663440" y="1188720"/>
            <a:ext cx="200916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Laptop-Middle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6675120" y="1188720"/>
            <a:ext cx="200916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Laptop-Doctor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7"/>
          <p:cNvSpPr/>
          <p:nvPr/>
        </p:nvSpPr>
        <p:spPr>
          <a:xfrm>
            <a:off x="457200" y="2103120"/>
            <a:ext cx="8227080" cy="77472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 8"/>
          <p:cNvSpPr/>
          <p:nvPr/>
        </p:nvSpPr>
        <p:spPr>
          <a:xfrm>
            <a:off x="640080" y="2103120"/>
            <a:ext cx="164340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Challenging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9"/>
          <p:cNvSpPr/>
          <p:nvPr/>
        </p:nvSpPr>
        <p:spPr>
          <a:xfrm>
            <a:off x="2377440" y="2240280"/>
            <a:ext cx="360" cy="502920"/>
          </a:xfrm>
          <a:prstGeom prst="line">
            <a:avLst/>
          </a:prstGeom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 10"/>
          <p:cNvSpPr/>
          <p:nvPr/>
        </p:nvSpPr>
        <p:spPr>
          <a:xfrm>
            <a:off x="2651760" y="2103120"/>
            <a:ext cx="200916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White Noise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1"/>
          <p:cNvSpPr/>
          <p:nvPr/>
        </p:nvSpPr>
        <p:spPr>
          <a:xfrm>
            <a:off x="4663440" y="2103120"/>
            <a:ext cx="200916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Self-Corrections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2"/>
          <p:cNvSpPr/>
          <p:nvPr/>
        </p:nvSpPr>
        <p:spPr>
          <a:xfrm>
            <a:off x="6675120" y="2103120"/>
            <a:ext cx="200916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Interruptions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3"/>
          <p:cNvSpPr/>
          <p:nvPr/>
        </p:nvSpPr>
        <p:spPr>
          <a:xfrm>
            <a:off x="457200" y="3017520"/>
            <a:ext cx="8227080" cy="77472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 14"/>
          <p:cNvSpPr/>
          <p:nvPr/>
        </p:nvSpPr>
        <p:spPr>
          <a:xfrm>
            <a:off x="640080" y="3017520"/>
            <a:ext cx="164340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Complex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5"/>
          <p:cNvSpPr/>
          <p:nvPr/>
        </p:nvSpPr>
        <p:spPr>
          <a:xfrm>
            <a:off x="2377440" y="3154680"/>
            <a:ext cx="360" cy="502920"/>
          </a:xfrm>
          <a:prstGeom prst="line">
            <a:avLst/>
          </a:prstGeom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 16"/>
          <p:cNvSpPr/>
          <p:nvPr/>
        </p:nvSpPr>
        <p:spPr>
          <a:xfrm>
            <a:off x="2651760" y="3017520"/>
            <a:ext cx="200916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Topic Jumps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7"/>
          <p:cNvSpPr/>
          <p:nvPr/>
        </p:nvSpPr>
        <p:spPr>
          <a:xfrm>
            <a:off x="4663440" y="3017520"/>
            <a:ext cx="200916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Mind Changes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6675120" y="3017520"/>
            <a:ext cx="200916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Chaos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9"/>
          <p:cNvSpPr/>
          <p:nvPr/>
        </p:nvSpPr>
        <p:spPr>
          <a:xfrm>
            <a:off x="457200" y="3931920"/>
            <a:ext cx="8227080" cy="77472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 20"/>
          <p:cNvSpPr/>
          <p:nvPr/>
        </p:nvSpPr>
        <p:spPr>
          <a:xfrm>
            <a:off x="640080" y="3931920"/>
            <a:ext cx="164340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Real-World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1"/>
          <p:cNvSpPr/>
          <p:nvPr/>
        </p:nvSpPr>
        <p:spPr>
          <a:xfrm>
            <a:off x="2377440" y="4069080"/>
            <a:ext cx="360" cy="502920"/>
          </a:xfrm>
          <a:prstGeom prst="line">
            <a:avLst/>
          </a:prstGeom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 22"/>
          <p:cNvSpPr/>
          <p:nvPr/>
        </p:nvSpPr>
        <p:spPr>
          <a:xfrm>
            <a:off x="2651760" y="3931920"/>
            <a:ext cx="301500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Long Anamnesis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3"/>
          <p:cNvSpPr/>
          <p:nvPr/>
        </p:nvSpPr>
        <p:spPr>
          <a:xfrm>
            <a:off x="4663080" y="3931920"/>
            <a:ext cx="301500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Physiotherapy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5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6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7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7" dur="indefinite" restart="never" nodeType="tmRoot">
          <p:childTnLst>
            <p:seq>
              <p:cTn id="78" dur="indefinite" nodeType="mainSeq">
                <p:childTnLst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Three independent measurements per run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"/>
          <p:cNvSpPr/>
          <p:nvPr/>
        </p:nvSpPr>
        <p:spPr>
          <a:xfrm>
            <a:off x="411480" y="1280160"/>
            <a:ext cx="2649240" cy="255780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411480" y="1280160"/>
            <a:ext cx="2649240" cy="107280"/>
          </a:xfrm>
          <a:prstGeom prst="roundRect">
            <a:avLst>
              <a:gd name="adj" fmla="val 1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2760" rIns="90000" bIns="3276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411480" y="1508760"/>
            <a:ext cx="26492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📏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411480" y="2011680"/>
            <a:ext cx="26492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WER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411480" y="2423160"/>
            <a:ext cx="26492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Word Error Rate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548640" y="2926080"/>
            <a:ext cx="23749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Ground Truth vs. RAW STT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7"/>
          <p:cNvSpPr/>
          <p:nvPr/>
        </p:nvSpPr>
        <p:spPr>
          <a:xfrm>
            <a:off x="3246120" y="1280160"/>
            <a:ext cx="2649240" cy="255780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Shape 8"/>
          <p:cNvSpPr/>
          <p:nvPr/>
        </p:nvSpPr>
        <p:spPr>
          <a:xfrm>
            <a:off x="3246120" y="1280160"/>
            <a:ext cx="2649240" cy="107280"/>
          </a:xfrm>
          <a:prstGeom prst="roundRect">
            <a:avLst>
              <a:gd name="adj" fmla="val 1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2760" rIns="90000" bIns="3276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 9"/>
          <p:cNvSpPr/>
          <p:nvPr/>
        </p:nvSpPr>
        <p:spPr>
          <a:xfrm>
            <a:off x="3246120" y="1508760"/>
            <a:ext cx="26492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🔍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0"/>
          <p:cNvSpPr/>
          <p:nvPr/>
        </p:nvSpPr>
        <p:spPr>
          <a:xfrm>
            <a:off x="3246120" y="2011680"/>
            <a:ext cx="26492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LLM Fidelity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1"/>
          <p:cNvSpPr/>
          <p:nvPr/>
        </p:nvSpPr>
        <p:spPr>
          <a:xfrm>
            <a:off x="3246120" y="2423160"/>
            <a:ext cx="26492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Did the LLM hallucinate?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2"/>
          <p:cNvSpPr/>
          <p:nvPr/>
        </p:nvSpPr>
        <p:spPr>
          <a:xfrm>
            <a:off x="3383280" y="2926080"/>
            <a:ext cx="23749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RAW STT vs. Formatted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3"/>
          <p:cNvSpPr/>
          <p:nvPr/>
        </p:nvSpPr>
        <p:spPr>
          <a:xfrm>
            <a:off x="6080760" y="1280160"/>
            <a:ext cx="2649240" cy="255780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Shape 14"/>
          <p:cNvSpPr/>
          <p:nvPr/>
        </p:nvSpPr>
        <p:spPr>
          <a:xfrm>
            <a:off x="6080760" y="1280160"/>
            <a:ext cx="2649240" cy="107280"/>
          </a:xfrm>
          <a:prstGeom prst="roundRect">
            <a:avLst>
              <a:gd name="adj" fmla="val 1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2760" rIns="90000" bIns="3276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 15"/>
          <p:cNvSpPr/>
          <p:nvPr/>
        </p:nvSpPr>
        <p:spPr>
          <a:xfrm>
            <a:off x="6080760" y="1508760"/>
            <a:ext cx="26492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⚕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6"/>
          <p:cNvSpPr/>
          <p:nvPr/>
        </p:nvSpPr>
        <p:spPr>
          <a:xfrm>
            <a:off x="6080760" y="2011680"/>
            <a:ext cx="26492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SOAP Quality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7"/>
          <p:cNvSpPr/>
          <p:nvPr/>
        </p:nvSpPr>
        <p:spPr>
          <a:xfrm>
            <a:off x="6080760" y="2423160"/>
            <a:ext cx="26492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Is the note medically usable?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8"/>
          <p:cNvSpPr/>
          <p:nvPr/>
        </p:nvSpPr>
        <p:spPr>
          <a:xfrm>
            <a:off x="6217920" y="2926080"/>
            <a:ext cx="23749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Claude-as-Judge (0–8 pts)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9"/>
          <p:cNvSpPr/>
          <p:nvPr/>
        </p:nvSpPr>
        <p:spPr>
          <a:xfrm>
            <a:off x="457200" y="4114800"/>
            <a:ext cx="8227080" cy="500400"/>
          </a:xfrm>
          <a:prstGeom prst="roundRect">
            <a:avLst>
              <a:gd name="adj" fmla="val 27273"/>
            </a:avLst>
          </a:prstGeom>
          <a:solidFill>
            <a:srgbClr val="3A251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20"/>
          <p:cNvSpPr/>
          <p:nvPr/>
        </p:nvSpPr>
        <p:spPr>
          <a:xfrm>
            <a:off x="594360" y="4160520"/>
            <a:ext cx="7952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Safety Rule: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Any hallucinated diagnosis or treatment = </a:t>
            </a: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0 points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in A &amp; P sections.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1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2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8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3" dur="indefinite" restart="never" nodeType="tmRoot">
          <p:childTnLst>
            <p:seq>
              <p:cTn id="134" dur="indefinite" nodeType="mainSeq">
                <p:childTnLst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34"/>
          <p:cNvSpPr/>
          <p:nvPr/>
        </p:nvSpPr>
        <p:spPr>
          <a:xfrm>
            <a:off x="457200" y="274320"/>
            <a:ext cx="8227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SOAP — four sections, one structured note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388800" y="1460160"/>
            <a:ext cx="1918440" cy="255852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35"/>
          <p:cNvSpPr/>
          <p:nvPr/>
        </p:nvSpPr>
        <p:spPr>
          <a:xfrm>
            <a:off x="388800" y="1643040"/>
            <a:ext cx="191844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6"/>
          <p:cNvSpPr/>
          <p:nvPr/>
        </p:nvSpPr>
        <p:spPr>
          <a:xfrm>
            <a:off x="388800" y="2831760"/>
            <a:ext cx="191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Subjective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7"/>
          <p:cNvSpPr/>
          <p:nvPr/>
        </p:nvSpPr>
        <p:spPr>
          <a:xfrm>
            <a:off x="388800" y="3243240"/>
            <a:ext cx="191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Patient's own words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20"/>
          <p:cNvSpPr/>
          <p:nvPr/>
        </p:nvSpPr>
        <p:spPr>
          <a:xfrm>
            <a:off x="2537640" y="1460160"/>
            <a:ext cx="1918440" cy="255852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8"/>
          <p:cNvSpPr/>
          <p:nvPr/>
        </p:nvSpPr>
        <p:spPr>
          <a:xfrm>
            <a:off x="2537640" y="1643040"/>
            <a:ext cx="191844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O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9"/>
          <p:cNvSpPr/>
          <p:nvPr/>
        </p:nvSpPr>
        <p:spPr>
          <a:xfrm>
            <a:off x="2537640" y="2831760"/>
            <a:ext cx="191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Objective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40"/>
          <p:cNvSpPr/>
          <p:nvPr/>
        </p:nvSpPr>
        <p:spPr>
          <a:xfrm>
            <a:off x="2537640" y="3243240"/>
            <a:ext cx="191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Clinical observations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2"/>
          <p:cNvSpPr/>
          <p:nvPr/>
        </p:nvSpPr>
        <p:spPr>
          <a:xfrm>
            <a:off x="4686480" y="1460160"/>
            <a:ext cx="1918440" cy="255852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1"/>
          <p:cNvSpPr/>
          <p:nvPr/>
        </p:nvSpPr>
        <p:spPr>
          <a:xfrm>
            <a:off x="4686480" y="1643040"/>
            <a:ext cx="191844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A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2"/>
          <p:cNvSpPr/>
          <p:nvPr/>
        </p:nvSpPr>
        <p:spPr>
          <a:xfrm>
            <a:off x="4686480" y="2831760"/>
            <a:ext cx="191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Assessment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43"/>
          <p:cNvSpPr/>
          <p:nvPr/>
        </p:nvSpPr>
        <p:spPr>
          <a:xfrm>
            <a:off x="4686480" y="3243240"/>
            <a:ext cx="191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Diagnosis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4"/>
          <p:cNvSpPr/>
          <p:nvPr/>
        </p:nvSpPr>
        <p:spPr>
          <a:xfrm>
            <a:off x="6835320" y="1460160"/>
            <a:ext cx="1918440" cy="255852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44"/>
          <p:cNvSpPr/>
          <p:nvPr/>
        </p:nvSpPr>
        <p:spPr>
          <a:xfrm>
            <a:off x="6835320" y="1643040"/>
            <a:ext cx="191844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P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5"/>
          <p:cNvSpPr/>
          <p:nvPr/>
        </p:nvSpPr>
        <p:spPr>
          <a:xfrm>
            <a:off x="6835320" y="2831760"/>
            <a:ext cx="191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Plan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6"/>
          <p:cNvSpPr/>
          <p:nvPr/>
        </p:nvSpPr>
        <p:spPr>
          <a:xfrm>
            <a:off x="6835320" y="3243240"/>
            <a:ext cx="191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Next steps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8"/>
          <p:cNvSpPr/>
          <p:nvPr/>
        </p:nvSpPr>
        <p:spPr>
          <a:xfrm>
            <a:off x="365760" y="4864680"/>
            <a:ext cx="6856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9"/>
          <p:cNvSpPr/>
          <p:nvPr/>
        </p:nvSpPr>
        <p:spPr>
          <a:xfrm>
            <a:off x="7772400" y="4864680"/>
            <a:ext cx="1004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13 / 20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83" dur="indefinite" restart="never" nodeType="tmRoot">
          <p:childTnLst>
            <p:seq>
              <p:cTn id="184" dur="indefinite" nodeType="mainSeq">
                <p:childTnLst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0"/>
          <p:cNvSpPr/>
          <p:nvPr/>
        </p:nvSpPr>
        <p:spPr>
          <a:xfrm>
            <a:off x="6949440" y="457200"/>
            <a:ext cx="2374920" cy="317520"/>
          </a:xfrm>
          <a:prstGeom prst="parallelogram">
            <a:avLst>
              <a:gd name="adj" fmla="val 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457200" y="1188720"/>
            <a:ext cx="822708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Let's run it live</a:t>
            </a:r>
            <a:endParaRPr lang="de-DE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"/>
          <p:cNvSpPr/>
          <p:nvPr/>
        </p:nvSpPr>
        <p:spPr>
          <a:xfrm>
            <a:off x="4023360" y="2468880"/>
            <a:ext cx="1094760" cy="1094760"/>
          </a:xfrm>
          <a:prstGeom prst="ellipse">
            <a:avLst/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3"/>
          <p:cNvSpPr/>
          <p:nvPr/>
        </p:nvSpPr>
        <p:spPr>
          <a:xfrm rot="5400000">
            <a:off x="4338720" y="2715480"/>
            <a:ext cx="591840" cy="60192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 4"/>
          <p:cNvSpPr/>
          <p:nvPr/>
        </p:nvSpPr>
        <p:spPr>
          <a:xfrm>
            <a:off x="457200" y="3931920"/>
            <a:ext cx="8227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Scenario: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Mind-change     </a:t>
            </a: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Pipeline: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AssemblyAI + GPT-4o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6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9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Cloud beats local — noise beats everyone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"/>
          <p:cNvSpPr/>
          <p:nvPr/>
        </p:nvSpPr>
        <p:spPr>
          <a:xfrm>
            <a:off x="5852160" y="1097280"/>
            <a:ext cx="2923560" cy="3015000"/>
          </a:xfrm>
          <a:prstGeom prst="roundRect">
            <a:avLst>
              <a:gd name="adj" fmla="val 4688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2"/>
          <p:cNvSpPr/>
          <p:nvPr/>
        </p:nvSpPr>
        <p:spPr>
          <a:xfrm>
            <a:off x="5989320" y="1188720"/>
            <a:ext cx="26492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Outlier scenario: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"/>
          <p:cNvSpPr/>
          <p:nvPr/>
        </p:nvSpPr>
        <p:spPr>
          <a:xfrm>
            <a:off x="5989320" y="1463040"/>
            <a:ext cx="26492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White Noise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4"/>
          <p:cNvSpPr/>
          <p:nvPr/>
        </p:nvSpPr>
        <p:spPr>
          <a:xfrm>
            <a:off x="5989320" y="2011680"/>
            <a:ext cx="264924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Assembly: </a:t>
            </a: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33.2 %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Speechmatics: </a:t>
            </a: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30.6 %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Whisper-local: </a:t>
            </a: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41.0 %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5"/>
          <p:cNvSpPr/>
          <p:nvPr/>
        </p:nvSpPr>
        <p:spPr>
          <a:xfrm>
            <a:off x="5989320" y="3200400"/>
            <a:ext cx="2560320" cy="360"/>
          </a:xfrm>
          <a:prstGeom prst="line">
            <a:avLst/>
          </a:prstGeom>
          <a:ln w="12700">
            <a:solidFill>
              <a:srgbClr val="3A3D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5989320" y="3291840"/>
            <a:ext cx="26492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Microphone quality is the hard floor of AI performance.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7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8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10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Rechteck 156"/>
          <p:cNvSpPr/>
          <p:nvPr/>
        </p:nvSpPr>
        <p:spPr>
          <a:xfrm>
            <a:off x="412920" y="2410560"/>
            <a:ext cx="357840" cy="35784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2" name="Grafik 158"/>
          <p:cNvPicPr/>
          <p:nvPr/>
        </p:nvPicPr>
        <p:blipFill>
          <a:blip r:embed="rId1"/>
          <a:stretch/>
        </p:blipFill>
        <p:spPr>
          <a:xfrm>
            <a:off x="573480" y="2516400"/>
            <a:ext cx="177840" cy="9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Rechteck 159"/>
          <p:cNvSpPr/>
          <p:nvPr/>
        </p:nvSpPr>
        <p:spPr>
          <a:xfrm>
            <a:off x="1001520" y="3230280"/>
            <a:ext cx="357840" cy="35784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4" name="Grafik 160"/>
          <p:cNvPicPr/>
          <p:nvPr/>
        </p:nvPicPr>
        <p:blipFill>
          <a:blip r:embed="rId2"/>
          <a:stretch/>
        </p:blipFill>
        <p:spPr>
          <a:xfrm>
            <a:off x="1162080" y="3336120"/>
            <a:ext cx="177840" cy="982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75" name="Chart 0"/>
          <p:cNvGraphicFramePr/>
          <p:nvPr/>
        </p:nvGraphicFramePr>
        <p:xfrm>
          <a:off x="457560" y="1177200"/>
          <a:ext cx="5301360" cy="3015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6" name="Rechteck 1"/>
          <p:cNvSpPr/>
          <p:nvPr/>
        </p:nvSpPr>
        <p:spPr>
          <a:xfrm>
            <a:off x="784440" y="3310920"/>
            <a:ext cx="357840" cy="35784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7" name="Grafik 1"/>
          <p:cNvPicPr/>
          <p:nvPr/>
        </p:nvPicPr>
        <p:blipFill>
          <a:blip r:embed="rId4"/>
          <a:stretch/>
        </p:blipFill>
        <p:spPr>
          <a:xfrm>
            <a:off x="945000" y="3416760"/>
            <a:ext cx="177840" cy="9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Rechteck 2"/>
          <p:cNvSpPr/>
          <p:nvPr/>
        </p:nvSpPr>
        <p:spPr>
          <a:xfrm>
            <a:off x="412920" y="2410560"/>
            <a:ext cx="357840" cy="35784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9" name="Grafik 2"/>
          <p:cNvPicPr/>
          <p:nvPr/>
        </p:nvPicPr>
        <p:blipFill>
          <a:blip r:embed="rId5"/>
          <a:stretch/>
        </p:blipFill>
        <p:spPr>
          <a:xfrm>
            <a:off x="573480" y="2516400"/>
            <a:ext cx="177840" cy="9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25" dur="indefinite" restart="never" nodeType="tmRoot">
          <p:childTnLst>
            <p:seq>
              <p:cTn id="226" dur="indefinite" nodeType="mainSeq">
                <p:childTnLst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Cloud listens — local rewrites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1" name="Chart 0"/>
          <p:cNvGraphicFramePr/>
          <p:nvPr/>
        </p:nvGraphicFramePr>
        <p:xfrm>
          <a:off x="457200" y="1097280"/>
          <a:ext cx="7769880" cy="319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82" name="Text 1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11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Rechteck 165"/>
          <p:cNvSpPr/>
          <p:nvPr/>
        </p:nvSpPr>
        <p:spPr>
          <a:xfrm>
            <a:off x="468720" y="3497400"/>
            <a:ext cx="1645920" cy="35784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              GPT-4o (avg)</a:t>
            </a:r>
            <a:endParaRPr lang="de-D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5" name="Grafik 166"/>
          <p:cNvPicPr/>
          <p:nvPr/>
        </p:nvPicPr>
        <p:blipFill>
          <a:blip r:embed="rId2"/>
          <a:stretch/>
        </p:blipFill>
        <p:spPr>
          <a:xfrm>
            <a:off x="914760" y="3627360"/>
            <a:ext cx="177840" cy="982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86" name="Chart 0"/>
          <p:cNvGraphicFramePr/>
          <p:nvPr/>
        </p:nvGraphicFramePr>
        <p:xfrm>
          <a:off x="685800" y="1096920"/>
          <a:ext cx="7770240" cy="3198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7" name="Rechteck 3"/>
          <p:cNvSpPr/>
          <p:nvPr/>
        </p:nvSpPr>
        <p:spPr>
          <a:xfrm>
            <a:off x="691920" y="3499200"/>
            <a:ext cx="357840" cy="35784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8" name="Grafik 3"/>
          <p:cNvPicPr/>
          <p:nvPr/>
        </p:nvPicPr>
        <p:blipFill>
          <a:blip r:embed="rId4"/>
          <a:stretch/>
        </p:blipFill>
        <p:spPr>
          <a:xfrm>
            <a:off x="852480" y="3605040"/>
            <a:ext cx="177840" cy="9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Anamnese Catastrophe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0" name="Chart 0"/>
          <p:cNvGraphicFramePr/>
          <p:nvPr/>
        </p:nvGraphicFramePr>
        <p:xfrm>
          <a:off x="457200" y="1188720"/>
          <a:ext cx="5483880" cy="2557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91" name="Text 1"/>
          <p:cNvSpPr/>
          <p:nvPr/>
        </p:nvSpPr>
        <p:spPr>
          <a:xfrm>
            <a:off x="6217920" y="1620000"/>
            <a:ext cx="255780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–93%</a:t>
            </a:r>
            <a:endParaRPr lang="de-DE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6217920" y="2717280"/>
            <a:ext cx="25578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content silently dropped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2205720" y="3955320"/>
            <a:ext cx="36378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SauerkrautLM 8B formatting step on a 19-min conversation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12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666000" y="1621080"/>
            <a:ext cx="1631160" cy="35892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pPr algn="ctr">
              <a:lnSpc>
                <a:spcPct val="100000"/>
              </a:lnSpc>
            </a:pPr>
            <a:r>
              <a:rPr lang="de-DE" sz="13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 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783720" y="1633320"/>
            <a:ext cx="161892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3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Raw STT Output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41" dur="indefinite" restart="never" nodeType="tmRoot">
          <p:childTnLst>
            <p:seq>
              <p:cTn id="242" dur="indefinite" nodeType="mainSeq">
                <p:childTnLst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No model reached clinically acceptable quality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9"/>
          <p:cNvSpPr/>
          <p:nvPr/>
        </p:nvSpPr>
        <p:spPr>
          <a:xfrm>
            <a:off x="5577840" y="1321560"/>
            <a:ext cx="3197880" cy="2283480"/>
          </a:xfrm>
          <a:prstGeom prst="roundRect">
            <a:avLst>
              <a:gd name="adj" fmla="val 6000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 10"/>
          <p:cNvSpPr/>
          <p:nvPr/>
        </p:nvSpPr>
        <p:spPr>
          <a:xfrm>
            <a:off x="5715000" y="1394640"/>
            <a:ext cx="2923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Quality Distribution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1" name="Table 0"/>
          <p:cNvGraphicFramePr/>
          <p:nvPr/>
        </p:nvGraphicFramePr>
        <p:xfrm>
          <a:off x="5669280" y="1733040"/>
          <a:ext cx="3016080" cy="1791000"/>
        </p:xfrm>
        <a:graphic>
          <a:graphicData uri="http://schemas.openxmlformats.org/drawingml/2006/table">
            <a:tbl>
              <a:tblPr/>
              <a:tblGrid>
                <a:gridCol w="1400760"/>
                <a:gridCol w="538560"/>
                <a:gridCol w="538560"/>
                <a:gridCol w="538560"/>
              </a:tblGrid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Model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</a:rPr>
                        <a:t>+</a:t>
                      </a:r>
                      <a:endParaRPr lang="de-DE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</a:rPr>
                        <a:t>o</a:t>
                      </a:r>
                      <a:endParaRPr lang="de-DE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</a:rPr>
                        <a:t>-</a:t>
                      </a:r>
                      <a:endParaRPr lang="de-DE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GPT-4o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10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1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Gemma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5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6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Sauerkraut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4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7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Llama 3.2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2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9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2" name="Text 13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4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13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Rechteck 191"/>
          <p:cNvSpPr/>
          <p:nvPr/>
        </p:nvSpPr>
        <p:spPr>
          <a:xfrm>
            <a:off x="510840" y="1450080"/>
            <a:ext cx="357840" cy="35784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5" name="Chart 0"/>
          <p:cNvGraphicFramePr/>
          <p:nvPr/>
        </p:nvGraphicFramePr>
        <p:xfrm>
          <a:off x="360000" y="1229760"/>
          <a:ext cx="5078520" cy="2923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06" name="Shape 1"/>
          <p:cNvSpPr/>
          <p:nvPr/>
        </p:nvSpPr>
        <p:spPr>
          <a:xfrm>
            <a:off x="1078920" y="4288320"/>
            <a:ext cx="162360" cy="126000"/>
          </a:xfrm>
          <a:prstGeom prst="roundRect">
            <a:avLst>
              <a:gd name="adj" fmla="val 21429"/>
            </a:avLst>
          </a:prstGeom>
          <a:solidFill>
            <a:srgbClr val="D04A3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2"/>
          <p:cNvSpPr/>
          <p:nvPr/>
        </p:nvSpPr>
        <p:spPr>
          <a:xfrm>
            <a:off x="1280160" y="4260960"/>
            <a:ext cx="11865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0–3 not usable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3"/>
          <p:cNvSpPr/>
          <p:nvPr/>
        </p:nvSpPr>
        <p:spPr>
          <a:xfrm>
            <a:off x="2541960" y="4288320"/>
            <a:ext cx="162360" cy="126000"/>
          </a:xfrm>
          <a:prstGeom prst="roundRect">
            <a:avLst>
              <a:gd name="adj" fmla="val 21429"/>
            </a:avLst>
          </a:prstGeom>
          <a:solidFill>
            <a:srgbClr val="D89614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2743200" y="4260960"/>
            <a:ext cx="136944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&gt;3–6 needs revision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5"/>
          <p:cNvSpPr/>
          <p:nvPr/>
        </p:nvSpPr>
        <p:spPr>
          <a:xfrm>
            <a:off x="4187880" y="4288320"/>
            <a:ext cx="162360" cy="126000"/>
          </a:xfrm>
          <a:prstGeom prst="roundRect">
            <a:avLst>
              <a:gd name="adj" fmla="val 21429"/>
            </a:avLst>
          </a:prstGeom>
          <a:solidFill>
            <a:srgbClr val="3DA07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4389120" y="4260960"/>
            <a:ext cx="11865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&gt;6 acceptable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"/>
          <p:cNvSpPr/>
          <p:nvPr/>
        </p:nvSpPr>
        <p:spPr>
          <a:xfrm>
            <a:off x="4499640" y="1260000"/>
            <a:ext cx="360" cy="2671560"/>
          </a:xfrm>
          <a:prstGeom prst="line">
            <a:avLst/>
          </a:prstGeom>
          <a:ln w="25400">
            <a:solidFill>
              <a:srgbClr val="3DA0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" name="Rechteck 5"/>
          <p:cNvSpPr/>
          <p:nvPr/>
        </p:nvSpPr>
        <p:spPr>
          <a:xfrm>
            <a:off x="317880" y="1451880"/>
            <a:ext cx="357840" cy="35784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4" name="Grafik 5"/>
          <p:cNvPicPr/>
          <p:nvPr/>
        </p:nvPicPr>
        <p:blipFill>
          <a:blip r:embed="rId2"/>
          <a:stretch/>
        </p:blipFill>
        <p:spPr>
          <a:xfrm>
            <a:off x="478440" y="1557720"/>
            <a:ext cx="177840" cy="9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49" dur="indefinite" restart="never" nodeType="tmRoot">
          <p:childTnLst>
            <p:seq>
              <p:cTn id="250" dur="indefinite" nodeType="mainSeq">
                <p:childTnLst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Technology assists —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but doesn't yet replace a clinician's pen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"/>
          <p:cNvSpPr/>
          <p:nvPr/>
        </p:nvSpPr>
        <p:spPr>
          <a:xfrm>
            <a:off x="457200" y="1188720"/>
            <a:ext cx="3929400" cy="2649240"/>
          </a:xfrm>
          <a:prstGeom prst="roundRect">
            <a:avLst>
              <a:gd name="adj" fmla="val 5172"/>
            </a:avLst>
          </a:prstGeom>
          <a:solidFill>
            <a:srgbClr val="3A251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 2"/>
          <p:cNvSpPr/>
          <p:nvPr/>
        </p:nvSpPr>
        <p:spPr>
          <a:xfrm>
            <a:off x="640080" y="1325880"/>
            <a:ext cx="2740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Winners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640080" y="1645920"/>
            <a:ext cx="35636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Assembly &amp; GPT-4o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4"/>
          <p:cNvSpPr/>
          <p:nvPr/>
        </p:nvSpPr>
        <p:spPr>
          <a:xfrm>
            <a:off x="640080" y="2240280"/>
            <a:ext cx="35636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+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Lowest WER (8.9 %)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640080" y="2606040"/>
            <a:ext cx="35636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+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Lowest hallucination rate (0.0 %)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640080" y="2971800"/>
            <a:ext cx="35636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+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Best SOAP score (4.4 / 8)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7"/>
          <p:cNvSpPr/>
          <p:nvPr/>
        </p:nvSpPr>
        <p:spPr>
          <a:xfrm>
            <a:off x="4754880" y="1188720"/>
            <a:ext cx="3929400" cy="2649240"/>
          </a:xfrm>
          <a:prstGeom prst="roundRect">
            <a:avLst>
              <a:gd name="adj" fmla="val 5172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 8"/>
          <p:cNvSpPr/>
          <p:nvPr/>
        </p:nvSpPr>
        <p:spPr>
          <a:xfrm>
            <a:off x="4937760" y="1325880"/>
            <a:ext cx="2740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D04A3A"/>
                </a:solidFill>
                <a:effectLst/>
                <a:uFillTx/>
                <a:latin typeface="DejaVu Serif"/>
                <a:ea typeface="DejaVu Serif"/>
              </a:rPr>
              <a:t>But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4937760" y="1645920"/>
            <a:ext cx="35636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Still not clinically usable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0"/>
          <p:cNvSpPr/>
          <p:nvPr/>
        </p:nvSpPr>
        <p:spPr>
          <a:xfrm>
            <a:off x="4937760" y="2240280"/>
            <a:ext cx="35636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-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Zero runs reached 'acceptable'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1"/>
          <p:cNvSpPr/>
          <p:nvPr/>
        </p:nvSpPr>
        <p:spPr>
          <a:xfrm>
            <a:off x="4937760" y="2606040"/>
            <a:ext cx="35636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-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Plan section averaged 0.1 / 2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2"/>
          <p:cNvSpPr/>
          <p:nvPr/>
        </p:nvSpPr>
        <p:spPr>
          <a:xfrm>
            <a:off x="4937760" y="2971800"/>
            <a:ext cx="35636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-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Performance collapses with bad audio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3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4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14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59" dur="indefinite" restart="never" nodeType="tmRoot">
          <p:childTnLst>
            <p:seq>
              <p:cTn id="260" dur="indefinite" nodeType="mainSeq">
                <p:childTnLst>
                  <p:par>
                    <p:cTn id="261" fill="hold">
                      <p:stCondLst>
                        <p:cond delay="indefinite"/>
                      </p:stCondLst>
                      <p:childTnLst>
                        <p:par>
                          <p:cTn id="262" fill="hold">
                            <p:stCondLst>
                              <p:cond delay="0"/>
                            </p:stCondLst>
                            <p:childTnLst>
                              <p:par>
                                <p:cTn id="26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What we deliberately left out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"/>
          <p:cNvSpPr/>
          <p:nvPr/>
        </p:nvSpPr>
        <p:spPr>
          <a:xfrm>
            <a:off x="411480" y="1280160"/>
            <a:ext cx="2649240" cy="255780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Shape 2"/>
          <p:cNvSpPr/>
          <p:nvPr/>
        </p:nvSpPr>
        <p:spPr>
          <a:xfrm>
            <a:off x="411480" y="1280160"/>
            <a:ext cx="70560" cy="255780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 3"/>
          <p:cNvSpPr/>
          <p:nvPr/>
        </p:nvSpPr>
        <p:spPr>
          <a:xfrm>
            <a:off x="640080" y="1463040"/>
            <a:ext cx="5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⏱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4"/>
          <p:cNvSpPr/>
          <p:nvPr/>
        </p:nvSpPr>
        <p:spPr>
          <a:xfrm>
            <a:off x="640080" y="2011680"/>
            <a:ext cx="22834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No real-time mode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5"/>
          <p:cNvSpPr/>
          <p:nvPr/>
        </p:nvSpPr>
        <p:spPr>
          <a:xfrm>
            <a:off x="640080" y="2514600"/>
            <a:ext cx="228348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Batch over streaming — to isolate model quality from latency engineering.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6"/>
          <p:cNvSpPr/>
          <p:nvPr/>
        </p:nvSpPr>
        <p:spPr>
          <a:xfrm>
            <a:off x="3246120" y="1280160"/>
            <a:ext cx="2649240" cy="255780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" name="Shape 7"/>
          <p:cNvSpPr/>
          <p:nvPr/>
        </p:nvSpPr>
        <p:spPr>
          <a:xfrm>
            <a:off x="3246120" y="1280160"/>
            <a:ext cx="70560" cy="255780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 8"/>
          <p:cNvSpPr/>
          <p:nvPr/>
        </p:nvSpPr>
        <p:spPr>
          <a:xfrm>
            <a:off x="3474720" y="1463040"/>
            <a:ext cx="5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🔄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9"/>
          <p:cNvSpPr/>
          <p:nvPr/>
        </p:nvSpPr>
        <p:spPr>
          <a:xfrm>
            <a:off x="3474720" y="2011680"/>
            <a:ext cx="22834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No prompt iteration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0"/>
          <p:cNvSpPr/>
          <p:nvPr/>
        </p:nvSpPr>
        <p:spPr>
          <a:xfrm>
            <a:off x="3474720" y="2514600"/>
            <a:ext cx="228348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Same prompt for all models. The Plan section is highly prompt-sensitive.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1"/>
          <p:cNvSpPr/>
          <p:nvPr/>
        </p:nvSpPr>
        <p:spPr>
          <a:xfrm>
            <a:off x="6080760" y="1280160"/>
            <a:ext cx="2649240" cy="255780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" name="Shape 12"/>
          <p:cNvSpPr/>
          <p:nvPr/>
        </p:nvSpPr>
        <p:spPr>
          <a:xfrm>
            <a:off x="6080760" y="1280160"/>
            <a:ext cx="70560" cy="255780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 13"/>
          <p:cNvSpPr/>
          <p:nvPr/>
        </p:nvSpPr>
        <p:spPr>
          <a:xfrm>
            <a:off x="6309360" y="1463040"/>
            <a:ext cx="5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🇩🇪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4"/>
          <p:cNvSpPr/>
          <p:nvPr/>
        </p:nvSpPr>
        <p:spPr>
          <a:xfrm>
            <a:off x="6309360" y="2011680"/>
            <a:ext cx="22834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German only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5"/>
          <p:cNvSpPr/>
          <p:nvPr/>
        </p:nvSpPr>
        <p:spPr>
          <a:xfrm>
            <a:off x="6309360" y="2514600"/>
            <a:ext cx="228348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All scenarios in German. Generalization to other languages untested.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6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7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15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5" dur="indefinite" restart="never" nodeType="tmRoot">
          <p:childTnLst>
            <p:seq>
              <p:cTn id="276" dur="indefinite" nodeType="mainSeq">
                <p:childTnLst>
                  <p:par>
                    <p:cTn id="277" fill="hold">
                      <p:stCondLst>
                        <p:cond delay="indefinite"/>
                      </p:stCondLst>
                      <p:childTnLst>
                        <p:par>
                          <p:cTn id="278" fill="hold">
                            <p:stCondLst>
                              <p:cond delay="0"/>
                            </p:stCondLst>
                            <p:childTnLst>
                              <p:par>
                                <p:cTn id="27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9" fill="hold">
                      <p:stCondLst>
                        <p:cond delay="indefinite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1" fill="hold">
                      <p:stCondLst>
                        <p:cond delay="indefinite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best model and the safe model aren't the same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"/>
          <p:cNvSpPr/>
          <p:nvPr/>
        </p:nvSpPr>
        <p:spPr>
          <a:xfrm>
            <a:off x="1097280" y="4389120"/>
            <a:ext cx="4572000" cy="360"/>
          </a:xfrm>
          <a:prstGeom prst="line">
            <a:avLst/>
          </a:prstGeom>
          <a:ln w="190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" name="Shape 2"/>
          <p:cNvSpPr/>
          <p:nvPr/>
        </p:nvSpPr>
        <p:spPr>
          <a:xfrm>
            <a:off x="1097280" y="1188720"/>
            <a:ext cx="360" cy="3200400"/>
          </a:xfrm>
          <a:prstGeom prst="line">
            <a:avLst/>
          </a:prstGeom>
          <a:ln w="190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3383280" y="1188720"/>
            <a:ext cx="360" cy="3200400"/>
          </a:xfrm>
          <a:prstGeom prst="line">
            <a:avLst/>
          </a:prstGeom>
          <a:ln w="6350">
            <a:solidFill>
              <a:srgbClr val="3A3D4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1097280" y="2788920"/>
            <a:ext cx="4572000" cy="360"/>
          </a:xfrm>
          <a:prstGeom prst="line">
            <a:avLst/>
          </a:prstGeom>
          <a:ln w="6350">
            <a:solidFill>
              <a:srgbClr val="3A3D4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1097280" y="4530960"/>
            <a:ext cx="4569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SOAP Quality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 rot="16200000">
            <a:off x="423720" y="2356560"/>
            <a:ext cx="9118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Data sovereignty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7"/>
          <p:cNvSpPr/>
          <p:nvPr/>
        </p:nvSpPr>
        <p:spPr>
          <a:xfrm>
            <a:off x="960120" y="4407480"/>
            <a:ext cx="271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0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8"/>
          <p:cNvSpPr/>
          <p:nvPr/>
        </p:nvSpPr>
        <p:spPr>
          <a:xfrm>
            <a:off x="3246120" y="4407480"/>
            <a:ext cx="271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4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9"/>
          <p:cNvSpPr/>
          <p:nvPr/>
        </p:nvSpPr>
        <p:spPr>
          <a:xfrm>
            <a:off x="5532120" y="4407480"/>
            <a:ext cx="271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8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0"/>
          <p:cNvSpPr/>
          <p:nvPr/>
        </p:nvSpPr>
        <p:spPr>
          <a:xfrm>
            <a:off x="2160360" y="1097640"/>
            <a:ext cx="271800" cy="271800"/>
          </a:xfrm>
          <a:prstGeom prst="ellipse">
            <a:avLst/>
          </a:prstGeom>
          <a:solidFill>
            <a:srgbClr val="3DA070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 11"/>
          <p:cNvSpPr/>
          <p:nvPr/>
        </p:nvSpPr>
        <p:spPr>
          <a:xfrm>
            <a:off x="1320120" y="1344240"/>
            <a:ext cx="1369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3DA070"/>
                </a:solidFill>
                <a:effectLst/>
                <a:uFillTx/>
                <a:latin typeface="DejaVu Serif"/>
                <a:ea typeface="DejaVu Serif"/>
              </a:rPr>
              <a:t>Llama 3.2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2"/>
          <p:cNvSpPr/>
          <p:nvPr/>
        </p:nvSpPr>
        <p:spPr>
          <a:xfrm>
            <a:off x="2783160" y="1097640"/>
            <a:ext cx="271800" cy="271800"/>
          </a:xfrm>
          <a:prstGeom prst="ellipse">
            <a:avLst/>
          </a:prstGeom>
          <a:solidFill>
            <a:srgbClr val="3DA070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 13"/>
          <p:cNvSpPr/>
          <p:nvPr/>
        </p:nvSpPr>
        <p:spPr>
          <a:xfrm>
            <a:off x="2046240" y="891720"/>
            <a:ext cx="1369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3DA070"/>
                </a:solidFill>
                <a:effectLst/>
                <a:uFillTx/>
                <a:latin typeface="DejaVu Serif"/>
                <a:ea typeface="DejaVu Serif"/>
              </a:rPr>
              <a:t>Sauerkraut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14"/>
          <p:cNvSpPr/>
          <p:nvPr/>
        </p:nvSpPr>
        <p:spPr>
          <a:xfrm>
            <a:off x="2886840" y="1097640"/>
            <a:ext cx="271800" cy="271800"/>
          </a:xfrm>
          <a:prstGeom prst="ellipse">
            <a:avLst/>
          </a:prstGeom>
          <a:solidFill>
            <a:srgbClr val="3DA070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 15"/>
          <p:cNvSpPr/>
          <p:nvPr/>
        </p:nvSpPr>
        <p:spPr>
          <a:xfrm>
            <a:off x="2560680" y="1363680"/>
            <a:ext cx="1369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3DA070"/>
                </a:solidFill>
                <a:effectLst/>
                <a:uFillTx/>
                <a:latin typeface="DejaVu Serif"/>
                <a:ea typeface="DejaVu Serif"/>
              </a:rPr>
              <a:t>Gemma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6"/>
          <p:cNvSpPr/>
          <p:nvPr/>
        </p:nvSpPr>
        <p:spPr>
          <a:xfrm>
            <a:off x="3531960" y="2651760"/>
            <a:ext cx="271800" cy="271800"/>
          </a:xfrm>
          <a:prstGeom prst="ellipse">
            <a:avLst/>
          </a:prstGeom>
          <a:solidFill>
            <a:srgbClr val="D89614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17"/>
          <p:cNvSpPr/>
          <p:nvPr/>
        </p:nvSpPr>
        <p:spPr>
          <a:xfrm>
            <a:off x="3257640" y="2468880"/>
            <a:ext cx="1369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89614"/>
                </a:solidFill>
                <a:effectLst/>
                <a:uFillTx/>
                <a:latin typeface="DejaVu Serif"/>
                <a:ea typeface="DejaVu Serif"/>
              </a:rPr>
              <a:t>Speechmatics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8"/>
          <p:cNvSpPr/>
          <p:nvPr/>
        </p:nvSpPr>
        <p:spPr>
          <a:xfrm>
            <a:off x="3417480" y="3996000"/>
            <a:ext cx="271800" cy="271800"/>
          </a:xfrm>
          <a:prstGeom prst="ellipse">
            <a:avLst/>
          </a:prstGeom>
          <a:solidFill>
            <a:srgbClr val="D04A3A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 19"/>
          <p:cNvSpPr/>
          <p:nvPr/>
        </p:nvSpPr>
        <p:spPr>
          <a:xfrm>
            <a:off x="3143160" y="3813120"/>
            <a:ext cx="1369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04A3A"/>
                </a:solidFill>
                <a:effectLst/>
                <a:uFillTx/>
                <a:latin typeface="DejaVu Serif"/>
                <a:ea typeface="DejaVu Serif"/>
              </a:rPr>
              <a:t>Assembly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21"/>
          <p:cNvSpPr/>
          <p:nvPr/>
        </p:nvSpPr>
        <p:spPr>
          <a:xfrm>
            <a:off x="4628880" y="1271520"/>
            <a:ext cx="12776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Where we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want to be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23"/>
          <p:cNvSpPr/>
          <p:nvPr/>
        </p:nvSpPr>
        <p:spPr>
          <a:xfrm>
            <a:off x="6492600" y="2171880"/>
            <a:ext cx="180360" cy="180360"/>
          </a:xfrm>
          <a:prstGeom prst="ellipse">
            <a:avLst/>
          </a:prstGeom>
          <a:solidFill>
            <a:srgbClr val="3DA070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 24"/>
          <p:cNvSpPr/>
          <p:nvPr/>
        </p:nvSpPr>
        <p:spPr>
          <a:xfrm>
            <a:off x="6766920" y="2126160"/>
            <a:ext cx="25578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Local models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5"/>
          <p:cNvSpPr/>
          <p:nvPr/>
        </p:nvSpPr>
        <p:spPr>
          <a:xfrm>
            <a:off x="6766920" y="2354760"/>
            <a:ext cx="25578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fully on-premise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26"/>
          <p:cNvSpPr/>
          <p:nvPr/>
        </p:nvSpPr>
        <p:spPr>
          <a:xfrm>
            <a:off x="6492600" y="2674800"/>
            <a:ext cx="180360" cy="180360"/>
          </a:xfrm>
          <a:prstGeom prst="ellipse">
            <a:avLst/>
          </a:prstGeom>
          <a:solidFill>
            <a:srgbClr val="D89614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 27"/>
          <p:cNvSpPr/>
          <p:nvPr/>
        </p:nvSpPr>
        <p:spPr>
          <a:xfrm>
            <a:off x="6766920" y="2629080"/>
            <a:ext cx="25578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Speechmatics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8"/>
          <p:cNvSpPr/>
          <p:nvPr/>
        </p:nvSpPr>
        <p:spPr>
          <a:xfrm>
            <a:off x="6766920" y="2857680"/>
            <a:ext cx="25578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STT in EU, LLM in US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29"/>
          <p:cNvSpPr/>
          <p:nvPr/>
        </p:nvSpPr>
        <p:spPr>
          <a:xfrm>
            <a:off x="6492600" y="3177720"/>
            <a:ext cx="180360" cy="180360"/>
          </a:xfrm>
          <a:prstGeom prst="ellipse">
            <a:avLst/>
          </a:prstGeom>
          <a:solidFill>
            <a:srgbClr val="D04A3A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6" name="Text 30"/>
          <p:cNvSpPr/>
          <p:nvPr/>
        </p:nvSpPr>
        <p:spPr>
          <a:xfrm>
            <a:off x="6766920" y="3132000"/>
            <a:ext cx="25578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Assembly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31"/>
          <p:cNvSpPr/>
          <p:nvPr/>
        </p:nvSpPr>
        <p:spPr>
          <a:xfrm>
            <a:off x="6766920" y="3360600"/>
            <a:ext cx="25578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fully US-hosted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2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33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16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13" dur="indefinite" restart="never" nodeType="tmRoot">
          <p:childTnLst>
            <p:seq>
              <p:cTn id="314" dur="indefinite" nodeType="mainSeq">
                <p:childTnLst>
                  <p:par>
                    <p:cTn id="315" fill="hold">
                      <p:stCondLst>
                        <p:cond delay="indefinite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5" fill="hold">
                      <p:stCondLst>
                        <p:cond delay="indefinite"/>
                      </p:stCondLst>
                      <p:childTnLst>
                        <p:par>
                          <p:cTn id="336" fill="hold">
                            <p:stCondLst>
                              <p:cond delay="0"/>
                            </p:stCondLst>
                            <p:childTnLst>
                              <p:par>
                                <p:cTn id="33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7" fill="hold">
                      <p:stCondLst>
                        <p:cond delay="indefinite"/>
                      </p:stCondLst>
                      <p:childTnLst>
                        <p:par>
                          <p:cTn id="348" fill="hold">
                            <p:stCondLst>
                              <p:cond delay="0"/>
                            </p:stCondLst>
                            <p:childTnLst>
                              <p:par>
                                <p:cTn id="34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Three concrete next steps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1"/>
          <p:cNvSpPr/>
          <p:nvPr/>
        </p:nvSpPr>
        <p:spPr>
          <a:xfrm>
            <a:off x="457200" y="1188720"/>
            <a:ext cx="820440" cy="91188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457200" y="1188720"/>
            <a:ext cx="8204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01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1371600" y="1188720"/>
            <a:ext cx="7312680" cy="911880"/>
          </a:xfrm>
          <a:prstGeom prst="roundRect">
            <a:avLst>
              <a:gd name="adj" fmla="val 15000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4" name="Text 4"/>
          <p:cNvSpPr/>
          <p:nvPr/>
        </p:nvSpPr>
        <p:spPr>
          <a:xfrm>
            <a:off x="1554480" y="1280160"/>
            <a:ext cx="69469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Scale up the local stack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1554480" y="1691640"/>
            <a:ext cx="69469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Expected: Close the cloud-vs-local quality gap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6"/>
          <p:cNvSpPr/>
          <p:nvPr/>
        </p:nvSpPr>
        <p:spPr>
          <a:xfrm>
            <a:off x="457200" y="2331720"/>
            <a:ext cx="820440" cy="91188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457200" y="2331720"/>
            <a:ext cx="8204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02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8"/>
          <p:cNvSpPr/>
          <p:nvPr/>
        </p:nvSpPr>
        <p:spPr>
          <a:xfrm>
            <a:off x="1371600" y="2331720"/>
            <a:ext cx="7312680" cy="911880"/>
          </a:xfrm>
          <a:prstGeom prst="roundRect">
            <a:avLst>
              <a:gd name="adj" fmla="val 15000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9" name="Text 9"/>
          <p:cNvSpPr/>
          <p:nvPr/>
        </p:nvSpPr>
        <p:spPr>
          <a:xfrm>
            <a:off x="1554480" y="2423160"/>
            <a:ext cx="69469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Prompt engineering for better SOAP quality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0"/>
          <p:cNvSpPr/>
          <p:nvPr/>
        </p:nvSpPr>
        <p:spPr>
          <a:xfrm>
            <a:off x="1554480" y="2834640"/>
            <a:ext cx="69469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Expected: Lift average P-score from 0.1 to 1.0+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1"/>
          <p:cNvSpPr/>
          <p:nvPr/>
        </p:nvSpPr>
        <p:spPr>
          <a:xfrm>
            <a:off x="457200" y="3474720"/>
            <a:ext cx="820440" cy="91188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457200" y="3474720"/>
            <a:ext cx="8204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03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13"/>
          <p:cNvSpPr/>
          <p:nvPr/>
        </p:nvSpPr>
        <p:spPr>
          <a:xfrm>
            <a:off x="1371600" y="3474720"/>
            <a:ext cx="7312680" cy="911880"/>
          </a:xfrm>
          <a:prstGeom prst="roundRect">
            <a:avLst>
              <a:gd name="adj" fmla="val 15000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 14"/>
          <p:cNvSpPr/>
          <p:nvPr/>
        </p:nvSpPr>
        <p:spPr>
          <a:xfrm>
            <a:off x="1554480" y="3566160"/>
            <a:ext cx="69469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Real-time streaming UX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1554480" y="3977640"/>
            <a:ext cx="69469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Expected: Draft note ready before patient leaves the room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6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7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17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59" dur="indefinite" restart="never" nodeType="tmRoot">
          <p:childTnLst>
            <p:seq>
              <p:cTn id="360" dur="indefinite" nodeType="mainSeq">
                <p:childTnLst>
                  <p:par>
                    <p:cTn id="361" fill="hold">
                      <p:stCondLst>
                        <p:cond delay="indefinite"/>
                      </p:stCondLst>
                      <p:childTnLst>
                        <p:par>
                          <p:cTn id="362" fill="hold">
                            <p:stCondLst>
                              <p:cond delay="0"/>
                            </p:stCondLst>
                            <p:childTnLst>
                              <p:par>
                                <p:cTn id="36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3" fill="hold">
                      <p:stCondLst>
                        <p:cond delay="indefinite"/>
                      </p:stCondLst>
                      <p:childTnLst>
                        <p:par>
                          <p:cTn id="374" fill="hold">
                            <p:stCondLst>
                              <p:cond delay="0"/>
                            </p:stCondLst>
                            <p:childTnLst>
                              <p:par>
                                <p:cTn id="37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5" fill="hold">
                      <p:stCondLst>
                        <p:cond delay="indefinite"/>
                      </p:stCondLst>
                      <p:childTnLst>
                        <p:par>
                          <p:cTn id="386" fill="hold">
                            <p:stCondLst>
                              <p:cond delay="0"/>
                            </p:stCondLst>
                            <p:childTnLst>
                              <p:par>
                                <p:cTn id="38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ext 0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If you remember only three things...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"/>
          <p:cNvSpPr/>
          <p:nvPr/>
        </p:nvSpPr>
        <p:spPr>
          <a:xfrm>
            <a:off x="365760" y="1188720"/>
            <a:ext cx="9118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1</a:t>
            </a:r>
            <a:endParaRPr lang="de-DE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"/>
          <p:cNvSpPr/>
          <p:nvPr/>
        </p:nvSpPr>
        <p:spPr>
          <a:xfrm>
            <a:off x="1371600" y="1188720"/>
            <a:ext cx="73126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pipeline works — the Plan section doesn't.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365760" y="2286000"/>
            <a:ext cx="9118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2</a:t>
            </a:r>
            <a:endParaRPr lang="de-DE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4"/>
          <p:cNvSpPr/>
          <p:nvPr/>
        </p:nvSpPr>
        <p:spPr>
          <a:xfrm>
            <a:off x="1371600" y="2286000"/>
            <a:ext cx="73126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Hardware and model size are the bottleneck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DejaVu Serif"/>
                <a:ea typeface="DejaVu Serif"/>
              </a:rPr>
              <a:t>.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365760" y="3383280"/>
            <a:ext cx="9118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3</a:t>
            </a:r>
            <a:endParaRPr lang="de-DE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1371600" y="3383280"/>
            <a:ext cx="73126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Assistive today. Autonomous tomorrow?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8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9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18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97" dur="indefinite" restart="never" nodeType="tmRoot">
          <p:childTnLst>
            <p:seq>
              <p:cTn id="398" dur="indefinite" nodeType="mainSeq">
                <p:childTnLst>
                  <p:par>
                    <p:cTn id="399" fill="hold">
                      <p:stCondLst>
                        <p:cond delay="indefinite"/>
                      </p:stCondLst>
                      <p:childTnLst>
                        <p:par>
                          <p:cTn id="400" fill="hold">
                            <p:stCondLst>
                              <p:cond delay="0"/>
                            </p:stCondLst>
                            <p:childTnLst>
                              <p:par>
                                <p:cTn id="40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5" fill="hold">
                      <p:stCondLst>
                        <p:cond delay="indefinite"/>
                      </p:stCondLst>
                      <p:childTnLst>
                        <p:par>
                          <p:cTn id="406" fill="hold">
                            <p:stCondLst>
                              <p:cond delay="0"/>
                            </p:stCondLst>
                            <p:childTnLst>
                              <p:par>
                                <p:cTn id="40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1" fill="hold">
                      <p:stCondLst>
                        <p:cond delay="indefinite"/>
                      </p:stCondLst>
                      <p:childTnLst>
                        <p:par>
                          <p:cTn id="412" fill="hold">
                            <p:stCondLst>
                              <p:cond delay="0"/>
                            </p:stCondLst>
                            <p:childTnLst>
                              <p:par>
                                <p:cTn id="4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0"/>
          <p:cNvSpPr/>
          <p:nvPr/>
        </p:nvSpPr>
        <p:spPr>
          <a:xfrm>
            <a:off x="6400800" y="548640"/>
            <a:ext cx="2374920" cy="317520"/>
          </a:xfrm>
          <a:prstGeom prst="parallelogram">
            <a:avLst>
              <a:gd name="adj" fmla="val 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8" name="Shape 1"/>
          <p:cNvSpPr/>
          <p:nvPr/>
        </p:nvSpPr>
        <p:spPr>
          <a:xfrm>
            <a:off x="6583680" y="1005840"/>
            <a:ext cx="2192040" cy="253440"/>
          </a:xfrm>
          <a:prstGeom prst="parallelogram">
            <a:avLst>
              <a:gd name="adj" fmla="val 25000"/>
            </a:avLst>
          </a:prstGeom>
          <a:solidFill>
            <a:srgbClr val="D04A02">
              <a:alpha val="5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 2"/>
          <p:cNvSpPr/>
          <p:nvPr/>
        </p:nvSpPr>
        <p:spPr>
          <a:xfrm>
            <a:off x="457200" y="1645920"/>
            <a:ext cx="822708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Questions?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457200" y="3749040"/>
            <a:ext cx="822708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Thank you.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4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5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19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355</TotalTime>
  <Application>LibreOffice/26.2.1.2$Linux_X86_64 LibreOffice_project/620$Build-2</Application>
  <AppVersion>15.0000</AppVersion>
  <Words>982</Words>
  <Paragraphs>254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2026-05-15T07:25:02Z</dcterms:created>
  <dc:creator>Anton Reinhard &amp; Leonard Niedens</dc:creator>
  <dc:description/>
  <dc:language>de-DE</dc:language>
  <cp:lastModifiedBy/>
  <dcterms:modified xsi:type="dcterms:W3CDTF">2026-05-20T09:35:23Z</dcterms:modified>
  <cp:revision>22</cp:revision>
  <dc:subject>PptxGenJS Presentation</dc:subject>
  <dc:title>AI-Anamnesis of Patients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0x01010009ABEE73BF99044B8E88242258EF819B</vt:lpwstr>
  </property>
  <property fmtid="{D5CDD505-2E9C-101B-9397-08002B2CF9AE}" pid="3" name="Notes">
    <vt:i4>19</vt:i4>
  </property>
  <property fmtid="{D5CDD505-2E9C-101B-9397-08002B2CF9AE}" pid="4" name="PresentationFormat">
    <vt:lpwstr>Bildschirmpräsentation (16:9)</vt:lpwstr>
  </property>
  <property fmtid="{D5CDD505-2E9C-101B-9397-08002B2CF9AE}" pid="5" name="Slides">
    <vt:i4>19</vt:i4>
  </property>
</Properties>
</file>