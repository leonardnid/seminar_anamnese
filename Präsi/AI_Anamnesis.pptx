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5.xml" ContentType="application/vnd.openxmlformats-officedocument.drawingml.chart+xml"/>
  <Override PartName="/ppt/charts/colors5.xml" ContentType="application/vnd.ms-office.chartcolorstyle+xml"/>
  <Override PartName="/ppt/charts/style5.xml" ContentType="application/vnd.ms-office.chartstyle+xml"/>
  <Override PartName="/ppt/charts/colors3.xml" ContentType="application/vnd.ms-office.chartcolorstyle+xml"/>
  <Override PartName="/ppt/charts/style1.xml" ContentType="application/vnd.ms-office.chartstyle+xml"/>
  <Override PartName="/ppt/charts/chart1.xml" ContentType="application/vnd.openxmlformats-officedocument.drawingml.chart+xml"/>
  <Override PartName="/ppt/charts/style4.xml" ContentType="application/vnd.ms-office.chartstyle+xml"/>
  <Override PartName="/ppt/charts/colors4.xml" ContentType="application/vnd.ms-office.chartcolorstyle+xml"/>
  <Override PartName="/ppt/charts/chart3.xml" ContentType="application/vnd.openxmlformats-officedocument.drawingml.chart+xml"/>
  <Override PartName="/ppt/charts/chart2.xml" ContentType="application/vnd.openxmlformats-officedocument.drawingml.chart+xml"/>
  <Override PartName="/ppt/charts/colors2.xml" ContentType="application/vnd.ms-office.chartcolorstyle+xml"/>
  <Override PartName="/ppt/charts/style3.xml" ContentType="application/vnd.ms-office.chartstyle+xml"/>
  <Override PartName="/ppt/charts/colors1.xml" ContentType="application/vnd.ms-office.chartcolorstyle+xml"/>
  <Override PartName="/ppt/charts/style2.xml" ContentType="application/vnd.ms-office.chartstyle+xml"/>
  <Override PartName="/ppt/charts/chart4.xml" ContentType="application/vnd.openxmlformats-officedocument.drawingml.chart+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5.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x="9144000" cy="51435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_rels/chart3.xml.rels><?xml version="1.0" encoding="UTF-8"?>
<Relationships xmlns="http://schemas.openxmlformats.org/package/2006/relationships"><Relationship Id="rId1" Type="http://schemas.microsoft.com/office/2011/relationships/chartStyle" Target="style3.xml"/><Relationship Id="rId2" Type="http://schemas.microsoft.com/office/2011/relationships/chartColorStyle" Target="colors3.xml"/>
</Relationships>
</file>

<file path=ppt/charts/_rels/chart4.xml.rels><?xml version="1.0" encoding="UTF-8"?>
<Relationships xmlns="http://schemas.openxmlformats.org/package/2006/relationships"><Relationship Id="rId1" Type="http://schemas.microsoft.com/office/2011/relationships/chartStyle" Target="style4.xml"/><Relationship Id="rId2" Type="http://schemas.microsoft.com/office/2011/relationships/chartColorStyle" Target="colors4.xml"/>
</Relationships>
</file>

<file path=ppt/charts/_rels/chart5.xml.rels><?xml version="1.0" encoding="UTF-8"?>
<Relationships xmlns="http://schemas.openxmlformats.org/package/2006/relationships"><Relationship Id="rId1" Type="http://schemas.microsoft.com/office/2011/relationships/chartStyle" Target="style5.xml"/><Relationship Id="rId2" Type="http://schemas.microsoft.com/office/2011/relationships/chartColorStyle" Target="colors5.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WER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D04A02"/>
              </a:solidFill>
              <a:ln w="0">
                <a:noFill/>
              </a:ln>
            </c:spPr>
          </c:dPt>
          <c:dPt>
            <c:idx val="2"/>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 Assembly</c:v>
                </c:pt>
                <c:pt idx="1">
                  <c:v>☁ Speechmatics</c:v>
                </c:pt>
                <c:pt idx="2">
                  <c:v>▣ Whisper (avg)</c:v>
                </c:pt>
              </c:strCache>
            </c:strRef>
          </c:cat>
          <c:val>
            <c:numRef>
              <c:f>0</c:f>
              <c:numCache>
                <c:formatCode>General</c:formatCode>
                <c:ptCount val="3"/>
                <c:pt idx="0">
                  <c:v>8.9</c:v>
                </c:pt>
                <c:pt idx="1">
                  <c:v>11.4</c:v>
                </c:pt>
                <c:pt idx="2">
                  <c:v>13.5</c:v>
                </c:pt>
              </c:numCache>
            </c:numRef>
          </c:val>
        </c:ser>
        <c:gapWidth val="60"/>
        <c:overlap val="0"/>
        <c:axId val="3318019"/>
        <c:axId val="51208047"/>
      </c:barChart>
      <c:catAx>
        <c:axId val="3318019"/>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51208047"/>
        <c:crosses val="autoZero"/>
        <c:auto val="1"/>
        <c:lblAlgn val="ctr"/>
        <c:lblOffset val="100"/>
        <c:noMultiLvlLbl val="0"/>
      </c:catAx>
      <c:valAx>
        <c:axId val="51208047"/>
        <c:scaling>
          <c:orientation val="minMax"/>
          <c:max val="16"/>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3318019"/>
        <c:crosses val="autoZero"/>
        <c:crossBetween val="between"/>
      </c:valAx>
      <c:spPr>
        <a:noFill/>
        <a:ln w="0">
          <a:noFill/>
        </a:ln>
      </c:spPr>
    </c:plotArea>
    <c:plotVisOnly val="1"/>
    <c:dispBlanksAs val="span"/>
  </c:chart>
  <c:spPr>
    <a:solidFill>
      <a:srgbClr val="1A1A1A"/>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(cloud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48012151"/>
        <c:axId val="6324181"/>
      </c:barChart>
      <c:catAx>
        <c:axId val="48012151"/>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6324181"/>
        <c:crosses val="autoZero"/>
        <c:auto val="1"/>
        <c:lblAlgn val="ctr"/>
        <c:lblOffset val="100"/>
        <c:noMultiLvlLbl val="0"/>
      </c:catAx>
      <c:valAx>
        <c:axId val="6324181"/>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48012151"/>
        <c:crosses val="autoZero"/>
        <c:crossBetween val="between"/>
      </c:valAx>
      <c:spPr>
        <a:noFill/>
        <a:ln w="0">
          <a:noFill/>
        </a:ln>
      </c:spPr>
    </c:plotArea>
    <c:plotVisOnly val="1"/>
    <c:dispBlanksAs val="span"/>
  </c:chart>
  <c:spPr>
    <a:solidFill>
      <a:srgbClr val="1A1A1A"/>
    </a:solid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30664057"/>
        <c:axId val="62827057"/>
      </c:barChart>
      <c:catAx>
        <c:axId val="30664057"/>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62827057"/>
        <c:crosses val="autoZero"/>
        <c:auto val="1"/>
        <c:lblAlgn val="ctr"/>
        <c:lblOffset val="100"/>
        <c:noMultiLvlLbl val="0"/>
      </c:catAx>
      <c:valAx>
        <c:axId val="62827057"/>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30664057"/>
        <c:crosses val="autoZero"/>
        <c:crossBetween val="between"/>
      </c:valAx>
      <c:spPr>
        <a:noFill/>
        <a:ln w="0">
          <a:noFill/>
        </a:ln>
      </c:spPr>
    </c:plotArea>
    <c:plotVisOnly val="1"/>
    <c:dispBlanksAs val="span"/>
  </c:chart>
  <c:spPr>
    <a:solidFill>
      <a:srgbClr val="1A1A1A"/>
    </a:solid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Word count</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Lbls>
            <c:dLbl>
              <c:idx val="0"/>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2"/>
                <c:pt idx="0">
                  <c:v>After SauerkrautLM</c:v>
                </c:pt>
                <c:pt idx="1">
                  <c:v>Ground Truth</c:v>
                </c:pt>
              </c:strCache>
            </c:strRef>
          </c:cat>
          <c:val>
            <c:numRef>
              <c:f>0</c:f>
              <c:numCache>
                <c:formatCode>General</c:formatCode>
                <c:ptCount val="2"/>
                <c:pt idx="0">
                  <c:v>152</c:v>
                </c:pt>
                <c:pt idx="1">
                  <c:v>2269</c:v>
                </c:pt>
              </c:numCache>
            </c:numRef>
          </c:val>
        </c:ser>
        <c:gapWidth val="60"/>
        <c:overlap val="0"/>
        <c:axId val="14390241"/>
        <c:axId val="96611013"/>
      </c:barChart>
      <c:catAx>
        <c:axId val="14390241"/>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96611013"/>
        <c:crosses val="autoZero"/>
        <c:auto val="1"/>
        <c:lblAlgn val="ctr"/>
        <c:lblOffset val="100"/>
        <c:noMultiLvlLbl val="0"/>
      </c:catAx>
      <c:valAx>
        <c:axId val="96611013"/>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14390241"/>
        <c:crosses val="autoZero"/>
        <c:crossBetween val="between"/>
      </c:valAx>
      <c:spPr>
        <a:noFill/>
        <a:ln w="0">
          <a:noFill/>
        </a:ln>
      </c:spPr>
    </c:plotArea>
    <c:plotVisOnly val="1"/>
    <c:dispBlanksAs val="span"/>
  </c:chart>
  <c:spPr>
    <a:solidFill>
      <a:srgbClr val="1A1A1A"/>
    </a:solid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Ø SOAP Score</c:v>
                </c:pt>
              </c:strCache>
            </c:strRef>
          </c:tx>
          <c:spPr>
            <a:solidFill>
              <a:srgbClr val="D04A3A"/>
            </a:solidFill>
            <a:ln w="0">
              <a:noFill/>
            </a:ln>
          </c:spPr>
          <c:invertIfNegative val="0"/>
          <c:dPt>
            <c:idx val="0"/>
            <c:invertIfNegative val="0"/>
            <c:spPr>
              <a:solidFill>
                <a:srgbClr val="D04A3A"/>
              </a:solidFill>
              <a:ln w="0">
                <a:noFill/>
              </a:ln>
            </c:spPr>
          </c:dPt>
          <c:dPt>
            <c:idx val="1"/>
            <c:invertIfNegative val="0"/>
            <c:spPr>
              <a:solidFill>
                <a:srgbClr val="D89614"/>
              </a:solidFill>
              <a:ln w="0">
                <a:noFill/>
              </a:ln>
            </c:spPr>
          </c:dPt>
          <c:dPt>
            <c:idx val="2"/>
            <c:invertIfNegative val="0"/>
            <c:spPr>
              <a:solidFill>
                <a:srgbClr val="D89614"/>
              </a:solidFill>
              <a:ln w="0">
                <a:noFill/>
              </a:ln>
            </c:spPr>
          </c:dPt>
          <c:dPt>
            <c:idx val="3"/>
            <c:invertIfNegative val="0"/>
            <c:spPr>
              <a:solidFill>
                <a:srgbClr val="D89614"/>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Llama 3.2</c:v>
                </c:pt>
                <c:pt idx="1">
                  <c:v>▣ Sauerkraut</c:v>
                </c:pt>
                <c:pt idx="2">
                  <c:v>▣ Gemma</c:v>
                </c:pt>
                <c:pt idx="3">
                  <c:v>☁ GPT-4o (avg)</c:v>
                </c:pt>
              </c:strCache>
            </c:strRef>
          </c:cat>
          <c:val>
            <c:numRef>
              <c:f>0</c:f>
              <c:numCache>
                <c:formatCode>General</c:formatCode>
                <c:ptCount val="4"/>
                <c:pt idx="0">
                  <c:v>2.1</c:v>
                </c:pt>
                <c:pt idx="1">
                  <c:v>3.2</c:v>
                </c:pt>
                <c:pt idx="2">
                  <c:v>3.4</c:v>
                </c:pt>
                <c:pt idx="3">
                  <c:v>4.4</c:v>
                </c:pt>
              </c:numCache>
            </c:numRef>
          </c:val>
        </c:ser>
        <c:gapWidth val="60"/>
        <c:overlap val="0"/>
        <c:axId val="88631712"/>
        <c:axId val="80139540"/>
      </c:barChart>
      <c:catAx>
        <c:axId val="88631712"/>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80139540"/>
        <c:crosses val="autoZero"/>
        <c:auto val="1"/>
        <c:lblAlgn val="ctr"/>
        <c:lblOffset val="100"/>
        <c:noMultiLvlLbl val="0"/>
      </c:catAx>
      <c:valAx>
        <c:axId val="80139540"/>
        <c:scaling>
          <c:orientation val="minMax"/>
          <c:max val="8"/>
          <c:min val="0"/>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88631712"/>
        <c:crosses val="autoZero"/>
        <c:crossBetween val="between"/>
        <c:majorUnit val="2"/>
      </c:valAx>
      <c:spPr>
        <a:noFill/>
        <a:ln w="0">
          <a:noFill/>
        </a:ln>
      </c:spPr>
    </c:plotArea>
    <c:plotVisOnly val="1"/>
    <c:dispBlanksAs val="span"/>
  </c:chart>
  <c:spPr>
    <a:solidFill>
      <a:srgbClr val="1A1A1A"/>
    </a:solid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colors3.xml><?xml version="1.0" encoding="utf-8"?>
<cs:colorStyle xmlns:cs="http://schemas.microsoft.com/office/drawing/2012/chartStyle" xmlns:a="http://schemas.openxmlformats.org/drawingml/2006/main" meth="cycle" id="10">
  <a:schemeClr val="accent1"/>
</cs:colorStyle>
</file>

<file path=ppt/charts/colors4.xml><?xml version="1.0" encoding="utf-8"?>
<cs:colorStyle xmlns:cs="http://schemas.microsoft.com/office/drawing/2012/chartStyle" xmlns:a="http://schemas.openxmlformats.org/drawingml/2006/main" meth="cycle" id="10">
  <a:schemeClr val="accent1"/>
</cs:colorStyle>
</file>

<file path=ppt/charts/colors5.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3.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4.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5.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a:r>
              <a:rPr lang="de-DE" sz="4400" b="0" u="none" strike="noStrike">
                <a:solidFill>
                  <a:srgbClr val="000000"/>
                </a:solidFill>
                <a:effectLst/>
                <a:uFillTx/>
                <a:latin typeface="Arial"/>
              </a:rPr>
              <a:t>Folie mittels Klicken verschieben</a:t>
            </a:r>
            <a:endParaRPr lang="de-DE" sz="4400" b="0" u="none" strike="noStrike">
              <a:solidFill>
                <a:srgbClr val="000000"/>
              </a:solidFill>
              <a:effectLst/>
              <a:uFillTx/>
              <a:latin typeface="Arial"/>
            </a:endParaRPr>
          </a:p>
        </p:txBody>
      </p:sp>
      <p:sp>
        <p:nvSpPr>
          <p:cNvPr id="1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de-DE" sz="2000" b="0" u="none" strike="noStrike">
                <a:solidFill>
                  <a:srgbClr val="000000"/>
                </a:solidFill>
                <a:effectLst/>
                <a:uFillTx/>
                <a:latin typeface="Arial"/>
              </a:rPr>
              <a:t>Format der Notizen mittels Klicken bearbeiten</a:t>
            </a:r>
            <a:endParaRPr lang="de-DE" sz="2000" b="0" u="none" strike="noStrike">
              <a:solidFill>
                <a:srgbClr val="000000"/>
              </a:solidFill>
              <a:effectLst/>
              <a:uFillTx/>
              <a:latin typeface="Arial"/>
            </a:endParaRPr>
          </a:p>
        </p:txBody>
      </p:sp>
      <p:sp>
        <p:nvSpPr>
          <p:cNvPr id="12"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effectLst/>
                <a:uFillTx/>
                <a:latin typeface="Times New Roman"/>
              </a:defRPr>
            </a:lvl1pPr>
          </a:lstStyle>
          <a:p>
            <a:pPr indent="0" algn="r">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effectLst/>
                <a:uFillTx/>
                <a:latin typeface="Times New Roman"/>
              </a:defRPr>
            </a:lvl1pPr>
          </a:lstStyle>
          <a:p>
            <a:pPr indent="0" algn="r">
              <a:buNone/>
            </a:pPr>
            <a:fld id="{70229945-1CF8-4FA7-99F1-DFD2D2DA1A7B}" type="slidenum">
              <a:rPr lang="de-DE" sz="1400" b="0" u="none" strike="noStrike">
                <a:solidFill>
                  <a:srgbClr val="000000"/>
                </a:solidFill>
                <a:effectLst/>
                <a:uFillTx/>
                <a:latin typeface="Times New Roman"/>
              </a:rPr>
              <a:t>1</a:t>
            </a:fld>
            <a:endParaRPr lang="de-DE"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sldImg"/>
          </p:nvPr>
        </p:nvSpPr>
        <p:spPr>
          <a:xfrm>
            <a:off x="720000" y="900000"/>
            <a:ext cx="6119640" cy="3441240"/>
          </a:xfrm>
          <a:prstGeom prst="rect">
            <a:avLst/>
          </a:prstGeom>
          <a:ln w="0">
            <a:noFill/>
          </a:ln>
        </p:spPr>
      </p:sp>
      <p:sp>
        <p:nvSpPr>
          <p:cNvPr id="335"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indent="0" algn="l">
              <a:lnSpc>
                <a:spcPct val="100000"/>
              </a:lnSpc>
              <a:buNone/>
            </a:pPr>
            <a:r>
              <a:rPr lang="de-DE" sz="1800" b="0" u="none" strike="noStrike">
                <a:solidFill>
                  <a:srgbClr val="000000"/>
                </a:solidFill>
                <a:effectLst/>
                <a:uFillTx/>
                <a:latin typeface="Arial"/>
              </a:rPr>
              <a:t>Test das sind meine notizer.</a:t>
            </a:r>
            <a:endParaRPr lang="de-DE" sz="1800" b="0" u="none" strike="noStrike">
              <a:solidFill>
                <a:srgbClr val="000000"/>
              </a:solidFill>
              <a:effectLst/>
              <a:uFillTx/>
              <a:latin typeface="Arial"/>
            </a:endParaRPr>
          </a:p>
          <a:p>
            <a:pPr indent="0" algn="l">
              <a:lnSpc>
                <a:spcPct val="100000"/>
              </a:lnSpc>
              <a:buNone/>
            </a:pPr>
            <a:r>
              <a:rPr lang="de-DE" sz="1800" b="0" u="none" strike="noStrike">
                <a:solidFill>
                  <a:srgbClr val="000000"/>
                </a:solidFill>
                <a:effectLst/>
                <a:uFillTx/>
                <a:latin typeface="Arial"/>
              </a:rPr>
              <a:t>Nächste zeile.</a:t>
            </a:r>
            <a:endParaRPr lang="de-DE" sz="1800" b="0" u="none" strike="noStrike">
              <a:solidFill>
                <a:srgbClr val="000000"/>
              </a:solidFill>
              <a:effectLst/>
              <a:uFillTx/>
              <a:latin typeface="Arial"/>
            </a:endParaRPr>
          </a:p>
          <a:p>
            <a:pPr indent="0" algn="l">
              <a:lnSpc>
                <a:spcPct val="100000"/>
              </a:lnSpc>
              <a:buNone/>
            </a:pPr>
            <a:endParaRPr lang="de-DE" sz="1800" b="0" u="none" strike="noStrike">
              <a:solidFill>
                <a:srgbClr val="000000"/>
              </a:solidFill>
              <a:effectLst/>
              <a:uFillTx/>
              <a:latin typeface="Arial"/>
            </a:endParaRPr>
          </a:p>
          <a:p>
            <a:pPr indent="0" algn="l">
              <a:lnSpc>
                <a:spcPct val="100000"/>
              </a:lnSpc>
              <a:buNone/>
            </a:pPr>
            <a:r>
              <a:rPr lang="de-DE" sz="1800" b="0" u="none" strike="noStrike">
                <a:solidFill>
                  <a:srgbClr val="000000"/>
                </a:solidFill>
                <a:effectLst/>
                <a:uFillTx/>
                <a:latin typeface="Arial"/>
              </a:rPr>
              <a:t>HALLOO</a:t>
            </a:r>
            <a:endParaRPr lang="de-DE" sz="1800" b="0" u="none" strike="noStrike">
              <a:solidFill>
                <a:srgbClr val="000000"/>
              </a:solidFill>
              <a:effectLst/>
              <a:uFillTx/>
              <a:latin typeface="Arial"/>
            </a:endParaRPr>
          </a:p>
        </p:txBody>
      </p:sp>
      <p:sp>
        <p:nvSpPr>
          <p:cNvPr id="336" name="PlaceHolder 3"/>
          <p:cNvSpPr>
            <a:spLocks noGrp="1"/>
          </p:cNvSpPr>
          <p:nvPr>
            <p:ph type="sldNum" idx="4"/>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BD73C2B-D148-49A0-99D2-6BF1AD1DAC7F}"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PlaceHolder 1"/>
          <p:cNvSpPr>
            <a:spLocks noGrp="1"/>
          </p:cNvSpPr>
          <p:nvPr>
            <p:ph type="sldImg"/>
          </p:nvPr>
        </p:nvSpPr>
        <p:spPr>
          <a:xfrm>
            <a:off x="720000" y="900000"/>
            <a:ext cx="6119640" cy="3441240"/>
          </a:xfrm>
          <a:prstGeom prst="rect">
            <a:avLst/>
          </a:prstGeom>
          <a:ln w="0">
            <a:noFill/>
          </a:ln>
        </p:spPr>
      </p:sp>
      <p:sp>
        <p:nvSpPr>
          <p:cNvPr id="338" name="PlaceHolder 2"/>
          <p:cNvSpPr>
            <a:spLocks noGrp="1"/>
          </p:cNvSpPr>
          <p:nvPr>
            <p:ph type="sldNum" idx="5"/>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6780C47F-2F68-4D3D-BE0A-F6860E5D9D4C}"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39"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Stellt euch vor, ihr sitzt beim Arzt.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Ihr erzählt von eurem Problem — aber der Arzt schaut euch gar nicht an.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Er tippt. Ihr erzählt weiter — er tippt. Ihr seid fertig — er tippt noch.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Das Gespräch dauert zehn Minuten, die Dokumentation danach zwanzig.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Und weil er so beschäftigt ist, hat er euch nicht mal gefragt, seit wann die Beschwerden schon da sind.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Genau hier setzt unser Projekt an.</a:t>
            </a:r>
            <a:endParaRPr lang="de-DE" sz="1000" b="0" u="none" strike="noStrike">
              <a:solidFill>
                <a:srgbClr val="000000"/>
              </a:solidFill>
              <a:effectLst/>
              <a:uFillTx/>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sldImg"/>
          </p:nvPr>
        </p:nvSpPr>
        <p:spPr>
          <a:xfrm>
            <a:off x="720000" y="900000"/>
            <a:ext cx="6119640" cy="3441240"/>
          </a:xfrm>
          <a:prstGeom prst="rect">
            <a:avLst/>
          </a:prstGeom>
          <a:ln w="0">
            <a:noFill/>
          </a:ln>
        </p:spPr>
      </p:sp>
      <p:sp>
        <p:nvSpPr>
          <p:cNvPr id="341" name="PlaceHolder 2"/>
          <p:cNvSpPr>
            <a:spLocks noGrp="1"/>
          </p:cNvSpPr>
          <p:nvPr>
            <p:ph type="sldNum" idx="6"/>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50B7A8A-9405-49A6-B172-D057174E172C}"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2"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Zwei Stunden. Jeden Tag. Pro Arzt.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Das ist mehr Zeit am Bildschirm als am Patienten.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Laut einer Studie aus den Annals of Internal Medicine verbringen Ärzte für jede Stunde direkte Patientenzeit etwa zwei Stunden mit Dokumentation in der elektronischen Patientenakte.</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Und das hat Folgen: 49 Prozent der Ärzte berichten von Burnout-Symptomen — und die Nummer eins unter den Ursachen ist nicht etwa der Patientenkontakt, sondern die administrative Last die damit einhergeht.</a:t>
            </a:r>
            <a:endParaRPr lang="de-DE" sz="1000" b="0" u="none" strike="noStrik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720000" y="900000"/>
            <a:ext cx="6119640" cy="3441240"/>
          </a:xfrm>
          <a:prstGeom prst="rect">
            <a:avLst/>
          </a:prstGeom>
          <a:ln w="0">
            <a:noFill/>
          </a:ln>
        </p:spPr>
      </p:sp>
      <p:sp>
        <p:nvSpPr>
          <p:cNvPr id="344" name="PlaceHolder 2"/>
          <p:cNvSpPr>
            <a:spLocks noGrp="1"/>
          </p:cNvSpPr>
          <p:nvPr>
            <p:ph type="sldNum" idx="7"/>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9593A84A-E945-43CE-88CC-F5A0147D6735}"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5"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Unsere Forschungsfrage war: Kann eine KI ein Arzt-Patienten-Gespräch mithören und daraus automatisch eine brauchbare medizinische Dokumentation erzeugen?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Brauchbar klingt dabei einfach — aber dahinter stecken im Kern drei Anforderungen, die sich gegenseitig in die Quere kommen können.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Fakten müssen stimmen.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Das Format muss passen.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Und das System darf sich nichts ausdenken, was nie gesagt wurde. Alle drei gleichzeitig zu erfüllen — das ist die eigentliche Herausforderung.</a:t>
            </a:r>
            <a:endParaRPr lang="de-DE" sz="1000" b="0" u="none" strike="noStrike">
              <a:solidFill>
                <a:srgbClr val="000000"/>
              </a:solidFill>
              <a:effectLst/>
              <a:uFillTx/>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sldImg"/>
          </p:nvPr>
        </p:nvSpPr>
        <p:spPr>
          <a:xfrm>
            <a:off x="720000" y="900000"/>
            <a:ext cx="6119640" cy="3441240"/>
          </a:xfrm>
          <a:prstGeom prst="rect">
            <a:avLst/>
          </a:prstGeom>
          <a:ln w="0">
            <a:noFill/>
          </a:ln>
        </p:spPr>
      </p:sp>
      <p:sp>
        <p:nvSpPr>
          <p:cNvPr id="347" name="PlaceHolder 2"/>
          <p:cNvSpPr>
            <a:spLocks noGrp="1"/>
          </p:cNvSpPr>
          <p:nvPr>
            <p:ph type="sldNum" idx="8"/>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653F0C73-A713-4268-80C8-2A1F8D229AC9}"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8"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Unsere Pipeline, um das ganze umzusetzen, hat vier Stufen.</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Erstens: Audio Capture. Das Gespräch wird aufgenommen — ganz klassisch als Audiodatei.</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Zweitens: STT. Also Speech-to-Text, das ist die Technologie, die gesprochene Sprache in geschriebenen Text umwandelt.</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Hier passiert auch die Diarisierung, also die Zuordnung, welcher Sprecher im Gespräch was gesagt hat.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Das STT-Modell gibt uns so etwas wie „SPEAKER_A sagt dies, SPEAKER_B sagt das".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Drittens: Format LLM. Ein LLM — ein Large Language Model — ersetzt diese anonymen Speaker-Labels durch echte Bezeichnungen: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Bspw. wird SPEAKER_A durch "Arzt" ersetzt und SPEAKER_B durch "Frau Klein".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Ansonsten ändert es nichts am Text.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Viertens: SOAP LLM. SOAP LLM. Dasselbe LLM generiert aus dem formatierten Transkript die strukturierte SOAP-Zusammenfassung. Auf SOAP gehen wir später noch genauer ein.</a:t>
            </a:r>
            <a:endParaRPr lang="de-DE" sz="1000" b="0" u="none" strike="noStrike">
              <a:solidFill>
                <a:srgbClr val="000000"/>
              </a:solidFill>
              <a:effectLst/>
              <a:uFillTx/>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PlaceHolder 1"/>
          <p:cNvSpPr>
            <a:spLocks noGrp="1"/>
          </p:cNvSpPr>
          <p:nvPr>
            <p:ph type="sldImg"/>
          </p:nvPr>
        </p:nvSpPr>
        <p:spPr>
          <a:xfrm>
            <a:off x="720000" y="900000"/>
            <a:ext cx="6119640" cy="3441240"/>
          </a:xfrm>
          <a:prstGeom prst="rect">
            <a:avLst/>
          </a:prstGeom>
          <a:ln w="0">
            <a:noFill/>
          </a:ln>
        </p:spPr>
      </p:sp>
      <p:sp>
        <p:nvSpPr>
          <p:cNvPr id="350" name="PlaceHolder 2"/>
          <p:cNvSpPr>
            <a:spLocks noGrp="1"/>
          </p:cNvSpPr>
          <p:nvPr>
            <p:ph type="sldNum" idx="9"/>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03FB6507-91D8-4501-84EF-FDDE30511ADB}"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1"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Welche Modelle haben wir getestet?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Bei Speech-to-Text haben wir drei verschiedene Modelle gewählt: AssemblyAI und Speechmatics als Cloud-Dienste, und Whisper turbo von OpenAI als lokales Modell.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Whisper ist Open Source und läuft auf eigener Hardware. </a:t>
            </a:r>
            <a:endParaRPr lang="de-DE" sz="1000" b="0" u="none" strike="noStrike">
              <a:solidFill>
                <a:srgbClr val="000000"/>
              </a:solidFill>
              <a:effectLst/>
              <a:uFillTx/>
              <a:latin typeface="Arial"/>
            </a:endParaRPr>
          </a:p>
          <a:p>
            <a:pPr indent="0" algn="l">
              <a:lnSpc>
                <a:spcPct val="100000"/>
              </a:lnSpc>
              <a:buNone/>
            </a:pPr>
            <a:r>
              <a:rPr lang="en-US" sz="1000" b="1" u="none" strike="noStrike">
                <a:solidFill>
                  <a:srgbClr val="000000"/>
                </a:solidFill>
                <a:effectLst/>
                <a:uFillTx/>
                <a:latin typeface="Arial"/>
              </a:rPr>
              <a:t>- </a:t>
            </a:r>
            <a:r>
              <a:rPr lang="en-US" sz="1000" b="0" u="none" strike="noStrike">
                <a:solidFill>
                  <a:srgbClr val="000000"/>
                </a:solidFill>
                <a:effectLst/>
                <a:uFillTx/>
                <a:latin typeface="Arial"/>
              </a:rPr>
              <a:t>Es gibt auch Whisper large-v3, das größere Modell — aber das war für uns nicht nur wegen der Hardware unrealistisch, sondern auch wegen der Geschwindigkeit. Whisper turbo ist ein optimierter Kompromiss aus Qualität und Geschwindigkeit.</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Bei den LLMs haben wir uns für GPT-4o als Cloud-Variante entschieden, und folgende drei lokale Modelle — SauerkrautLM, Llama und Gemma, alle haben zwischen 3 und 8 Milliarden Parametern.</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SauerkrautLM ist ein auf Deutsch feingetuntes Modell, was für medizinische Gespräche auf Deutsch besonders relevant ist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Daraus ergeben sich die folgenden fünf Kombinationen.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Da stellt man sich natürlich direkt die Frage: Warum nicht Cloud-STT mit lokalem LLM oder umgekehrt kombinieren?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Wenn die Audiodaten eh schon in der Cloud sind, macht es wenig Sinn, das LLM dann lokal laufen zu lassen. Und wenn man lokal bleiben will wegen Datenschutz, dann muss logischerweise die ganze Pipeline lokal sein.</a:t>
            </a:r>
            <a:endParaRPr lang="de-DE" sz="1000" b="0" u="none" strike="noStrike">
              <a:solidFill>
                <a:srgbClr val="000000"/>
              </a:solidFill>
              <a:effectLst/>
              <a:uFillTx/>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sldImg"/>
          </p:nvPr>
        </p:nvSpPr>
        <p:spPr>
          <a:xfrm>
            <a:off x="720000" y="900000"/>
            <a:ext cx="6119640" cy="3441240"/>
          </a:xfrm>
          <a:prstGeom prst="rect">
            <a:avLst/>
          </a:prstGeom>
          <a:ln w="0">
            <a:noFill/>
          </a:ln>
        </p:spPr>
      </p:sp>
      <p:sp>
        <p:nvSpPr>
          <p:cNvPr id="353" name="PlaceHolder 2"/>
          <p:cNvSpPr>
            <a:spLocks noGrp="1"/>
          </p:cNvSpPr>
          <p:nvPr>
            <p:ph type="sldNum" idx="10"/>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A04CE7F2-1171-443E-9172-D65FAF86CDC2}"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4"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Links seht ihr unser Setup: Ein AMD-Laptop mit 16 GB RAM.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Bewusst kein High-End, sondern das, was realistisch auf jedem Arztschreibtisch stehen könnte.</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Für Whisper turbo und lokale KI-Modelle reicht das – knapp, aber es läuft.</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Rechts seht ihr, was wir gerne getestet hätten: Whisper large-v3 und zb SauerkrautLM 70B.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Bessere Hardware würde höchstwahrscheinlich zu deutlich besseren vollkommen lokalen Ergebnissen führen.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Wir haben tatsächlich versucht in Kooperation mit PwC eine AWS-Instanz mit entsprechend starker GPU zu bekommen, um bessere lokale Varianten zu evaluieren — zunächst haben uns technische Probleme aufgehalten, und als die gelöst waren, war der Zeitrahmen zu knapp.</a:t>
            </a:r>
            <a:endParaRPr lang="de-DE" sz="1000" b="0" u="none" strike="noStrik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sldImg"/>
          </p:nvPr>
        </p:nvSpPr>
        <p:spPr>
          <a:xfrm>
            <a:off x="720000" y="900000"/>
            <a:ext cx="6119640" cy="3441240"/>
          </a:xfrm>
          <a:prstGeom prst="rect">
            <a:avLst/>
          </a:prstGeom>
          <a:ln w="0">
            <a:noFill/>
          </a:ln>
        </p:spPr>
      </p:sp>
      <p:sp>
        <p:nvSpPr>
          <p:cNvPr id="356" name="PlaceHolder 2"/>
          <p:cNvSpPr>
            <a:spLocks noGrp="1"/>
          </p:cNvSpPr>
          <p:nvPr>
            <p:ph type="sldNum" idx="11"/>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483DBAB1-7863-434E-88C1-70D4CEF18D91}"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7"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Wir haben elf Szenarien entworfen und diese bewusst in vier Schwierigkeitsstufen aufgeteilt.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Standardszenarien sind saubere Aufnahmen — einmal mit guter Mikrofon Hardware das Original und zweimal mit dem Laptop als Mikrofon — einmal mittig zwischen Arzt und Patient und einmal direkt vor dem Arzt.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Ab der zweiten Stufe wird es schwieriger: Einmal mit starken Hintergrundgeräuschen, dann mit Patienten die sich selbst korrigieren und noch mit häufigen Unterbrechungen zwischen Arzt und Patient.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In den komplexen Szenarien springt der Patient zwischen Themen hin und her, der Arzt revidiert seine Einschätzung mitten im Gespräch, und im Chaos-Szenario kommt alles zusammen.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letzte Stufe sind echte Aufnahmen — ein 19-minütiges Anamnesegespräch und eine Physiotherapie-Sitzung bereitgestellt von PwC.</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Alle Ground Truths haben wir manuell erstellt, mit Versprechern, Füllwörtern und Wiederholungen. Denn echtes Sprechen ist nicht sauber — und genau das wollten wir testen.</a:t>
            </a:r>
            <a:endParaRPr lang="de-DE" sz="1000" b="0" u="none" strike="noStrike">
              <a:solidFill>
                <a:srgbClr val="000000"/>
              </a:solidFill>
              <a:effectLst/>
              <a:uFillTx/>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sldImg"/>
          </p:nvPr>
        </p:nvSpPr>
        <p:spPr>
          <a:xfrm>
            <a:off x="720000" y="900000"/>
            <a:ext cx="6119640" cy="3441240"/>
          </a:xfrm>
          <a:prstGeom prst="rect">
            <a:avLst/>
          </a:prstGeom>
          <a:ln w="0">
            <a:noFill/>
          </a:ln>
        </p:spPr>
      </p:sp>
      <p:sp>
        <p:nvSpPr>
          <p:cNvPr id="359" name="PlaceHolder 2"/>
          <p:cNvSpPr>
            <a:spLocks noGrp="1"/>
          </p:cNvSpPr>
          <p:nvPr>
            <p:ph type="sldNum" idx="12"/>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3536FF1F-0D1B-4D21-AC00-2182A57360C6}"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60"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Wir bewerten die Outputs der verschiedenen Kombinationen auf drei Achsen, unabhängig voneinander.</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erste ist die Word Error Rate — wie genau ist die Transkription? Dafür vergleichen wir den STT-Output mit unserer manuell erstellten Ground Truth und zählen Einfügungen, Löschungen und Ersetzungen.</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zweite Achse ist LLM Fidelity: Hat das Modell beim Formatieren etwas verändert, das es nicht hätte verändern sollen? Wir vergleichen den rohen STT-Output mit dem formatierten Ergebnis der LLM — alles, was sich über die Speaker-Label-Änderungen hinaus verändert hat, zählt als Fehler.</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Die dritte Achse ist die SOAP Qualität, also ob die fertige Zusammenfassung medizinisch brauchbar ist. Hier haben wir Claude als automatisierten Bewerter eingesetzt.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Per Skript wäre das nicht möglich gewesen — wir prüfen nämlich nicht Wort für Wort, sondern ob der Inhalt des Transkripts sinngemäß in der SOAP-Zusammenfassung landet. Das ist eine semantische Aufgabe, keine regelbasierte.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Und manuell? Das wären bei 11 Gesprächen und 5 getesteter Modell-Kombinationen 55 Durchläufe, mit vier SOAP-Sektionen jeweils — das wären 220 Einzelbewertungen, im Zeitrahmen den wir haben schlicht nicht realistisch.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Claude bewertet konsistent mit einem dokumentierten und detaillierten Prompt. Und ein weiterer Grund, warum Claude gut geeignet ist: Claude war kein Teil unserer Pipeline — damit gibt es keinen Self-Evaluation-Bias. Hätten wir z.B. GPT-4o als Bewerter genutzt, hätte es möglicherweise seine eigenen Outputs bevorzugt.</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rPr>
              <a:t>- Eine Regel gilt dabei absolut: Jede halluzinierte Diagnose oder Therapie gibt null Punkte. Wenn der Plan nicht im Gespräch stand, darf er nicht in der SOAP-Zusammenfassung stehen.</a:t>
            </a:r>
            <a:endParaRPr lang="de-DE" sz="10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720000" y="900000"/>
            <a:ext cx="6119640" cy="3441240"/>
          </a:xfrm>
          <a:prstGeom prst="rect">
            <a:avLst/>
          </a:prstGeom>
          <a:ln w="0">
            <a:noFill/>
          </a:ln>
        </p:spPr>
      </p:sp>
      <p:sp>
        <p:nvSpPr>
          <p:cNvPr id="362" name="PlaceHolder 2"/>
          <p:cNvSpPr>
            <a:spLocks noGrp="1"/>
          </p:cNvSpPr>
          <p:nvPr>
            <p:ph type="sldNum" idx="13"/>
          </p:nvPr>
        </p:nvSpPr>
        <p:spPr>
          <a:xfrm>
            <a:off x="5940000" y="10080000"/>
            <a:ext cx="899640" cy="359640"/>
          </a:xfrm>
          <a:prstGeom prst="rect">
            <a:avLst/>
          </a:prstGeom>
          <a:noFill/>
          <a:ln w="0">
            <a:noFill/>
          </a:ln>
        </p:spPr>
        <p:txBody>
          <a:bodyPr lIns="90000" tIns="45000" rIns="90000" bIns="45000" anchor="t">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CE0F45B8-3682-4B7C-824E-B1716957C1FE}" type="slidenum">
              <a:rPr lang="de-DE" sz="1200" b="0" u="none" strike="noStrike">
                <a:solidFill>
                  <a:srgbClr val="000000"/>
                </a:solidFill>
                <a:effectLst/>
                <a:uFillTx/>
                <a:latin typeface="Times New Roman"/>
              </a:rPr>
              <a:t>1</a:t>
            </a:fld>
            <a:endParaRPr lang="de-DE" sz="1200" b="0" u="none" strike="noStrike">
              <a:solidFill>
                <a:srgbClr val="000000"/>
              </a:solidFill>
              <a:effectLst/>
              <a:uFillTx/>
              <a:latin typeface="Times New Roman"/>
            </a:endParaRPr>
          </a:p>
        </p:txBody>
      </p:sp>
      <p:sp>
        <p:nvSpPr>
          <p:cNvPr id="363" name="PlaceHolder 3"/>
          <p:cNvSpPr>
            <a:spLocks noGrp="1"/>
          </p:cNvSpPr>
          <p:nvPr>
            <p:ph type="body"/>
          </p:nvPr>
        </p:nvSpPr>
        <p:spPr>
          <a:xfrm>
            <a:off x="720000" y="4680000"/>
            <a:ext cx="6119640" cy="5039640"/>
          </a:xfrm>
          <a:prstGeom prst="rect">
            <a:avLst/>
          </a:prstGeom>
          <a:noFill/>
          <a:ln w="0">
            <a:noFill/>
          </a:ln>
        </p:spPr>
        <p:txBody>
          <a:bodyPr lIns="0" tIns="0" rIns="0" bIns="0" anchor="t">
            <a:noAutofit/>
          </a:bodyPr>
          <a:p>
            <a:pPr indent="0" algn="l">
              <a:lnSpc>
                <a:spcPct val="100000"/>
              </a:lnSpc>
              <a:buNone/>
            </a:pPr>
            <a:r>
              <a:rPr lang="en-US" sz="1000" b="0" u="none" strike="noStrike">
                <a:solidFill>
                  <a:srgbClr val="000000"/>
                </a:solidFill>
                <a:effectLst/>
                <a:uFillTx/>
                <a:latin typeface="Arial"/>
              </a:rPr>
              <a:t>- SOAP steht für vier Sektionen.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ea typeface="Noto Sans CJK SC"/>
              </a:rPr>
              <a:t>- Subjective erfasst, was der Patient selbst schildert — Beschwerden, Symptome, eigene Worte.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ea typeface="Noto Sans CJK SC"/>
              </a:rPr>
              <a:t>- Objective ist das, was der Arzt beobachtet, also Befunde und Vitalwerte.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ea typeface="Noto Sans CJK SC"/>
              </a:rPr>
              <a:t>- Assessment ist die Diagnose des Arztes, und</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ea typeface="Noto Sans CJK SC"/>
              </a:rPr>
              <a:t>- Plan beschreibt die nächsten Schritte — Therapie, Überweisung, Medikation. </a:t>
            </a:r>
            <a:endParaRPr lang="de-DE" sz="1000" b="0" u="none" strike="noStrike">
              <a:solidFill>
                <a:srgbClr val="000000"/>
              </a:solidFill>
              <a:effectLst/>
              <a:uFillTx/>
              <a:latin typeface="Arial"/>
            </a:endParaRPr>
          </a:p>
          <a:p>
            <a:pPr indent="0" algn="l">
              <a:lnSpc>
                <a:spcPct val="100000"/>
              </a:lnSpc>
              <a:buNone/>
            </a:pPr>
            <a:r>
              <a:rPr lang="en-US" sz="1000" b="0" u="none" strike="noStrike">
                <a:solidFill>
                  <a:srgbClr val="000000"/>
                </a:solidFill>
                <a:effectLst/>
                <a:uFillTx/>
                <a:latin typeface="Arial"/>
                <a:ea typeface="Noto Sans CJK SC"/>
              </a:rPr>
              <a:t>- Jede dieser vier Sektionen haben wir auf einer Skala von null bis zwei bewertet, insgesamt also maximal acht Punkte.</a:t>
            </a:r>
            <a:endParaRPr lang="de-DE" sz="1000" b="0" u="none" strike="noStrike">
              <a:solidFill>
                <a:srgbClr val="000000"/>
              </a:solidFill>
              <a:effectLst/>
              <a:uFillTx/>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720000" y="900000"/>
            <a:ext cx="6119640" cy="3441240"/>
          </a:xfrm>
          <a:prstGeom prst="rect">
            <a:avLst/>
          </a:prstGeom>
          <a:ln w="0">
            <a:noFill/>
          </a:ln>
        </p:spPr>
      </p:sp>
      <p:sp>
        <p:nvSpPr>
          <p:cNvPr id="365"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Bevor wir die Zahlen anschauen — sehen wir uns einmal die Pipeline live an und das anhand des Szenarios: Mind-change, bei dem</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Frau Hoffmann mit Brustschmerzen in die Praxis kommt und der Arzt zunächst ein Herzproblem vermutet. Erst im weiteren Gespräch — als die Patientin erwähnt, dass es nach dem Essen und beim Liegen schlimmer wird — erkennt er, dass es doch nur ein einfaches Sodbrennen ist.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(Streamlit öffnen)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lassen das Szenario mit AssemblyAI und GPT-4o laufen und die Aufnahme ist zwar mit 70 Sekunden sehr kurz — aber für unseren Proof of Concept reicht das vollkommen.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(Start)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(STT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Wie wir sehen können, hat das STT den Text für die Audio erstellt und auch die Sprecher korrekt erkannt.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(Formatted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hat dann die Speaker-Labels korrekt durch „Arzt" und „Frau Hoffmann" ersetzt — sonst nichts verändert.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i="1" u="none" strike="noStrike">
                <a:solidFill>
                  <a:srgbClr val="000000"/>
                </a:solidFill>
                <a:effectLst/>
                <a:uFillTx/>
                <a:latin typeface="Arial"/>
              </a:rPr>
              <a:t>(SOAP zeigen)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zum eigentlich spannenden Teil, die SOAP-Zusammenfassung.</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Subjective sehen wir die Beschwerden der Patientin: (Beschwerden kurz vorlesen) brennender Schmerz hinter dem Brustbein, schlimmer nach dem Essen und beim Liegen, saurer Geschmack im Mund.</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Objective steht — korrekt — dass keine Befunde dokumentiert wurden, das Gespräch hat keine Untersuchung beinhaltet.</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Assessment steht Reflux (Sodbrennen), nicht Angina. Der initiale Verdacht auf ein kardiales Ereignis ist explizit ausgeschlossen. Das Modell hat den Meinungswechsel korrekt nachvollzogen.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der Plan. (einige Stichpunkte vorlesen).</a:t>
            </a:r>
            <a:endParaRPr lang="de-DE" sz="1800" b="0" u="none" strike="noStrike">
              <a:solidFill>
                <a:srgbClr val="000000"/>
              </a:solidFill>
              <a:effectLst/>
              <a:uFillTx/>
              <a:latin typeface="Arial"/>
            </a:endParaRPr>
          </a:p>
          <a:p>
            <a:pPr marL="216000" indent="-216000" algn="l">
              <a:lnSpc>
                <a:spcPct val="100000"/>
              </a:lnSpc>
              <a:buNone/>
              <a:tabLst>
                <a:tab pos="0" algn="l"/>
              </a:tabLst>
            </a:pP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Das klingt alles medizinisch plausibel — und genau das ist das Problem. Nichts davon wurde im Gespräch erwähnt. Das Modell hat sich das alles ausgedacht. Und weil es so plausibel klingt, fällt es möglicherweise im Alltag gardass halluzinierte Therapievorschläge unbemerkt in einer Patientenakte landen.  nicht auf. Und ich denke, keiner von uns will, dass wir wegen einem halluzinierten Therapievorschlag Auf einmal Antibiotika nehmen sollen, obwohl wir nur eine leichte Erkältung haben. Ob das ein Einzelfall war oder öfter passiert schauen wir uns jetzt an.</a:t>
            </a:r>
            <a:endParaRPr lang="de-DE" sz="1800" b="0" u="none" strike="noStrike">
              <a:solidFill>
                <a:srgbClr val="000000"/>
              </a:solidFill>
              <a:effectLst/>
              <a:uFillTx/>
              <a:latin typeface="Arial"/>
            </a:endParaRPr>
          </a:p>
        </p:txBody>
      </p:sp>
      <p:sp>
        <p:nvSpPr>
          <p:cNvPr id="366" name="PlaceHolder 3"/>
          <p:cNvSpPr>
            <a:spLocks noGrp="1"/>
          </p:cNvSpPr>
          <p:nvPr>
            <p:ph type="sldNum" idx="14"/>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4F864C36-33FD-4282-B7DA-9BA4D2094345}"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sldImg"/>
          </p:nvPr>
        </p:nvSpPr>
        <p:spPr>
          <a:xfrm>
            <a:off x="720000" y="900000"/>
            <a:ext cx="6119640" cy="3441240"/>
          </a:xfrm>
          <a:prstGeom prst="rect">
            <a:avLst/>
          </a:prstGeom>
          <a:ln w="0">
            <a:noFill/>
          </a:ln>
        </p:spPr>
      </p:sp>
      <p:sp>
        <p:nvSpPr>
          <p:cNvPr id="368"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zuerst die erste Stufe der Pipeline an, also das STT und die Transkriptionsqualität. Whisper hat im Schnitt 13,5 Prozent aller Wörter falsch transkribiert, Speechmatics bei 11,4 und Assembly bei 8,9. Der Unterschied zwischen lokal und Cloud ist ehrlich gesagt kleiner als man erwarten würde — wir reden von ein paar Prozentpunkten, nicht von einer anderen Größenordnung.</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Ein weiterer spannender Befund steht rechts: Im White-Noise-Szenario brechen </a:t>
            </a:r>
            <a:r>
              <a:rPr lang="de-DE" sz="1800" b="0" i="1" u="none" strike="noStrike">
                <a:solidFill>
                  <a:srgbClr val="000000"/>
                </a:solidFill>
                <a:effectLst/>
                <a:uFillTx/>
                <a:latin typeface="Arial"/>
              </a:rPr>
              <a:t>alle</a:t>
            </a:r>
            <a:r>
              <a:rPr lang="de-DE" sz="1800" b="0" u="none" strike="noStrike">
                <a:solidFill>
                  <a:srgbClr val="000000"/>
                </a:solidFill>
                <a:effectLst/>
                <a:uFillTx/>
                <a:latin typeface="Arial"/>
              </a:rPr>
              <a:t> Modelle ein. Die Cloud Modelle wachsen auf über 30 Prozent, Whisper sogar auf 41 Prozent. Die Lektion: Die Mikrofonqualität setzt die Untergrenze dessen, was die KI überhaupt erreichen kann. Das beste Modell hilft nichts, wenn die Audio schlecht ist.</a:t>
            </a:r>
            <a:endParaRPr lang="de-DE" sz="1800" b="0" u="none" strike="noStrike">
              <a:solidFill>
                <a:srgbClr val="000000"/>
              </a:solidFill>
              <a:effectLst/>
              <a:uFillTx/>
              <a:latin typeface="Arial"/>
            </a:endParaRPr>
          </a:p>
        </p:txBody>
      </p:sp>
      <p:sp>
        <p:nvSpPr>
          <p:cNvPr id="369" name="PlaceHolder 3"/>
          <p:cNvSpPr>
            <a:spLocks noGrp="1"/>
          </p:cNvSpPr>
          <p:nvPr>
            <p:ph type="sldNum" idx="15"/>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15E27A3A-8E5C-4BB1-AA2E-E2EF58DC834E}"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sldImg"/>
          </p:nvPr>
        </p:nvSpPr>
        <p:spPr>
          <a:xfrm>
            <a:off x="720000" y="900000"/>
            <a:ext cx="6119640" cy="3441240"/>
          </a:xfrm>
          <a:prstGeom prst="rect">
            <a:avLst/>
          </a:prstGeom>
          <a:ln w="0">
            <a:noFill/>
          </a:ln>
        </p:spPr>
      </p:sp>
      <p:sp>
        <p:nvSpPr>
          <p:cNvPr id="371"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Jetzt zur zweiten Stufe der Pipeline.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sollte nur die Lable der Speaker korrekt setzen und mehr nicht. Alle weiteren Änderungen zählen also als fehler welche wir gezählt und gemessen haben.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Sauerkraut kommt auf fast 20 Prozent Fehlerrate, Llama und Gemma kommen auf circa 14 Prozent. Die lokalen Modelle schreiben um, kürzen, fügen hinzu und im extremfall, fassen sie das gesamte Gespräch zusammen. Sie folgen der Anweisung also nur eingeschränkt.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GPT-4o macht dagegen praktisch keine Fehler. Und was besonders bemerkenswert ist: In einigen Szenarien hat das STT nur einen einzigen Sprecher erkannt, also gar keine Diarisierung geliefert. GPT-4o hat trotzdem beide Sprecher durchgehend korrekt gelabelt — allein aus dem Kontext des Textes heraus.</a:t>
            </a:r>
            <a:endParaRPr lang="de-DE" sz="1800" b="0" u="none" strike="noStrike">
              <a:solidFill>
                <a:srgbClr val="000000"/>
              </a:solidFill>
              <a:effectLst/>
              <a:uFillTx/>
              <a:latin typeface="Arial"/>
            </a:endParaRPr>
          </a:p>
        </p:txBody>
      </p:sp>
      <p:sp>
        <p:nvSpPr>
          <p:cNvPr id="372" name="PlaceHolder 3"/>
          <p:cNvSpPr>
            <a:spLocks noGrp="1"/>
          </p:cNvSpPr>
          <p:nvPr>
            <p:ph type="sldNum" idx="16"/>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88031E21-6AD8-4BB2-8ACF-E96D0595FFCF}"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sldImg"/>
          </p:nvPr>
        </p:nvSpPr>
        <p:spPr>
          <a:xfrm>
            <a:off x="720000" y="900000"/>
            <a:ext cx="6119640" cy="3441240"/>
          </a:xfrm>
          <a:prstGeom prst="rect">
            <a:avLst/>
          </a:prstGeom>
          <a:ln w="0">
            <a:noFill/>
          </a:ln>
        </p:spPr>
      </p:sp>
      <p:sp>
        <p:nvSpPr>
          <p:cNvPr id="374"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einmal eine dieser Zusammenfassungen an, nämlich Das 19-Minuten-Anamnesegespräch. Der Raw STT Output enthält 2.269 Wörter. Nach dem Formatieren durch SauerkrautLM sind nur noch 152 Wörter übrig. Hier wurde also </a:t>
            </a:r>
            <a:r>
              <a:rPr lang="de-DE" sz="1800" b="1" u="none" strike="noStrike">
                <a:solidFill>
                  <a:srgbClr val="000000"/>
                </a:solidFill>
                <a:effectLst/>
                <a:uFillTx/>
                <a:latin typeface="Arial"/>
              </a:rPr>
              <a:t>93 Prozent</a:t>
            </a:r>
            <a:r>
              <a:rPr lang="de-DE" sz="1800" b="0" u="none" strike="noStrike">
                <a:solidFill>
                  <a:srgbClr val="000000"/>
                </a:solidFill>
                <a:effectLst/>
                <a:uFillTx/>
                <a:latin typeface="Arial"/>
              </a:rPr>
              <a:t> des Inhalts still und leise gelöscht.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das ist kein Einzelfall. Alle lokalen Modelle haben massive Probleme mit längeren Gesprächen.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19 Minuten ist wahrscheinlich das Absolute minimum von einem Arzt-Gespräch, in echt sind sie wahrscheilich sogar noch länger.</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Interesanterweise haben alle Modelle, auch GPT, das gleiche Kontextwindow, und dennoch versagen nur die lokalen Modelle.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Graund warum das so ein großes Problem ist, ist dass in der Medizin still gelöschte Information gefährlicher sind als sichtbar falsche.</a:t>
            </a:r>
            <a:endParaRPr lang="de-DE" sz="1800" b="0" u="none" strike="noStrike">
              <a:solidFill>
                <a:srgbClr val="000000"/>
              </a:solidFill>
              <a:effectLst/>
              <a:uFillTx/>
              <a:latin typeface="Arial"/>
            </a:endParaRPr>
          </a:p>
        </p:txBody>
      </p:sp>
      <p:sp>
        <p:nvSpPr>
          <p:cNvPr id="375" name="PlaceHolder 3"/>
          <p:cNvSpPr>
            <a:spLocks noGrp="1"/>
          </p:cNvSpPr>
          <p:nvPr>
            <p:ph type="sldNum" idx="17"/>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A04E8583-ABF5-431C-9197-7740A3D39D2B}"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sldImg"/>
          </p:nvPr>
        </p:nvSpPr>
        <p:spPr>
          <a:xfrm>
            <a:off x="720000" y="900000"/>
            <a:ext cx="6119640" cy="3441240"/>
          </a:xfrm>
          <a:prstGeom prst="rect">
            <a:avLst/>
          </a:prstGeom>
          <a:ln w="0">
            <a:noFill/>
          </a:ln>
        </p:spPr>
      </p:sp>
      <p:sp>
        <p:nvSpPr>
          <p:cNvPr id="377"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Am Ende der Pipeline steht die entscheidende Frage — und zwar, ob die  SOAP-Zusammenfassung medizinisch brauchbar ist? Zur Einordnung: Rot liegt bei 0 bis inklusieve 3 Punkten und damit nicht brauchbar, Gelb zwischen 3 und 6 bedeutet überarbeitungsbedürftig, und mehr als 6 wäre akzeptabel.</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GPT-4o-Kombinationen landen im gelben Bereich. Gemma und Sauerkraut liegen ebenfalls im gelben Bereich, aber am unteren Ende. Llama fällt als einziges in den roten Bereich.</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Zusätlich kann man rechts in der Tabelle sehen, dass kein einziges der 55 Ergebnisse die Schwelle akzeptabel erreicht — null von 55. Der Plan-Teil ist bei jedem Modell halluziniert. Überall stehen Therapievorschläge, die nie im Gespräch vorkamen.</a:t>
            </a:r>
            <a:endParaRPr lang="de-DE" sz="1800" b="0" u="none" strike="noStrike">
              <a:solidFill>
                <a:srgbClr val="000000"/>
              </a:solidFill>
              <a:effectLst/>
              <a:uFillTx/>
              <a:latin typeface="Arial"/>
            </a:endParaRPr>
          </a:p>
        </p:txBody>
      </p:sp>
      <p:sp>
        <p:nvSpPr>
          <p:cNvPr id="378" name="PlaceHolder 3"/>
          <p:cNvSpPr>
            <a:spLocks noGrp="1"/>
          </p:cNvSpPr>
          <p:nvPr>
            <p:ph type="sldNum" idx="18"/>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B4323073-EC59-418C-946B-3AFC21B8EA86}"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sldImg"/>
          </p:nvPr>
        </p:nvSpPr>
        <p:spPr>
          <a:xfrm>
            <a:off x="720000" y="900000"/>
            <a:ext cx="6119640" cy="3441240"/>
          </a:xfrm>
          <a:prstGeom prst="rect">
            <a:avLst/>
          </a:prstGeom>
          <a:ln w="0">
            <a:noFill/>
          </a:ln>
        </p:spPr>
      </p:sp>
      <p:sp>
        <p:nvSpPr>
          <p:cNvPr id="380"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Wenn wir uns auf Gewinner festlegen müssten, wären es </a:t>
            </a:r>
            <a:r>
              <a:rPr lang="de-DE" sz="1800" b="0" u="none" strike="noStrike">
                <a:solidFill>
                  <a:srgbClr val="000000"/>
                </a:solidFill>
                <a:effectLst/>
                <a:uFillTx/>
                <a:latin typeface="Arial"/>
              </a:rPr>
              <a:t>einmal AssemblyAI und einmal GPT-4o. AssemblyAI, da </a:t>
            </a:r>
            <a:r>
              <a:rPr lang="de-DE" sz="1800" b="0" u="none" strike="noStrike">
                <a:solidFill>
                  <a:srgbClr val="000000"/>
                </a:solidFill>
                <a:effectLst/>
                <a:uFillTx/>
                <a:latin typeface="Arial"/>
              </a:rPr>
              <a:t>sie die niedrigste Fehlerrate bei der Transkription hat </a:t>
            </a:r>
            <a:r>
              <a:rPr lang="de-DE" sz="1800" b="0" u="none" strike="noStrike">
                <a:solidFill>
                  <a:srgbClr val="000000"/>
                </a:solidFill>
                <a:effectLst/>
                <a:uFillTx/>
                <a:latin typeface="Arial"/>
              </a:rPr>
              <a:t>und GPT-4o hat null Halluzination beim Formatieren und </a:t>
            </a:r>
            <a:r>
              <a:rPr lang="de-DE" sz="1800" b="0" u="none" strike="noStrike">
                <a:solidFill>
                  <a:srgbClr val="000000"/>
                </a:solidFill>
                <a:effectLst/>
                <a:uFillTx/>
                <a:latin typeface="Arial"/>
              </a:rPr>
              <a:t>den beste SOAP-Score.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Aber — und das ist der entscheidende Punkt: „Bester von </a:t>
            </a:r>
            <a:r>
              <a:rPr lang="de-DE" sz="1800" b="0" u="none" strike="noStrike">
                <a:solidFill>
                  <a:srgbClr val="000000"/>
                </a:solidFill>
                <a:effectLst/>
                <a:uFillTx/>
                <a:latin typeface="Arial"/>
              </a:rPr>
              <a:t>fünf" heißt nicht unbedingt „gut". Bei SOAP haben null </a:t>
            </a:r>
            <a:r>
              <a:rPr lang="de-DE" sz="1800" b="0" u="none" strike="noStrike">
                <a:solidFill>
                  <a:srgbClr val="000000"/>
                </a:solidFill>
                <a:effectLst/>
                <a:uFillTx/>
                <a:latin typeface="Arial"/>
              </a:rPr>
              <a:t>Runs „akzeptabel" erreicht, wie eben erwähnt. Der Plan-</a:t>
            </a:r>
            <a:r>
              <a:rPr lang="de-DE" sz="1800" b="0" u="none" strike="noStrike">
                <a:solidFill>
                  <a:srgbClr val="000000"/>
                </a:solidFill>
                <a:effectLst/>
                <a:uFillTx/>
                <a:latin typeface="Arial"/>
              </a:rPr>
              <a:t>Teil liegt im Schnitt bei 0,1 von 2 Punkten. Und bei einer </a:t>
            </a:r>
            <a:r>
              <a:rPr lang="de-DE" sz="1800" b="0" u="none" strike="noStrike">
                <a:solidFill>
                  <a:srgbClr val="000000"/>
                </a:solidFill>
                <a:effectLst/>
                <a:uFillTx/>
                <a:latin typeface="Arial"/>
              </a:rPr>
              <a:t>schlechten Audio bricht nach wie vor alles zusammen. </a:t>
            </a:r>
            <a:r>
              <a:rPr lang="de-DE" sz="1800" b="0" u="none" strike="noStrike">
                <a:solidFill>
                  <a:srgbClr val="000000"/>
                </a:solidFill>
                <a:effectLst/>
                <a:uFillTx/>
                <a:latin typeface="Arial"/>
              </a:rPr>
              <a:t>Wir würden also heute keinem Arzt empfehlen, eine </a:t>
            </a:r>
            <a:r>
              <a:rPr lang="de-DE" sz="1800" b="0" u="none" strike="noStrike">
                <a:solidFill>
                  <a:srgbClr val="000000"/>
                </a:solidFill>
                <a:effectLst/>
                <a:uFillTx/>
                <a:latin typeface="Arial"/>
              </a:rPr>
              <a:t>dieser Notizen ungeprüft zu übernehmen.</a:t>
            </a:r>
            <a:endParaRPr lang="de-DE" sz="1800" b="0" u="none" strike="noStrike">
              <a:solidFill>
                <a:srgbClr val="000000"/>
              </a:solidFill>
              <a:effectLst/>
              <a:uFillTx/>
              <a:latin typeface="Arial"/>
            </a:endParaRPr>
          </a:p>
        </p:txBody>
      </p:sp>
      <p:sp>
        <p:nvSpPr>
          <p:cNvPr id="381" name="PlaceHolder 3"/>
          <p:cNvSpPr>
            <a:spLocks noGrp="1"/>
          </p:cNvSpPr>
          <p:nvPr>
            <p:ph type="sldNum" idx="19"/>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F6F866B3-F4C3-43F5-8D29-B148130F2FDD}"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sldImg"/>
          </p:nvPr>
        </p:nvSpPr>
        <p:spPr>
          <a:xfrm>
            <a:off x="720000" y="900000"/>
            <a:ext cx="6119640" cy="3441240"/>
          </a:xfrm>
          <a:prstGeom prst="rect">
            <a:avLst/>
          </a:prstGeom>
          <a:ln w="0">
            <a:noFill/>
          </a:ln>
        </p:spPr>
      </p:sp>
      <p:sp>
        <p:nvSpPr>
          <p:cNvPr id="383"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Drei Dinge haben wir bewusst ausgelassen.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haben bewusst auf Real-time verzichtet — nicht weil es nicht geht, sondern weil wir zuerst die maximale Qualität im Batch-Betrieb testen wollten. Also was die Pipeline leisten kann, wenn sie das vollständige Gespräch hat.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Außerdem haben wir den Prompt nicht für die Modelle optimiert, sondern für alle denselben einfachen Prompt verwendet. Das macht den Vergleich fair — lässt aber enormes Potenzial liegen, vor allem beim Plan-Teil von SOAP.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alle Szenarien waren auf Deutsch. Ob die Ergebnisse auf andere Sprachen übertragbar sind, bleibt offen.</a:t>
            </a:r>
            <a:endParaRPr lang="de-DE" sz="1800" b="0" u="none" strike="noStrike">
              <a:solidFill>
                <a:srgbClr val="000000"/>
              </a:solidFill>
              <a:effectLst/>
              <a:uFillTx/>
              <a:latin typeface="Arial"/>
            </a:endParaRPr>
          </a:p>
        </p:txBody>
      </p:sp>
      <p:sp>
        <p:nvSpPr>
          <p:cNvPr id="384" name="PlaceHolder 3"/>
          <p:cNvSpPr>
            <a:spLocks noGrp="1"/>
          </p:cNvSpPr>
          <p:nvPr>
            <p:ph type="sldNum" idx="20"/>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1013D889-920D-49A5-AF68-928528D49C10}"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sldImg"/>
          </p:nvPr>
        </p:nvSpPr>
        <p:spPr>
          <a:xfrm>
            <a:off x="720000" y="900000"/>
            <a:ext cx="6119640" cy="3441240"/>
          </a:xfrm>
          <a:prstGeom prst="rect">
            <a:avLst/>
          </a:prstGeom>
          <a:ln w="0">
            <a:noFill/>
          </a:ln>
        </p:spPr>
      </p:sp>
      <p:sp>
        <p:nvSpPr>
          <p:cNvPr id="386" name="PlaceHolder 2"/>
          <p:cNvSpPr>
            <a:spLocks noGrp="1"/>
          </p:cNvSpPr>
          <p:nvPr>
            <p:ph type="body"/>
          </p:nvPr>
        </p:nvSpPr>
        <p:spPr>
          <a:xfrm>
            <a:off x="720000" y="4680000"/>
            <a:ext cx="6119640" cy="5039640"/>
          </a:xfrm>
          <a:prstGeom prst="rect">
            <a:avLst/>
          </a:prstGeom>
          <a:noFill/>
          <a:ln w="0">
            <a:noFill/>
          </a:ln>
        </p:spPr>
        <p:txBody>
          <a:bodyPr lIns="91440" tIns="45720" rIns="91440" bIns="4572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Datenschutz ist in der Medizin sehr wichtig, und wir sind </a:t>
            </a:r>
            <a:r>
              <a:rPr lang="de-DE" sz="1800" b="0" u="none" strike="noStrike">
                <a:solidFill>
                  <a:srgbClr val="000000"/>
                </a:solidFill>
                <a:effectLst/>
                <a:uFillTx/>
                <a:latin typeface="Arial"/>
              </a:rPr>
              <a:t>schon sehr nah darn, aber leider noch nicht ganz.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lokalen Modelle laufen vollständig auf eigener </a:t>
            </a:r>
            <a:r>
              <a:rPr lang="de-DE" sz="1800" b="0" u="none" strike="noStrike">
                <a:solidFill>
                  <a:srgbClr val="000000"/>
                </a:solidFill>
                <a:effectLst/>
                <a:uFillTx/>
                <a:latin typeface="Arial"/>
              </a:rPr>
              <a:t>Hardware, wodurch leider die Qualität etwas leidet -- </a:t>
            </a:r>
            <a:r>
              <a:rPr lang="de-DE" sz="1800" b="0" u="none" strike="noStrike">
                <a:solidFill>
                  <a:srgbClr val="000000"/>
                </a:solidFill>
                <a:effectLst/>
                <a:uFillTx/>
                <a:latin typeface="Arial"/>
              </a:rPr>
              <a:t>Aber dadurch haben wir die vollständige Kontrolle über </a:t>
            </a:r>
            <a:r>
              <a:rPr lang="de-DE" sz="1800" b="0" u="none" strike="noStrike">
                <a:solidFill>
                  <a:srgbClr val="000000"/>
                </a:solidFill>
                <a:effectLst/>
                <a:uFillTx/>
                <a:latin typeface="Arial"/>
              </a:rPr>
              <a:t>die Daten und brauchen kein Drittanbieter.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Cloud Modelle lassen sich alle in der EU Hosten. </a:t>
            </a:r>
            <a:r>
              <a:rPr lang="de-DE" sz="1800" b="0" u="none" strike="noStrike">
                <a:solidFill>
                  <a:srgbClr val="000000"/>
                </a:solidFill>
                <a:effectLst/>
                <a:uFillTx/>
                <a:latin typeface="Arial"/>
              </a:rPr>
              <a:t>Dadurch sind Sie DSGVO konform, jedoch müssen wir </a:t>
            </a:r>
            <a:r>
              <a:rPr lang="de-DE" sz="1800" b="0" u="none" strike="noStrike">
                <a:solidFill>
                  <a:srgbClr val="000000"/>
                </a:solidFill>
                <a:effectLst/>
                <a:uFillTx/>
                <a:latin typeface="Arial"/>
              </a:rPr>
              <a:t>immernoch beachten, dass personenbezogene Daten </a:t>
            </a:r>
            <a:r>
              <a:rPr lang="de-DE" sz="1800" b="0" u="none" strike="noStrike">
                <a:solidFill>
                  <a:srgbClr val="000000"/>
                </a:solidFill>
                <a:effectLst/>
                <a:uFillTx/>
                <a:latin typeface="Arial"/>
              </a:rPr>
              <a:t>immer noch durch fremden Servern laufen, was viele </a:t>
            </a:r>
            <a:r>
              <a:rPr lang="de-DE" sz="1800" b="0" u="none" strike="noStrike">
                <a:solidFill>
                  <a:srgbClr val="000000"/>
                </a:solidFill>
                <a:effectLst/>
                <a:uFillTx/>
                <a:latin typeface="Arial"/>
              </a:rPr>
              <a:t>wahrscheinlich nicht akzeptieren werden.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sind also weder mit den lokal noch mit den Cloud </a:t>
            </a:r>
            <a:r>
              <a:rPr lang="de-DE" sz="1800" b="0" u="none" strike="noStrike">
                <a:solidFill>
                  <a:srgbClr val="000000"/>
                </a:solidFill>
                <a:effectLst/>
                <a:uFillTx/>
                <a:latin typeface="Arial"/>
              </a:rPr>
              <a:t>Modellen an unserem Ziel von hoher Qualität und voller </a:t>
            </a:r>
            <a:r>
              <a:rPr lang="de-DE" sz="1800" b="0" u="none" strike="noStrike">
                <a:solidFill>
                  <a:srgbClr val="000000"/>
                </a:solidFill>
                <a:effectLst/>
                <a:uFillTx/>
                <a:latin typeface="Arial"/>
              </a:rPr>
              <a:t>Datensowierinität. Was die nächsten Schritte sind, um </a:t>
            </a:r>
            <a:r>
              <a:rPr lang="de-DE" sz="1800" b="0" u="none" strike="noStrike">
                <a:solidFill>
                  <a:srgbClr val="000000"/>
                </a:solidFill>
                <a:effectLst/>
                <a:uFillTx/>
                <a:latin typeface="Arial"/>
              </a:rPr>
              <a:t>an den Ort zu kommen, an den wir eigentlich hin wollen, </a:t>
            </a:r>
            <a:r>
              <a:rPr lang="de-DE" sz="1800" b="0" u="none" strike="noStrike">
                <a:solidFill>
                  <a:srgbClr val="000000"/>
                </a:solidFill>
                <a:effectLst/>
                <a:uFillTx/>
                <a:latin typeface="Arial"/>
              </a:rPr>
              <a:t>schauen wir uns jetzt an.</a:t>
            </a:r>
            <a:endParaRPr lang="de-DE" sz="1800" b="0" u="none" strike="noStrike">
              <a:solidFill>
                <a:srgbClr val="000000"/>
              </a:solidFill>
              <a:effectLst/>
              <a:uFillTx/>
              <a:latin typeface="Arial"/>
            </a:endParaRPr>
          </a:p>
        </p:txBody>
      </p:sp>
      <p:sp>
        <p:nvSpPr>
          <p:cNvPr id="387" name="PlaceHolder 3"/>
          <p:cNvSpPr>
            <a:spLocks noGrp="1"/>
          </p:cNvSpPr>
          <p:nvPr>
            <p:ph type="sldNum" idx="21"/>
          </p:nvPr>
        </p:nvSpPr>
        <p:spPr>
          <a:xfrm>
            <a:off x="5940000" y="10080000"/>
            <a:ext cx="899640" cy="3596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93EB1C3-E6C6-4712-928C-283647FFAB9F}" type="slidenum">
              <a:rPr lang="en-US" sz="1200" b="0" u="none" strike="noStrike">
                <a:solidFill>
                  <a:schemeClr val="dk1"/>
                </a:solidFill>
                <a:effectLst/>
                <a:uFillTx/>
                <a:latin typeface="+mn-lt"/>
                <a:ea typeface="+mn-ea"/>
              </a:rPr>
              <a:t>1</a:t>
            </a:fld>
            <a:endParaRPr lang="de-DE"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720000" y="900000"/>
            <a:ext cx="6119640" cy="3441240"/>
          </a:xfrm>
          <a:prstGeom prst="rect">
            <a:avLst/>
          </a:prstGeom>
          <a:ln w="0">
            <a:noFill/>
          </a:ln>
        </p:spPr>
      </p:sp>
      <p:sp>
        <p:nvSpPr>
          <p:cNvPr id="389"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Der erste Schritt sind größere lokale Modelle — wir haben die Analyse hier auf meinem kleinen Laptop durchgeführt, aber mit besserer Hardware könnten wir sicherlich die Lücke zwischen Cloud und Lokal etwas schließen.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zweite Schritt ist Prompt Engineering. Zum Beispiel eine klare Regel: Wenn eine Therapie im Gespräch nicht erwähnt wurde, darf das Modell sie nicht vorschlagen.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drittens Real-time Streaming — das STT läuft dann während des Gesprächs. Ziel ist dann, dass der Arzt den Entwurf fertig hat, bevor der Patient den Raum verlässt.</a:t>
            </a:r>
            <a:endParaRPr lang="de-DE" sz="1800" b="0" u="none" strike="noStrike">
              <a:solidFill>
                <a:srgbClr val="000000"/>
              </a:solidFill>
              <a:effectLst/>
              <a:uFillTx/>
              <a:latin typeface="Arial"/>
            </a:endParaRPr>
          </a:p>
        </p:txBody>
      </p:sp>
      <p:sp>
        <p:nvSpPr>
          <p:cNvPr id="390" name="PlaceHolder 3"/>
          <p:cNvSpPr>
            <a:spLocks noGrp="1"/>
          </p:cNvSpPr>
          <p:nvPr>
            <p:ph type="sldNum" idx="22"/>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89D97800-2E01-4B13-86DD-5A45B2937D9E}"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PlaceHolder 1"/>
          <p:cNvSpPr>
            <a:spLocks noGrp="1"/>
          </p:cNvSpPr>
          <p:nvPr>
            <p:ph type="sldImg"/>
          </p:nvPr>
        </p:nvSpPr>
        <p:spPr>
          <a:xfrm>
            <a:off x="720000" y="900000"/>
            <a:ext cx="6119640" cy="3441240"/>
          </a:xfrm>
          <a:prstGeom prst="rect">
            <a:avLst/>
          </a:prstGeom>
          <a:ln w="0">
            <a:noFill/>
          </a:ln>
        </p:spPr>
      </p:sp>
      <p:sp>
        <p:nvSpPr>
          <p:cNvPr id="392"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Zum Abschluss noch einmal drei Sätze, die wir euch mitgeben wollen. </a:t>
            </a:r>
            <a:r>
              <a:rPr lang="de-DE" sz="1800" b="0" i="1" u="none" strike="noStrike">
                <a:solidFill>
                  <a:srgbClr val="000000"/>
                </a:solidFill>
                <a:effectLst/>
                <a:uFillTx/>
                <a:latin typeface="Arial"/>
              </a:rPr>
              <a:t>(nacheinander einblenden)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Erstens:</a:t>
            </a:r>
            <a:r>
              <a:rPr lang="de-DE" sz="1800" b="0" u="none" strike="noStrike">
                <a:solidFill>
                  <a:srgbClr val="000000"/>
                </a:solidFill>
                <a:effectLst/>
                <a:uFillTx/>
                <a:latin typeface="Arial"/>
              </a:rPr>
              <a:t> Die Pipeline funktioniert — jedoch wird bei jedem einzelnen Durchlauf der Planteil halluziniert.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Zweitens:</a:t>
            </a:r>
            <a:r>
              <a:rPr lang="de-DE" sz="1800" b="0" u="none" strike="noStrike">
                <a:solidFill>
                  <a:srgbClr val="000000"/>
                </a:solidFill>
                <a:effectLst/>
                <a:uFillTx/>
                <a:latin typeface="Arial"/>
              </a:rPr>
              <a:t> Entscheidend sind die Hardware und die Modellgröße — die Cloud-Lücke könnte sich schließen, sobald die lokale Modelle wachsen.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Drittens:</a:t>
            </a:r>
            <a:r>
              <a:rPr lang="de-DE" sz="1800" b="0" u="none" strike="noStrike">
                <a:solidFill>
                  <a:srgbClr val="000000"/>
                </a:solidFill>
                <a:effectLst/>
                <a:uFillTx/>
                <a:latin typeface="Arial"/>
              </a:rPr>
              <a:t> KI assistiert heute bei der medizinischen Dokumentation. Ersetzen tut sie es noch nicht.</a:t>
            </a:r>
            <a:endParaRPr lang="de-DE" sz="1800" b="0" u="none" strike="noStrike">
              <a:solidFill>
                <a:srgbClr val="000000"/>
              </a:solidFill>
              <a:effectLst/>
              <a:uFillTx/>
              <a:latin typeface="Arial"/>
            </a:endParaRPr>
          </a:p>
        </p:txBody>
      </p:sp>
      <p:sp>
        <p:nvSpPr>
          <p:cNvPr id="393" name="PlaceHolder 3"/>
          <p:cNvSpPr>
            <a:spLocks noGrp="1"/>
          </p:cNvSpPr>
          <p:nvPr>
            <p:ph type="sldNum" idx="23"/>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7A831576-6787-4AA2-80B8-AF97FF01EBEF}"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sldImg"/>
          </p:nvPr>
        </p:nvSpPr>
        <p:spPr>
          <a:xfrm>
            <a:off x="720000" y="900000"/>
            <a:ext cx="6119640" cy="3441240"/>
          </a:xfrm>
          <a:prstGeom prst="rect">
            <a:avLst/>
          </a:prstGeom>
          <a:ln w="0">
            <a:noFill/>
          </a:ln>
        </p:spPr>
      </p:sp>
      <p:sp>
        <p:nvSpPr>
          <p:cNvPr id="395" name="PlaceHolder 2"/>
          <p:cNvSpPr>
            <a:spLocks noGrp="1"/>
          </p:cNvSpPr>
          <p:nvPr>
            <p:ph type="body"/>
          </p:nvPr>
        </p:nvSpPr>
        <p:spPr>
          <a:xfrm>
            <a:off x="720000" y="4680000"/>
            <a:ext cx="6119640" cy="503964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Vielen Dank für eure Aufmerksamkeit, gibt es noch irgendwlche Fragen?</a:t>
            </a:r>
            <a:endParaRPr lang="de-DE" sz="1800" b="0" u="none" strike="noStrike">
              <a:solidFill>
                <a:srgbClr val="000000"/>
              </a:solidFill>
              <a:effectLst/>
              <a:uFillTx/>
              <a:latin typeface="Arial"/>
            </a:endParaRPr>
          </a:p>
        </p:txBody>
      </p:sp>
      <p:sp>
        <p:nvSpPr>
          <p:cNvPr id="396" name="PlaceHolder 3"/>
          <p:cNvSpPr>
            <a:spLocks noGrp="1"/>
          </p:cNvSpPr>
          <p:nvPr>
            <p:ph type="sldNum" idx="24"/>
          </p:nvPr>
        </p:nvSpPr>
        <p:spPr>
          <a:xfrm>
            <a:off x="5940000" y="10080000"/>
            <a:ext cx="899640" cy="35964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C36E9032-B3E3-4768-91DA-7F0897540E6B}"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05200"/>
            <a:ext cx="8229240" cy="858600"/>
          </a:xfrm>
          <a:prstGeom prst="rect">
            <a:avLst/>
          </a:prstGeom>
          <a:noFill/>
          <a:ln w="0">
            <a:noFill/>
          </a:ln>
        </p:spPr>
        <p:txBody>
          <a:bodyPr lIns="0" tIns="0" rIns="0" bIns="0" anchor="ctr">
            <a:spAutoFit/>
          </a:bodyPr>
          <a:p>
            <a:pPr indent="0" algn="ctr">
              <a:buNone/>
            </a:pPr>
            <a:endParaRPr lang="de-DE" sz="4400" b="0" u="none" strike="noStrike">
              <a:solidFill>
                <a:srgbClr val="000000"/>
              </a:solidFill>
              <a:effectLst/>
              <a:uFillTx/>
              <a:latin typeface="Arial"/>
            </a:endParaRPr>
          </a:p>
        </p:txBody>
      </p:sp>
      <p:sp>
        <p:nvSpPr>
          <p:cNvPr id="5" name="PlaceHolder 2"/>
          <p:cNvSpPr>
            <a:spLocks noGrp="1"/>
          </p:cNvSpPr>
          <p:nvPr>
            <p:ph type="subTitle"/>
          </p:nvPr>
        </p:nvSpPr>
        <p:spPr>
          <a:xfrm>
            <a:off x="457200" y="1203480"/>
            <a:ext cx="8229240" cy="2982960"/>
          </a:xfrm>
          <a:prstGeom prst="rect">
            <a:avLst/>
          </a:prstGeom>
          <a:noFill/>
          <a:ln w="0">
            <a:noFill/>
          </a:ln>
        </p:spPr>
        <p:txBody>
          <a:bodyPr lIns="0" tIns="0" rIns="0" bIns="0" anchor="ctr">
            <a:spAutoFit/>
          </a:bodyPr>
          <a:p>
            <a:pPr indent="0" algn="ctr">
              <a:buNone/>
            </a:pPr>
            <a:endParaRPr lang="de-DE" sz="32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andard">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1">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05200"/>
            <a:ext cx="8229240" cy="858600"/>
          </a:xfrm>
          <a:prstGeom prst="rect">
            <a:avLst/>
          </a:prstGeom>
          <a:noFill/>
          <a:ln w="0">
            <a:noFill/>
          </a:ln>
        </p:spPr>
        <p:txBody>
          <a:bodyPr lIns="0" tIns="0" rIns="0" bIns="0" anchor="ctr">
            <a:spAutoFit/>
          </a:bodyPr>
          <a:p>
            <a:pPr indent="0" algn="ctr">
              <a:buNone/>
            </a:pPr>
            <a:endParaRPr lang="de-DE" sz="4400" b="0" u="none" strike="noStrike">
              <a:solidFill>
                <a:srgbClr val="000000"/>
              </a:solidFill>
              <a:effectLst/>
              <a:uFillTx/>
              <a:latin typeface="Arial"/>
            </a:endParaRPr>
          </a:p>
        </p:txBody>
      </p:sp>
      <p:sp>
        <p:nvSpPr>
          <p:cNvPr id="9" name="PlaceHolder 2"/>
          <p:cNvSpPr>
            <a:spLocks noGrp="1"/>
          </p:cNvSpPr>
          <p:nvPr>
            <p:ph type="subTitle"/>
          </p:nvPr>
        </p:nvSpPr>
        <p:spPr>
          <a:xfrm>
            <a:off x="457200" y="1203480"/>
            <a:ext cx="8229240" cy="2982960"/>
          </a:xfrm>
          <a:prstGeom prst="rect">
            <a:avLst/>
          </a:prstGeom>
          <a:noFill/>
          <a:ln w="0">
            <a:noFill/>
          </a:ln>
        </p:spPr>
        <p:txBody>
          <a:bodyPr lIns="0" tIns="0" rIns="0" bIns="0" anchor="ctr">
            <a:spAutoFit/>
          </a:bodyPr>
          <a:p>
            <a:pPr indent="0" algn="ctr">
              <a:buNone/>
            </a:pPr>
            <a:endParaRPr lang="de-DE"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ctr">
              <a:buNone/>
              <a:defRPr lang="de-DE" sz="4400" b="0" u="none" strike="noStrike">
                <a:solidFill>
                  <a:srgbClr val="000000"/>
                </a:solidFill>
                <a:effectLst/>
                <a:uFillTx/>
                <a:latin typeface="Arial"/>
              </a:defRPr>
            </a:lvl1pPr>
          </a:lstStyle>
          <a:p>
            <a:pPr indent="0" algn="ctr">
              <a:buNone/>
            </a:pPr>
            <a:r>
              <a:rPr lang="de-DE" sz="4400" b="0" u="none" strike="noStrike">
                <a:solidFill>
                  <a:srgbClr val="000000"/>
                </a:solidFill>
                <a:effectLst/>
                <a:uFillTx/>
                <a:latin typeface="Arial"/>
              </a:rPr>
              <a:t>Format des Titeltextes </a:t>
            </a:r>
            <a:r>
              <a:rPr lang="de-DE" sz="4400" b="0" u="none" strike="noStrike">
                <a:solidFill>
                  <a:srgbClr val="000000"/>
                </a:solidFill>
                <a:effectLst/>
                <a:uFillTx/>
                <a:latin typeface="Arial"/>
              </a:rPr>
              <a:t>durch Klicken </a:t>
            </a:r>
            <a:r>
              <a:rPr lang="de-DE" sz="4400" b="0" u="none" strike="noStrike">
                <a:solidFill>
                  <a:srgbClr val="000000"/>
                </a:solidFill>
                <a:effectLst/>
                <a:uFillTx/>
                <a:latin typeface="Arial"/>
              </a:rPr>
              <a:t>bearbeiten</a:t>
            </a:r>
            <a:endParaRPr lang="de-DE" sz="4400" b="0" u="none" strike="noStrike">
              <a:solidFill>
                <a:srgbClr val="000000"/>
              </a:solidFill>
              <a:effectLst/>
              <a:uFillTx/>
              <a:latin typeface="Arial"/>
            </a:endParaRP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lnSpcReduction="9999"/>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496800"/>
            <a:ext cx="8228880" cy="274680"/>
          </a:xfrm>
          <a:prstGeom prst="rect">
            <a:avLst/>
          </a:prstGeom>
          <a:noFill/>
          <a:ln w="0">
            <a:noFill/>
          </a:ln>
        </p:spPr>
        <p:txBody>
          <a:bodyPr lIns="0" tIns="0" rIns="0" bIns="0" anchor="ctr">
            <a:spAutoFit/>
          </a:bodyPr>
          <a:lstStyle>
            <a:lvl1pPr indent="0" algn="l">
              <a:buNone/>
              <a:defRPr lang="de-DE" sz="1800" b="0" u="none" strike="noStrike">
                <a:solidFill>
                  <a:srgbClr val="000000"/>
                </a:solidFill>
                <a:effectLst/>
                <a:uFillTx/>
                <a:latin typeface="Arial"/>
              </a:defRPr>
            </a:lvl1pPr>
          </a:lstStyle>
          <a:p>
            <a:pPr indent="0" algn="l">
              <a:buNone/>
            </a:pPr>
            <a:r>
              <a:rPr lang="de-DE" sz="1800" b="0" u="none" strike="noStrike">
                <a:solidFill>
                  <a:srgbClr val="000000"/>
                </a:solidFill>
                <a:effectLst/>
                <a:uFillTx/>
                <a:latin typeface="Arial"/>
              </a:rPr>
              <a:t>Format des Titeltextes durch Klicken bearbeiten</a:t>
            </a:r>
            <a:endParaRPr lang="de-DE" sz="1800" b="0" u="none" strike="noStrike">
              <a:solidFill>
                <a:srgbClr val="000000"/>
              </a:solidFill>
              <a:effectLst/>
              <a:uFillTx/>
              <a:latin typeface="Arial"/>
            </a:endParaRPr>
          </a:p>
        </p:txBody>
      </p:sp>
      <p:sp>
        <p:nvSpPr>
          <p:cNvPr id="7"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lnSpcReduction="9999"/>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2.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slideLayout" Target="../slideLayouts/slideLayout2.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2.xml"/><Relationship Id="rId7"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5.png"/><Relationship Id="rId3" Type="http://schemas.openxmlformats.org/officeDocument/2006/relationships/chart" Target="../charts/chart3.xml"/><Relationship Id="rId4" Type="http://schemas.openxmlformats.org/officeDocument/2006/relationships/image" Target="../media/image5.png"/><Relationship Id="rId5" Type="http://schemas.openxmlformats.org/officeDocument/2006/relationships/slideLayout" Target="../slideLayouts/slideLayout2.xml"/><Relationship Id="rId6"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image" Target="../media/image5.png"/><Relationship Id="rId3" Type="http://schemas.openxmlformats.org/officeDocument/2006/relationships/slideLayout" Target="../slideLayouts/slideLayout2.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 name="Shape 0"/>
          <p:cNvSpPr/>
          <p:nvPr/>
        </p:nvSpPr>
        <p:spPr>
          <a:xfrm>
            <a:off x="6949440" y="2011680"/>
            <a:ext cx="2372040" cy="36036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7" name="Shape 1"/>
          <p:cNvSpPr/>
          <p:nvPr/>
        </p:nvSpPr>
        <p:spPr>
          <a:xfrm>
            <a:off x="6400800" y="2560320"/>
            <a:ext cx="2920680" cy="40608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8" name="Text 2"/>
          <p:cNvSpPr/>
          <p:nvPr/>
        </p:nvSpPr>
        <p:spPr>
          <a:xfrm>
            <a:off x="180000" y="1260000"/>
            <a:ext cx="3957480" cy="909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0" u="none" strike="noStrike">
                <a:solidFill>
                  <a:srgbClr val="FFFFFF"/>
                </a:solidFill>
                <a:effectLst/>
                <a:uFillTx/>
                <a:latin typeface="DejaVu Serif"/>
                <a:ea typeface="DejaVu Serif"/>
              </a:rPr>
              <a:t>Handout</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zum</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herunterladen</a:t>
            </a:r>
            <a:endParaRPr lang="de-DE" sz="4200" b="0" u="none" strike="noStrike">
              <a:solidFill>
                <a:srgbClr val="FFFFFF"/>
              </a:solidFill>
              <a:effectLst/>
              <a:uFillTx/>
              <a:latin typeface="Arial"/>
            </a:endParaRPr>
          </a:p>
        </p:txBody>
      </p:sp>
      <p:pic>
        <p:nvPicPr>
          <p:cNvPr id="19" name=""/>
          <p:cNvPicPr/>
          <p:nvPr/>
        </p:nvPicPr>
        <p:blipFill>
          <a:blip r:embed="rId1"/>
          <a:stretch/>
        </p:blipFill>
        <p:spPr>
          <a:xfrm>
            <a:off x="4176000" y="144000"/>
            <a:ext cx="4857480" cy="48574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0" name="Shape 25"/>
          <p:cNvSpPr/>
          <p:nvPr/>
        </p:nvSpPr>
        <p:spPr>
          <a:xfrm>
            <a:off x="6949440" y="2011680"/>
            <a:ext cx="2372040" cy="36036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1" name="Shape 27"/>
          <p:cNvSpPr/>
          <p:nvPr/>
        </p:nvSpPr>
        <p:spPr>
          <a:xfrm>
            <a:off x="6400800" y="2560320"/>
            <a:ext cx="2920680" cy="40608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 name="Text 29"/>
          <p:cNvSpPr/>
          <p:nvPr/>
        </p:nvSpPr>
        <p:spPr>
          <a:xfrm>
            <a:off x="457200" y="1371600"/>
            <a:ext cx="7309800" cy="909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0" u="none" strike="noStrike">
                <a:solidFill>
                  <a:srgbClr val="FFFFFF"/>
                </a:solidFill>
                <a:effectLst/>
                <a:uFillTx/>
                <a:latin typeface="DejaVu Serif"/>
                <a:ea typeface="DejaVu Serif"/>
              </a:rPr>
              <a:t>AI-Anamnesis of Patients</a:t>
            </a:r>
            <a:endParaRPr lang="de-DE" sz="4400" b="0" u="none" strike="noStrike">
              <a:solidFill>
                <a:srgbClr val="FFFFFF"/>
              </a:solidFill>
              <a:effectLst/>
              <a:uFillTx/>
              <a:latin typeface="Arial"/>
            </a:endParaRPr>
          </a:p>
        </p:txBody>
      </p:sp>
      <p:sp>
        <p:nvSpPr>
          <p:cNvPr id="23" name="Text 47"/>
          <p:cNvSpPr/>
          <p:nvPr/>
        </p:nvSpPr>
        <p:spPr>
          <a:xfrm>
            <a:off x="457200" y="2286000"/>
            <a:ext cx="73098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5429"/>
                </a:solidFill>
                <a:effectLst/>
                <a:uFillTx/>
                <a:latin typeface="DejaVu Serif"/>
                <a:ea typeface="DejaVu Serif"/>
              </a:rPr>
              <a:t>Evaluating End-to-End STT</a:t>
            </a:r>
            <a:r>
              <a:rPr lang="en-US" sz="1600" b="0" u="none" strike="noStrike">
                <a:solidFill>
                  <a:srgbClr val="D04A01"/>
                </a:solidFill>
                <a:effectLst/>
                <a:uFillTx/>
                <a:latin typeface="DejaVu Serif"/>
                <a:ea typeface="DejaVu Serif"/>
              </a:rPr>
              <a:t> </a:t>
            </a:r>
            <a:r>
              <a:rPr lang="en-US" sz="1600" b="0" u="none" strike="noStrike">
                <a:solidFill>
                  <a:srgbClr val="FF5429"/>
                </a:solidFill>
                <a:effectLst/>
                <a:uFillTx/>
                <a:latin typeface="DejaVu Serif"/>
                <a:ea typeface="DejaVu Serif"/>
              </a:rPr>
              <a:t>+ LLM Pipelines</a:t>
            </a:r>
            <a:endParaRPr lang="de-DE" sz="1600" b="0" u="none" strike="noStrike">
              <a:solidFill>
                <a:srgbClr val="FFFFFF"/>
              </a:solidFill>
              <a:effectLst/>
              <a:uFillTx/>
              <a:latin typeface="Arial"/>
            </a:endParaRPr>
          </a:p>
          <a:p>
            <a:pPr defTabSz="914400">
              <a:lnSpc>
                <a:spcPct val="100000"/>
              </a:lnSpc>
              <a:tabLst>
                <a:tab pos="0" algn="l"/>
              </a:tabLst>
            </a:pPr>
            <a:r>
              <a:rPr lang="en-US" sz="1600" b="0" u="none" strike="noStrike">
                <a:solidFill>
                  <a:srgbClr val="FF5429"/>
                </a:solidFill>
                <a:effectLst/>
                <a:uFillTx/>
                <a:latin typeface="DejaVu Serif"/>
                <a:ea typeface="DejaVu Serif"/>
              </a:rPr>
              <a:t>for Medical Documentation</a:t>
            </a:r>
            <a:endParaRPr lang="de-DE" sz="1600" b="0" u="none" strike="noStrike">
              <a:solidFill>
                <a:srgbClr val="FFFFFF"/>
              </a:solidFill>
              <a:effectLst/>
              <a:uFillTx/>
              <a:latin typeface="Arial"/>
            </a:endParaRPr>
          </a:p>
        </p:txBody>
      </p:sp>
      <p:sp>
        <p:nvSpPr>
          <p:cNvPr id="24" name="Text 50"/>
          <p:cNvSpPr/>
          <p:nvPr/>
        </p:nvSpPr>
        <p:spPr>
          <a:xfrm>
            <a:off x="457200" y="3931920"/>
            <a:ext cx="548100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Anton Reinhard  ·  Leonard Niedens</a:t>
            </a:r>
            <a:endParaRPr lang="de-DE" sz="1300" b="0" u="none" strike="noStrike">
              <a:solidFill>
                <a:srgbClr val="FFFFFF"/>
              </a:solidFill>
              <a:effectLst/>
              <a:uFillTx/>
              <a:latin typeface="Arial"/>
            </a:endParaRPr>
          </a:p>
        </p:txBody>
      </p:sp>
      <p:sp>
        <p:nvSpPr>
          <p:cNvPr id="25" name="Text 51"/>
          <p:cNvSpPr/>
          <p:nvPr/>
        </p:nvSpPr>
        <p:spPr>
          <a:xfrm>
            <a:off x="457200" y="4251960"/>
            <a:ext cx="639540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8A95A0"/>
                </a:solidFill>
                <a:effectLst/>
                <a:uFillTx/>
                <a:latin typeface="DejaVu Serif"/>
                <a:ea typeface="DejaVu Serif"/>
              </a:rPr>
              <a:t>Master Seminar  ·  PwC Cloud &amp; AI  ×  Hochschule Hannover  ·  2026</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6" name="Text 1"/>
          <p:cNvSpPr/>
          <p:nvPr/>
        </p:nvSpPr>
        <p:spPr>
          <a:xfrm>
            <a:off x="457200" y="925920"/>
            <a:ext cx="6852600" cy="1640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0" b="1" u="none" strike="noStrike">
                <a:solidFill>
                  <a:srgbClr val="FF5429"/>
                </a:solidFill>
                <a:effectLst/>
                <a:uFillTx/>
                <a:latin typeface="DejaVu Serif"/>
                <a:ea typeface="DejaVu Serif"/>
              </a:rPr>
              <a:t>2 hours</a:t>
            </a:r>
            <a:endParaRPr lang="de-DE" sz="12000" b="0" u="none" strike="noStrike">
              <a:solidFill>
                <a:srgbClr val="FFFFFF"/>
              </a:solidFill>
              <a:effectLst/>
              <a:uFillTx/>
              <a:latin typeface="Arial"/>
            </a:endParaRPr>
          </a:p>
        </p:txBody>
      </p:sp>
      <p:sp>
        <p:nvSpPr>
          <p:cNvPr id="27" name="Text 2"/>
          <p:cNvSpPr/>
          <p:nvPr/>
        </p:nvSpPr>
        <p:spPr>
          <a:xfrm>
            <a:off x="457200" y="2571840"/>
            <a:ext cx="685260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E8E8E8"/>
                </a:solidFill>
                <a:effectLst/>
                <a:uFillTx/>
                <a:latin typeface="DejaVu Serif"/>
                <a:ea typeface="DejaVu Serif"/>
              </a:rPr>
              <a:t>per day spent by physicians on documentation — not patient care</a:t>
            </a:r>
            <a:endParaRPr lang="de-DE" sz="1600" b="0" u="none" strike="noStrike">
              <a:solidFill>
                <a:srgbClr val="FFFFFF"/>
              </a:solidFill>
              <a:effectLst/>
              <a:uFillTx/>
              <a:latin typeface="Arial"/>
            </a:endParaRPr>
          </a:p>
        </p:txBody>
      </p:sp>
      <p:sp>
        <p:nvSpPr>
          <p:cNvPr id="28" name="Text 3"/>
          <p:cNvSpPr/>
          <p:nvPr/>
        </p:nvSpPr>
        <p:spPr>
          <a:xfrm>
            <a:off x="457200" y="3303360"/>
            <a:ext cx="8224200" cy="451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FF5429"/>
                </a:solidFill>
                <a:effectLst/>
                <a:uFillTx/>
                <a:latin typeface="DejaVu Serif"/>
                <a:ea typeface="DejaVu Serif"/>
              </a:rPr>
              <a:t>49%</a:t>
            </a:r>
            <a:r>
              <a:rPr lang="en-US" sz="2400" b="1" u="none" strike="noStrike">
                <a:solidFill>
                  <a:srgbClr val="D04A02"/>
                </a:solidFill>
                <a:effectLst/>
                <a:uFillTx/>
                <a:latin typeface="DejaVu Serif"/>
                <a:ea typeface="DejaVu Serif"/>
              </a:rPr>
              <a:t> </a:t>
            </a:r>
            <a:r>
              <a:rPr lang="en-US" sz="1600" b="0" u="none" strike="noStrike">
                <a:solidFill>
                  <a:srgbClr val="E8E8E8"/>
                </a:solidFill>
                <a:effectLst/>
                <a:uFillTx/>
                <a:latin typeface="DejaVu Serif"/>
                <a:ea typeface="DejaVu Serif"/>
              </a:rPr>
              <a:t>of physicians report burnout — administrative load is the #1 cited driver</a:t>
            </a:r>
            <a:endParaRPr lang="de-DE" sz="1600" b="0" u="none" strike="noStrike">
              <a:solidFill>
                <a:srgbClr val="FFFFFF"/>
              </a:solidFill>
              <a:effectLst/>
              <a:uFillTx/>
              <a:latin typeface="Arial"/>
            </a:endParaRPr>
          </a:p>
        </p:txBody>
      </p:sp>
      <p:sp>
        <p:nvSpPr>
          <p:cNvPr id="29" name="Text 4"/>
          <p:cNvSpPr/>
          <p:nvPr/>
        </p:nvSpPr>
        <p:spPr>
          <a:xfrm>
            <a:off x="457200" y="4526280"/>
            <a:ext cx="82242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8A95A0"/>
                </a:solidFill>
                <a:effectLst/>
                <a:uFillTx/>
                <a:latin typeface="DejaVu Serif"/>
                <a:ea typeface="DejaVu Serif"/>
              </a:rPr>
              <a:t>Sources: Annals of Internal Medicine, 2016 · Medscape Physician Burnout Report 2024</a:t>
            </a:r>
            <a:endParaRPr lang="de-DE" sz="900" b="0" u="none" strike="noStrike">
              <a:solidFill>
                <a:srgbClr val="FFFFFF"/>
              </a:solidFill>
              <a:effectLst/>
              <a:uFillTx/>
              <a:latin typeface="Arial"/>
            </a:endParaRPr>
          </a:p>
        </p:txBody>
      </p:sp>
      <p:sp>
        <p:nvSpPr>
          <p:cNvPr id="30" name="Text 5"/>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1" name="Text 6"/>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2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2" name="Text 0"/>
          <p:cNvSpPr/>
          <p:nvPr/>
        </p:nvSpPr>
        <p:spPr>
          <a:xfrm>
            <a:off x="457200" y="274320"/>
            <a:ext cx="822420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So we asked ourselves...</a:t>
            </a:r>
            <a:endParaRPr lang="de-DE" sz="1300" b="0" u="none" strike="noStrike">
              <a:solidFill>
                <a:srgbClr val="FFFFFF"/>
              </a:solidFill>
              <a:effectLst/>
              <a:uFillTx/>
              <a:latin typeface="Arial"/>
            </a:endParaRPr>
          </a:p>
        </p:txBody>
      </p:sp>
      <p:sp>
        <p:nvSpPr>
          <p:cNvPr id="33" name="Text 1"/>
          <p:cNvSpPr/>
          <p:nvPr/>
        </p:nvSpPr>
        <p:spPr>
          <a:xfrm>
            <a:off x="457200" y="822960"/>
            <a:ext cx="8224200" cy="1366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E8E8E8"/>
                </a:solidFill>
                <a:effectLst/>
                <a:uFillTx/>
                <a:latin typeface="DejaVu Serif"/>
                <a:ea typeface="DejaVu Serif"/>
              </a:rPr>
              <a:t>"Can an AI listen to a doctor-patient conversation</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and produce usable medical documentation —</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completely automatically?"</a:t>
            </a:r>
            <a:endParaRPr lang="de-DE" sz="2200" b="0" u="none" strike="noStrike">
              <a:solidFill>
                <a:srgbClr val="FFFFFF"/>
              </a:solidFill>
              <a:effectLst/>
              <a:uFillTx/>
              <a:latin typeface="Arial"/>
            </a:endParaRPr>
          </a:p>
        </p:txBody>
      </p:sp>
      <p:sp>
        <p:nvSpPr>
          <p:cNvPr id="34" name="Text 3"/>
          <p:cNvSpPr/>
          <p:nvPr/>
        </p:nvSpPr>
        <p:spPr>
          <a:xfrm>
            <a:off x="1490400" y="2743200"/>
            <a:ext cx="579960" cy="579960"/>
          </a:xfrm>
          <a:prstGeom prst="rect">
            <a:avLst/>
          </a:prstGeom>
          <a:noFill/>
          <a:ln w="0">
            <a:noFill/>
          </a:ln>
        </p:spPr>
        <p:style>
          <a:lnRef idx="0"/>
          <a:fillRef idx="0"/>
          <a:effectRef idx="0"/>
          <a:fontRef idx="minor"/>
        </p:style>
        <p:txBody>
          <a:bodyPr lIns="0" tIns="0" rIns="0" bIns="0" anchor="ctr">
            <a:noAutofit/>
          </a:bodyPr>
          <a:p>
            <a:endParaRPr lang="en-US" sz="2200" b="0" u="none" strike="noStrike">
              <a:solidFill>
                <a:schemeClr val="dk1"/>
              </a:solidFill>
              <a:effectLst/>
              <a:uFillTx/>
              <a:latin typeface="Calibri"/>
            </a:endParaRPr>
          </a:p>
        </p:txBody>
      </p:sp>
      <p:sp>
        <p:nvSpPr>
          <p:cNvPr id="35" name="Text 4"/>
          <p:cNvSpPr/>
          <p:nvPr/>
        </p:nvSpPr>
        <p:spPr>
          <a:xfrm>
            <a:off x="502920" y="347472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Accurate</a:t>
            </a:r>
            <a:endParaRPr lang="de-DE" sz="1600" b="0" u="none" strike="noStrike">
              <a:solidFill>
                <a:srgbClr val="FFFFFF"/>
              </a:solidFill>
              <a:effectLst/>
              <a:uFillTx/>
              <a:latin typeface="Arial"/>
            </a:endParaRPr>
          </a:p>
        </p:txBody>
      </p:sp>
      <p:sp>
        <p:nvSpPr>
          <p:cNvPr id="36" name="Text 5"/>
          <p:cNvSpPr/>
          <p:nvPr/>
        </p:nvSpPr>
        <p:spPr>
          <a:xfrm>
            <a:off x="502920" y="379476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Facts must match what was said</a:t>
            </a:r>
            <a:endParaRPr lang="de-DE" sz="1300" b="0" u="none" strike="noStrike">
              <a:solidFill>
                <a:srgbClr val="FFFFFF"/>
              </a:solidFill>
              <a:effectLst/>
              <a:uFillTx/>
              <a:latin typeface="Arial"/>
            </a:endParaRPr>
          </a:p>
        </p:txBody>
      </p:sp>
      <p:sp>
        <p:nvSpPr>
          <p:cNvPr id="37" name="Text 8"/>
          <p:cNvSpPr/>
          <p:nvPr/>
        </p:nvSpPr>
        <p:spPr>
          <a:xfrm>
            <a:off x="3291840" y="347472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Structured</a:t>
            </a:r>
            <a:endParaRPr lang="de-DE" sz="1600" b="0" u="none" strike="noStrike">
              <a:solidFill>
                <a:srgbClr val="FFFFFF"/>
              </a:solidFill>
              <a:effectLst/>
              <a:uFillTx/>
              <a:latin typeface="Arial"/>
            </a:endParaRPr>
          </a:p>
        </p:txBody>
      </p:sp>
      <p:sp>
        <p:nvSpPr>
          <p:cNvPr id="38" name="Text 9"/>
          <p:cNvSpPr/>
          <p:nvPr/>
        </p:nvSpPr>
        <p:spPr>
          <a:xfrm>
            <a:off x="3291840" y="379476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SOAP format implementation</a:t>
            </a:r>
            <a:endParaRPr lang="de-DE" sz="1300" b="0" u="none" strike="noStrike">
              <a:solidFill>
                <a:srgbClr val="FFFFFF"/>
              </a:solidFill>
              <a:effectLst/>
              <a:uFillTx/>
              <a:latin typeface="Arial"/>
            </a:endParaRPr>
          </a:p>
        </p:txBody>
      </p:sp>
      <p:sp>
        <p:nvSpPr>
          <p:cNvPr id="39" name="Text 12"/>
          <p:cNvSpPr/>
          <p:nvPr/>
        </p:nvSpPr>
        <p:spPr>
          <a:xfrm>
            <a:off x="6080760" y="347472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Trustworthy</a:t>
            </a:r>
            <a:endParaRPr lang="de-DE" sz="1600" b="0" u="none" strike="noStrike">
              <a:solidFill>
                <a:srgbClr val="FFFFFF"/>
              </a:solidFill>
              <a:effectLst/>
              <a:uFillTx/>
              <a:latin typeface="Arial"/>
            </a:endParaRPr>
          </a:p>
        </p:txBody>
      </p:sp>
      <p:sp>
        <p:nvSpPr>
          <p:cNvPr id="40" name="Text 13"/>
          <p:cNvSpPr/>
          <p:nvPr/>
        </p:nvSpPr>
        <p:spPr>
          <a:xfrm>
            <a:off x="6080760" y="3794760"/>
            <a:ext cx="255492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Zero tolerance for hallucinations</a:t>
            </a:r>
            <a:endParaRPr lang="de-DE" sz="1300" b="0" u="none" strike="noStrike">
              <a:solidFill>
                <a:srgbClr val="FFFFFF"/>
              </a:solidFill>
              <a:effectLst/>
              <a:uFillTx/>
              <a:latin typeface="Arial"/>
            </a:endParaRPr>
          </a:p>
        </p:txBody>
      </p:sp>
      <p:sp>
        <p:nvSpPr>
          <p:cNvPr id="41" name="Text 14"/>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42" name="Text 15"/>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3 / 19</a:t>
            </a:r>
            <a:endParaRPr lang="de-DE" sz="800" b="0" u="none" strike="noStrike">
              <a:solidFill>
                <a:srgbClr val="FFFFFF"/>
              </a:solidFill>
              <a:effectLst/>
              <a:uFillTx/>
              <a:latin typeface="Arial"/>
            </a:endParaRPr>
          </a:p>
        </p:txBody>
      </p:sp>
      <p:pic>
        <p:nvPicPr>
          <p:cNvPr id="43" name="Grafik 35"/>
          <p:cNvPicPr/>
          <p:nvPr/>
        </p:nvPicPr>
        <p:blipFill>
          <a:blip r:embed="rId1"/>
          <a:stretch/>
        </p:blipFill>
        <p:spPr>
          <a:xfrm>
            <a:off x="1483200" y="2759040"/>
            <a:ext cx="587160" cy="586440"/>
          </a:xfrm>
          <a:prstGeom prst="rect">
            <a:avLst/>
          </a:prstGeom>
          <a:noFill/>
          <a:ln w="0">
            <a:noFill/>
          </a:ln>
        </p:spPr>
      </p:pic>
      <p:pic>
        <p:nvPicPr>
          <p:cNvPr id="44" name="Grafik 36"/>
          <p:cNvPicPr/>
          <p:nvPr/>
        </p:nvPicPr>
        <p:blipFill>
          <a:blip r:embed="rId2"/>
          <a:stretch/>
        </p:blipFill>
        <p:spPr>
          <a:xfrm>
            <a:off x="4343760" y="2759040"/>
            <a:ext cx="450720" cy="595440"/>
          </a:xfrm>
          <a:prstGeom prst="rect">
            <a:avLst/>
          </a:prstGeom>
          <a:noFill/>
          <a:ln w="0">
            <a:noFill/>
          </a:ln>
        </p:spPr>
      </p:pic>
      <p:pic>
        <p:nvPicPr>
          <p:cNvPr id="45" name="Grafik 37"/>
          <p:cNvPicPr/>
          <p:nvPr/>
        </p:nvPicPr>
        <p:blipFill>
          <a:blip r:embed="rId3"/>
          <a:stretch/>
        </p:blipFill>
        <p:spPr>
          <a:xfrm>
            <a:off x="7048800" y="2759040"/>
            <a:ext cx="607320" cy="60732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46" name="Shape 1"/>
          <p:cNvSpPr/>
          <p:nvPr/>
        </p:nvSpPr>
        <p:spPr>
          <a:xfrm>
            <a:off x="452520" y="1626480"/>
            <a:ext cx="1823400" cy="1457640"/>
          </a:xfrm>
          <a:prstGeom prst="roundRect">
            <a:avLst>
              <a:gd name="adj" fmla="val 10764"/>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47"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Four stages — one workflow</a:t>
            </a:r>
            <a:endParaRPr lang="de-DE" sz="2400" b="0" u="none" strike="noStrike">
              <a:solidFill>
                <a:srgbClr val="FFFFFF"/>
              </a:solidFill>
              <a:effectLst/>
              <a:uFillTx/>
              <a:latin typeface="Arial"/>
            </a:endParaRPr>
          </a:p>
        </p:txBody>
      </p:sp>
      <p:sp>
        <p:nvSpPr>
          <p:cNvPr id="48" name="Text 2"/>
          <p:cNvSpPr/>
          <p:nvPr/>
        </p:nvSpPr>
        <p:spPr>
          <a:xfrm>
            <a:off x="589680" y="2175120"/>
            <a:ext cx="154908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Audio Capture</a:t>
            </a:r>
            <a:endParaRPr lang="de-DE" sz="1600" b="0" u="none" strike="noStrike">
              <a:solidFill>
                <a:srgbClr val="FFFFFF"/>
              </a:solidFill>
              <a:effectLst/>
              <a:uFillTx/>
              <a:latin typeface="Arial"/>
            </a:endParaRPr>
          </a:p>
        </p:txBody>
      </p:sp>
      <p:sp>
        <p:nvSpPr>
          <p:cNvPr id="49" name="Text 4"/>
          <p:cNvSpPr/>
          <p:nvPr/>
        </p:nvSpPr>
        <p:spPr>
          <a:xfrm>
            <a:off x="2281320" y="2175120"/>
            <a:ext cx="27792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0" name="Shape 5"/>
          <p:cNvSpPr/>
          <p:nvPr/>
        </p:nvSpPr>
        <p:spPr>
          <a:xfrm>
            <a:off x="2583360" y="1626480"/>
            <a:ext cx="1823400" cy="145764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1" name="Text 6"/>
          <p:cNvSpPr/>
          <p:nvPr/>
        </p:nvSpPr>
        <p:spPr>
          <a:xfrm>
            <a:off x="2715840" y="2175120"/>
            <a:ext cx="154908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STT + Diarization</a:t>
            </a:r>
            <a:endParaRPr lang="de-DE" sz="1600" b="0" u="none" strike="noStrike">
              <a:solidFill>
                <a:srgbClr val="FFFFFF"/>
              </a:solidFill>
              <a:effectLst/>
              <a:uFillTx/>
              <a:latin typeface="Arial"/>
            </a:endParaRPr>
          </a:p>
        </p:txBody>
      </p:sp>
      <p:sp>
        <p:nvSpPr>
          <p:cNvPr id="52" name="Text 8"/>
          <p:cNvSpPr/>
          <p:nvPr/>
        </p:nvSpPr>
        <p:spPr>
          <a:xfrm>
            <a:off x="4430160" y="2175120"/>
            <a:ext cx="27792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3" name="Shape 9"/>
          <p:cNvSpPr/>
          <p:nvPr/>
        </p:nvSpPr>
        <p:spPr>
          <a:xfrm>
            <a:off x="4732200" y="1626480"/>
            <a:ext cx="1823400" cy="145764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4" name="Text 10"/>
          <p:cNvSpPr/>
          <p:nvPr/>
        </p:nvSpPr>
        <p:spPr>
          <a:xfrm>
            <a:off x="4869360" y="2175120"/>
            <a:ext cx="154908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Format LLM</a:t>
            </a:r>
            <a:endParaRPr lang="de-DE" sz="1600" b="0" u="none" strike="noStrike">
              <a:solidFill>
                <a:srgbClr val="FFFFFF"/>
              </a:solidFill>
              <a:effectLst/>
              <a:uFillTx/>
              <a:latin typeface="Arial"/>
            </a:endParaRPr>
          </a:p>
        </p:txBody>
      </p:sp>
      <p:sp>
        <p:nvSpPr>
          <p:cNvPr id="55" name="Text 12"/>
          <p:cNvSpPr/>
          <p:nvPr/>
        </p:nvSpPr>
        <p:spPr>
          <a:xfrm>
            <a:off x="6579000" y="2175120"/>
            <a:ext cx="27792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6" name="Shape 13"/>
          <p:cNvSpPr/>
          <p:nvPr/>
        </p:nvSpPr>
        <p:spPr>
          <a:xfrm>
            <a:off x="6881040" y="1626480"/>
            <a:ext cx="1823400" cy="145764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7" name="Text 14"/>
          <p:cNvSpPr/>
          <p:nvPr/>
        </p:nvSpPr>
        <p:spPr>
          <a:xfrm>
            <a:off x="6995160" y="2178360"/>
            <a:ext cx="154908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SOAP LLM</a:t>
            </a:r>
            <a:endParaRPr lang="de-DE" sz="1600" b="0" u="none" strike="noStrike">
              <a:solidFill>
                <a:srgbClr val="FFFFFF"/>
              </a:solidFill>
              <a:effectLst/>
              <a:uFillTx/>
              <a:latin typeface="Arial"/>
            </a:endParaRPr>
          </a:p>
        </p:txBody>
      </p:sp>
      <p:sp>
        <p:nvSpPr>
          <p:cNvPr id="58" name="Text 16"/>
          <p:cNvSpPr/>
          <p:nvPr/>
        </p:nvSpPr>
        <p:spPr>
          <a:xfrm>
            <a:off x="434520" y="3226680"/>
            <a:ext cx="182340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① Recording</a:t>
            </a:r>
            <a:endParaRPr lang="de-DE" sz="1300" b="0" u="none" strike="noStrike">
              <a:solidFill>
                <a:srgbClr val="FFFFFF"/>
              </a:solidFill>
              <a:effectLst/>
              <a:uFillTx/>
              <a:latin typeface="Arial"/>
            </a:endParaRPr>
          </a:p>
        </p:txBody>
      </p:sp>
      <p:sp>
        <p:nvSpPr>
          <p:cNvPr id="59" name="Text 17"/>
          <p:cNvSpPr/>
          <p:nvPr/>
        </p:nvSpPr>
        <p:spPr>
          <a:xfrm>
            <a:off x="2583360" y="3226680"/>
            <a:ext cx="182340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② Transcribe</a:t>
            </a:r>
            <a:endParaRPr lang="de-DE" sz="1300" b="0" u="none" strike="noStrike">
              <a:solidFill>
                <a:srgbClr val="FFFFFF"/>
              </a:solidFill>
              <a:effectLst/>
              <a:uFillTx/>
              <a:latin typeface="Arial"/>
            </a:endParaRPr>
          </a:p>
        </p:txBody>
      </p:sp>
      <p:sp>
        <p:nvSpPr>
          <p:cNvPr id="60" name="Text 18"/>
          <p:cNvSpPr/>
          <p:nvPr/>
        </p:nvSpPr>
        <p:spPr>
          <a:xfrm>
            <a:off x="4732200" y="3226680"/>
            <a:ext cx="182340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③ Format</a:t>
            </a:r>
            <a:endParaRPr lang="de-DE" sz="1300" b="0" u="none" strike="noStrike">
              <a:solidFill>
                <a:srgbClr val="FFFFFF"/>
              </a:solidFill>
              <a:effectLst/>
              <a:uFillTx/>
              <a:latin typeface="Arial"/>
            </a:endParaRPr>
          </a:p>
        </p:txBody>
      </p:sp>
      <p:sp>
        <p:nvSpPr>
          <p:cNvPr id="61" name="Text 19"/>
          <p:cNvSpPr/>
          <p:nvPr/>
        </p:nvSpPr>
        <p:spPr>
          <a:xfrm>
            <a:off x="6881040" y="3226680"/>
            <a:ext cx="182340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④ Generate</a:t>
            </a:r>
            <a:endParaRPr lang="de-DE" sz="1300" b="0" u="none" strike="noStrike">
              <a:solidFill>
                <a:srgbClr val="FFFFFF"/>
              </a:solidFill>
              <a:effectLst/>
              <a:uFillTx/>
              <a:latin typeface="Arial"/>
            </a:endParaRPr>
          </a:p>
        </p:txBody>
      </p:sp>
      <p:sp>
        <p:nvSpPr>
          <p:cNvPr id="62" name="Text 20"/>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63" name="Text 21"/>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fill="hold"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fill="hold" nodeType="with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par>
                                <p:cTn id="15" presetID="1" presetClass="entr" fill="hold" nodeType="with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par>
                                <p:cTn id="17" presetID="1" presetClass="entr" fill="hold" nodeType="with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par>
                                <p:cTn id="19" presetID="1" presetClass="entr" fill="hold"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fill="hold"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par>
                                <p:cTn id="27" presetID="1" presetClass="entr" fill="hold" nodeType="withEffect">
                                  <p:stCondLst>
                                    <p:cond delay="0"/>
                                  </p:stCondLst>
                                  <p:childTnLst>
                                    <p:set>
                                      <p:cBhvr>
                                        <p:cTn id="28" dur="1" fill="hold">
                                          <p:stCondLst>
                                            <p:cond delay="0"/>
                                          </p:stCondLst>
                                        </p:cTn>
                                        <p:tgtEl>
                                          <p:spTgt spid="60"/>
                                        </p:tgtEl>
                                        <p:attrNameLst>
                                          <p:attrName>style.visibility</p:attrName>
                                        </p:attrNameLst>
                                      </p:cBhvr>
                                      <p:to>
                                        <p:strVal val="visible"/>
                                      </p:to>
                                    </p:set>
                                  </p:childTnLst>
                                </p:cTn>
                              </p:par>
                              <p:par>
                                <p:cTn id="29" presetID="1" presetClass="entr" fill="hold"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fill="hold" nodeType="clickEffect">
                                  <p:stCondLst>
                                    <p:cond delay="0"/>
                                  </p:stCondLst>
                                  <p:childTnLst>
                                    <p:set>
                                      <p:cBhvr>
                                        <p:cTn id="34" dur="1" fill="hold">
                                          <p:stCondLst>
                                            <p:cond delay="0"/>
                                          </p:stCondLst>
                                        </p:cTn>
                                        <p:tgtEl>
                                          <p:spTgt spid="56"/>
                                        </p:tgtEl>
                                        <p:attrNameLst>
                                          <p:attrName>style.visibility</p:attrName>
                                        </p:attrNameLst>
                                      </p:cBhvr>
                                      <p:to>
                                        <p:strVal val="visible"/>
                                      </p:to>
                                    </p:set>
                                  </p:childTnLst>
                                </p:cTn>
                              </p:par>
                              <p:par>
                                <p:cTn id="35" presetID="1" presetClass="entr"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childTnLst>
                                </p:cTn>
                              </p:par>
                              <p:par>
                                <p:cTn id="37" presetID="1" presetClass="entr" fill="hold" nodeType="withEffect">
                                  <p:stCondLst>
                                    <p:cond delay="0"/>
                                  </p:stCondLst>
                                  <p:childTnLst>
                                    <p:set>
                                      <p:cBhvr>
                                        <p:cTn id="38" dur="1" fill="hold">
                                          <p:stCondLst>
                                            <p:cond delay="0"/>
                                          </p:stCondLst>
                                        </p:cTn>
                                        <p:tgtEl>
                                          <p:spTgt spid="61"/>
                                        </p:tgtEl>
                                        <p:attrNameLst>
                                          <p:attrName>style.visibility</p:attrName>
                                        </p:attrNameLst>
                                      </p:cBhvr>
                                      <p:to>
                                        <p:strVal val="visible"/>
                                      </p:to>
                                    </p:set>
                                  </p:childTnLst>
                                </p:cTn>
                              </p:par>
                              <p:par>
                                <p:cTn id="39" presetID="1" presetClass="entr" fill="hold" nodeType="withEffect">
                                  <p:stCondLst>
                                    <p:cond delay="0"/>
                                  </p:stCondLst>
                                  <p:childTnLst>
                                    <p:set>
                                      <p:cBhvr>
                                        <p:cTn id="40"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64"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Contenders</a:t>
            </a:r>
            <a:endParaRPr lang="de-DE" sz="2400" b="0" u="none" strike="noStrike">
              <a:solidFill>
                <a:srgbClr val="FFFFFF"/>
              </a:solidFill>
              <a:effectLst/>
              <a:uFillTx/>
              <a:latin typeface="Arial"/>
            </a:endParaRPr>
          </a:p>
        </p:txBody>
      </p:sp>
      <p:sp>
        <p:nvSpPr>
          <p:cNvPr id="65" name="Text 1"/>
          <p:cNvSpPr/>
          <p:nvPr/>
        </p:nvSpPr>
        <p:spPr>
          <a:xfrm>
            <a:off x="457200" y="1280160"/>
            <a:ext cx="392652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STT Models</a:t>
            </a:r>
            <a:endParaRPr lang="de-DE" sz="1300" b="0" u="none" strike="noStrike">
              <a:solidFill>
                <a:srgbClr val="FFFFFF"/>
              </a:solidFill>
              <a:effectLst/>
              <a:uFillTx/>
              <a:latin typeface="Arial"/>
            </a:endParaRPr>
          </a:p>
        </p:txBody>
      </p:sp>
      <p:graphicFrame>
        <p:nvGraphicFramePr>
          <p:cNvPr id="66" name="Table 0"/>
          <p:cNvGraphicFramePr/>
          <p:nvPr/>
        </p:nvGraphicFramePr>
        <p:xfrm>
          <a:off x="457200" y="1645920"/>
          <a:ext cx="3931560" cy="116064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AssemblyAI</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Speechmatics</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Whisper turbo (~800M)</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67" name="Text 2"/>
          <p:cNvSpPr/>
          <p:nvPr/>
        </p:nvSpPr>
        <p:spPr>
          <a:xfrm>
            <a:off x="4754880" y="1280160"/>
            <a:ext cx="392652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LLM Models</a:t>
            </a:r>
            <a:endParaRPr lang="de-DE" sz="1300" b="0" u="none" strike="noStrike">
              <a:solidFill>
                <a:srgbClr val="FFFFFF"/>
              </a:solidFill>
              <a:effectLst/>
              <a:uFillTx/>
              <a:latin typeface="Arial"/>
            </a:endParaRPr>
          </a:p>
        </p:txBody>
      </p:sp>
      <p:graphicFrame>
        <p:nvGraphicFramePr>
          <p:cNvPr id="68" name="Table 1"/>
          <p:cNvGraphicFramePr/>
          <p:nvPr/>
        </p:nvGraphicFramePr>
        <p:xfrm>
          <a:off x="4754880" y="1645920"/>
          <a:ext cx="3931560" cy="145080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a:t>
                      </a:r>
                      <a:r>
                        <a:rPr lang="en-US" sz="1300" b="0" u="none" strike="noStrike">
                          <a:solidFill>
                            <a:srgbClr val="E8E8E8"/>
                          </a:solidFill>
                          <a:effectLst/>
                          <a:uFillTx/>
                          <a:latin typeface="DejaVu Serif"/>
                          <a:ea typeface="DejaVu Serif"/>
                        </a:rPr>
                        <a:t>4o</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Cloud</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SauerkrautLM 8B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Llama 3.2 3B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Gemma 4 4B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69" name="Text 3"/>
          <p:cNvSpPr/>
          <p:nvPr/>
        </p:nvSpPr>
        <p:spPr>
          <a:xfrm>
            <a:off x="457200" y="3291840"/>
            <a:ext cx="822420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Tested Combinations</a:t>
            </a:r>
            <a:endParaRPr lang="de-DE" sz="1300" b="0" u="none" strike="noStrike">
              <a:solidFill>
                <a:srgbClr val="FFFFFF"/>
              </a:solidFill>
              <a:effectLst/>
              <a:uFillTx/>
              <a:latin typeface="Arial"/>
            </a:endParaRPr>
          </a:p>
        </p:txBody>
      </p:sp>
      <p:sp>
        <p:nvSpPr>
          <p:cNvPr id="70" name="Shape 4"/>
          <p:cNvSpPr/>
          <p:nvPr/>
        </p:nvSpPr>
        <p:spPr>
          <a:xfrm>
            <a:off x="411480" y="3703320"/>
            <a:ext cx="1549080" cy="81756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1" name="Text 6"/>
          <p:cNvSpPr/>
          <p:nvPr/>
        </p:nvSpPr>
        <p:spPr>
          <a:xfrm>
            <a:off x="502920" y="3960000"/>
            <a:ext cx="136620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DejaVu Serif"/>
                <a:ea typeface="DejaVu Serif"/>
              </a:rPr>
              <a:t>AssemblyAI + GPT-4o</a:t>
            </a:r>
            <a:endParaRPr lang="de-DE" sz="1300" b="0" u="none" strike="noStrike">
              <a:solidFill>
                <a:srgbClr val="FFFFFF"/>
              </a:solidFill>
              <a:effectLst/>
              <a:uFillTx/>
              <a:latin typeface="Arial"/>
            </a:endParaRPr>
          </a:p>
        </p:txBody>
      </p:sp>
      <p:sp>
        <p:nvSpPr>
          <p:cNvPr id="72" name="Shape 7"/>
          <p:cNvSpPr/>
          <p:nvPr/>
        </p:nvSpPr>
        <p:spPr>
          <a:xfrm>
            <a:off x="2103120" y="3703320"/>
            <a:ext cx="1549080" cy="81756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3" name="Text 9"/>
          <p:cNvSpPr/>
          <p:nvPr/>
        </p:nvSpPr>
        <p:spPr>
          <a:xfrm>
            <a:off x="2194560" y="3954960"/>
            <a:ext cx="136620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Speechmatics + GPT-4o</a:t>
            </a:r>
            <a:endParaRPr lang="de-DE" sz="1300" b="0" u="none" strike="noStrike">
              <a:solidFill>
                <a:srgbClr val="FFFFFF"/>
              </a:solidFill>
              <a:effectLst/>
              <a:uFillTx/>
              <a:latin typeface="Arial"/>
            </a:endParaRPr>
          </a:p>
        </p:txBody>
      </p:sp>
      <p:sp>
        <p:nvSpPr>
          <p:cNvPr id="74" name="Shape 10"/>
          <p:cNvSpPr/>
          <p:nvPr/>
        </p:nvSpPr>
        <p:spPr>
          <a:xfrm>
            <a:off x="3794760" y="3703320"/>
            <a:ext cx="1549080" cy="81756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5" name="Text 12"/>
          <p:cNvSpPr/>
          <p:nvPr/>
        </p:nvSpPr>
        <p:spPr>
          <a:xfrm>
            <a:off x="3886200" y="3954960"/>
            <a:ext cx="136620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Sauerkraut</a:t>
            </a:r>
            <a:endParaRPr lang="de-DE" sz="1300" b="0" u="none" strike="noStrike">
              <a:solidFill>
                <a:srgbClr val="FFFFFF"/>
              </a:solidFill>
              <a:effectLst/>
              <a:uFillTx/>
              <a:latin typeface="Arial"/>
            </a:endParaRPr>
          </a:p>
        </p:txBody>
      </p:sp>
      <p:sp>
        <p:nvSpPr>
          <p:cNvPr id="76" name="Shape 13"/>
          <p:cNvSpPr/>
          <p:nvPr/>
        </p:nvSpPr>
        <p:spPr>
          <a:xfrm>
            <a:off x="5486400" y="3703320"/>
            <a:ext cx="1549080" cy="81756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7" name="Text 15"/>
          <p:cNvSpPr/>
          <p:nvPr/>
        </p:nvSpPr>
        <p:spPr>
          <a:xfrm>
            <a:off x="5578200" y="3954960"/>
            <a:ext cx="136620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Llama</a:t>
            </a:r>
            <a:endParaRPr lang="de-DE" sz="1300" b="0" u="none" strike="noStrike">
              <a:solidFill>
                <a:srgbClr val="FFFFFF"/>
              </a:solidFill>
              <a:effectLst/>
              <a:uFillTx/>
              <a:latin typeface="Arial"/>
            </a:endParaRPr>
          </a:p>
        </p:txBody>
      </p:sp>
      <p:sp>
        <p:nvSpPr>
          <p:cNvPr id="78" name="Shape 16"/>
          <p:cNvSpPr/>
          <p:nvPr/>
        </p:nvSpPr>
        <p:spPr>
          <a:xfrm>
            <a:off x="7178040" y="3703320"/>
            <a:ext cx="1549080" cy="81756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9" name="Text 18"/>
          <p:cNvSpPr/>
          <p:nvPr/>
        </p:nvSpPr>
        <p:spPr>
          <a:xfrm>
            <a:off x="7269480" y="3960000"/>
            <a:ext cx="1366200" cy="3146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Gemma</a:t>
            </a:r>
            <a:endParaRPr lang="de-DE" sz="1300" b="0" u="none" strike="noStrike">
              <a:solidFill>
                <a:srgbClr val="FFFFFF"/>
              </a:solidFill>
              <a:effectLst/>
              <a:uFillTx/>
              <a:latin typeface="Arial"/>
            </a:endParaRPr>
          </a:p>
        </p:txBody>
      </p:sp>
      <p:sp>
        <p:nvSpPr>
          <p:cNvPr id="80" name="Text 19"/>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81" name="Text 20"/>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5 / 19</a:t>
            </a:r>
            <a:endParaRPr lang="de-DE" sz="800" b="0" u="none" strike="noStrike">
              <a:solidFill>
                <a:srgbClr val="FFFFFF"/>
              </a:solidFill>
              <a:effectLst/>
              <a:uFillTx/>
              <a:latin typeface="Arial"/>
            </a:endParaRPr>
          </a:p>
        </p:txBody>
      </p:sp>
      <p:pic>
        <p:nvPicPr>
          <p:cNvPr id="82" name="Grafik 75"/>
          <p:cNvPicPr/>
          <p:nvPr/>
        </p:nvPicPr>
        <p:blipFill>
          <a:blip r:embed="rId1"/>
          <a:stretch/>
        </p:blipFill>
        <p:spPr>
          <a:xfrm>
            <a:off x="2933280" y="2022480"/>
            <a:ext cx="174960" cy="95400"/>
          </a:xfrm>
          <a:prstGeom prst="rect">
            <a:avLst/>
          </a:prstGeom>
          <a:noFill/>
          <a:ln w="0">
            <a:noFill/>
          </a:ln>
        </p:spPr>
      </p:pic>
      <p:pic>
        <p:nvPicPr>
          <p:cNvPr id="83" name="Grafik 78"/>
          <p:cNvPicPr/>
          <p:nvPr/>
        </p:nvPicPr>
        <p:blipFill>
          <a:blip r:embed="rId2"/>
          <a:stretch/>
        </p:blipFill>
        <p:spPr>
          <a:xfrm>
            <a:off x="2933280" y="2311560"/>
            <a:ext cx="174960" cy="95400"/>
          </a:xfrm>
          <a:prstGeom prst="rect">
            <a:avLst/>
          </a:prstGeom>
          <a:noFill/>
          <a:ln w="0">
            <a:noFill/>
          </a:ln>
        </p:spPr>
      </p:pic>
      <p:pic>
        <p:nvPicPr>
          <p:cNvPr id="84" name="Grafik 79"/>
          <p:cNvPicPr/>
          <p:nvPr/>
        </p:nvPicPr>
        <p:blipFill>
          <a:blip r:embed="rId3"/>
          <a:stretch/>
        </p:blipFill>
        <p:spPr>
          <a:xfrm>
            <a:off x="7217280" y="2023920"/>
            <a:ext cx="174960" cy="95400"/>
          </a:xfrm>
          <a:prstGeom prst="rect">
            <a:avLst/>
          </a:prstGeom>
          <a:noFill/>
          <a:ln w="0">
            <a:noFill/>
          </a:ln>
        </p:spPr>
      </p:pic>
    </p:spTree>
  </p:cSld>
  <mc:AlternateContent>
    <mc:Choice Requires="p14">
      <p:transition spd="slow" p14:dur="2000"/>
    </mc:Choice>
    <mc:Fallback>
      <p:transition spd="slow"/>
    </mc:Fallback>
  </mc:AlternateContent>
  <p:timing>
    <p:tnLst>
      <p:par>
        <p:cTn id="41" dur="indefinite" restart="never" nodeType="tmRoot">
          <p:childTnLst>
            <p:seq>
              <p:cTn id="42" dur="indefinite" nodeType="mainSeq">
                <p:childTnLst>
                  <p:par>
                    <p:cTn id="43" fill="hold">
                      <p:stCondLst>
                        <p:cond delay="indefinite"/>
                      </p:stCondLst>
                      <p:childTnLst>
                        <p:par>
                          <p:cTn id="44" fill="hold">
                            <p:stCondLst>
                              <p:cond delay="0"/>
                            </p:stCondLst>
                            <p:childTnLst>
                              <p:par>
                                <p:cTn id="45" presetID="1" presetClass="entr" fill="hold" nodeType="clickEffect">
                                  <p:stCondLst>
                                    <p:cond delay="0"/>
                                  </p:stCondLst>
                                  <p:childTnLst>
                                    <p:set>
                                      <p:cBhvr>
                                        <p:cTn id="46" dur="1" fill="hold">
                                          <p:stCondLst>
                                            <p:cond delay="0"/>
                                          </p:stCondLst>
                                        </p:cTn>
                                        <p:tgtEl>
                                          <p:spTgt spid="69"/>
                                        </p:tgtEl>
                                        <p:attrNameLst>
                                          <p:attrName>style.visibility</p:attrName>
                                        </p:attrNameLst>
                                      </p:cBhvr>
                                      <p:to>
                                        <p:strVal val="visible"/>
                                      </p:to>
                                    </p:set>
                                  </p:childTnLst>
                                </p:cTn>
                              </p:par>
                              <p:par>
                                <p:cTn id="47" presetID="1" presetClass="entr" fill="hold" nodeType="withEffect">
                                  <p:stCondLst>
                                    <p:cond delay="0"/>
                                  </p:stCondLst>
                                  <p:childTnLst>
                                    <p:set>
                                      <p:cBhvr>
                                        <p:cTn id="48" dur="1" fill="hold">
                                          <p:stCondLst>
                                            <p:cond delay="0"/>
                                          </p:stCondLst>
                                        </p:cTn>
                                        <p:tgtEl>
                                          <p:spTgt spid="70"/>
                                        </p:tgtEl>
                                        <p:attrNameLst>
                                          <p:attrName>style.visibility</p:attrName>
                                        </p:attrNameLst>
                                      </p:cBhvr>
                                      <p:to>
                                        <p:strVal val="visible"/>
                                      </p:to>
                                    </p:set>
                                  </p:childTnLst>
                                </p:cTn>
                              </p:par>
                              <p:par>
                                <p:cTn id="49" presetID="1" presetClass="entr" fill="hold" nodeType="withEffect">
                                  <p:stCondLst>
                                    <p:cond delay="0"/>
                                  </p:stCondLst>
                                  <p:childTnLst>
                                    <p:set>
                                      <p:cBhvr>
                                        <p:cTn id="50" dur="1" fill="hold">
                                          <p:stCondLst>
                                            <p:cond delay="0"/>
                                          </p:stCondLst>
                                        </p:cTn>
                                        <p:tgtEl>
                                          <p:spTgt spid="71"/>
                                        </p:tgtEl>
                                        <p:attrNameLst>
                                          <p:attrName>style.visibility</p:attrName>
                                        </p:attrNameLst>
                                      </p:cBhvr>
                                      <p:to>
                                        <p:strVal val="visible"/>
                                      </p:to>
                                    </p:set>
                                  </p:childTnLst>
                                </p:cTn>
                              </p:par>
                              <p:par>
                                <p:cTn id="51" presetID="1" presetClass="entr" fill="hold" nodeType="withEffect">
                                  <p:stCondLst>
                                    <p:cond delay="0"/>
                                  </p:stCondLst>
                                  <p:childTnLst>
                                    <p:set>
                                      <p:cBhvr>
                                        <p:cTn id="52" dur="1" fill="hold">
                                          <p:stCondLst>
                                            <p:cond delay="0"/>
                                          </p:stCondLst>
                                        </p:cTn>
                                        <p:tgtEl>
                                          <p:spTgt spid="72"/>
                                        </p:tgtEl>
                                        <p:attrNameLst>
                                          <p:attrName>style.visibility</p:attrName>
                                        </p:attrNameLst>
                                      </p:cBhvr>
                                      <p:to>
                                        <p:strVal val="visible"/>
                                      </p:to>
                                    </p:set>
                                  </p:childTnLst>
                                </p:cTn>
                              </p:par>
                              <p:par>
                                <p:cTn id="53" presetID="1" presetClass="entr" fill="hold"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fill="hold" nodeType="withEffect">
                                  <p:stCondLst>
                                    <p:cond delay="0"/>
                                  </p:stCondLst>
                                  <p:childTnLst>
                                    <p:set>
                                      <p:cBhvr>
                                        <p:cTn id="56" dur="1" fill="hold">
                                          <p:stCondLst>
                                            <p:cond delay="0"/>
                                          </p:stCondLst>
                                        </p:cTn>
                                        <p:tgtEl>
                                          <p:spTgt spid="74"/>
                                        </p:tgtEl>
                                        <p:attrNameLst>
                                          <p:attrName>style.visibility</p:attrName>
                                        </p:attrNameLst>
                                      </p:cBhvr>
                                      <p:to>
                                        <p:strVal val="visible"/>
                                      </p:to>
                                    </p:set>
                                  </p:childTnLst>
                                </p:cTn>
                              </p:par>
                              <p:par>
                                <p:cTn id="57" presetID="1" presetClass="entr" fill="hold" nodeType="withEffect">
                                  <p:stCondLst>
                                    <p:cond delay="0"/>
                                  </p:stCondLst>
                                  <p:childTnLst>
                                    <p:set>
                                      <p:cBhvr>
                                        <p:cTn id="58" dur="1" fill="hold">
                                          <p:stCondLst>
                                            <p:cond delay="0"/>
                                          </p:stCondLst>
                                        </p:cTn>
                                        <p:tgtEl>
                                          <p:spTgt spid="75"/>
                                        </p:tgtEl>
                                        <p:attrNameLst>
                                          <p:attrName>style.visibility</p:attrName>
                                        </p:attrNameLst>
                                      </p:cBhvr>
                                      <p:to>
                                        <p:strVal val="visible"/>
                                      </p:to>
                                    </p:set>
                                  </p:childTnLst>
                                </p:cTn>
                              </p:par>
                              <p:par>
                                <p:cTn id="59" presetID="1" presetClass="entr" fill="hold" nodeType="withEffect">
                                  <p:stCondLst>
                                    <p:cond delay="0"/>
                                  </p:stCondLst>
                                  <p:childTnLst>
                                    <p:set>
                                      <p:cBhvr>
                                        <p:cTn id="60" dur="1" fill="hold">
                                          <p:stCondLst>
                                            <p:cond delay="0"/>
                                          </p:stCondLst>
                                        </p:cTn>
                                        <p:tgtEl>
                                          <p:spTgt spid="76"/>
                                        </p:tgtEl>
                                        <p:attrNameLst>
                                          <p:attrName>style.visibility</p:attrName>
                                        </p:attrNameLst>
                                      </p:cBhvr>
                                      <p:to>
                                        <p:strVal val="visible"/>
                                      </p:to>
                                    </p:set>
                                  </p:childTnLst>
                                </p:cTn>
                              </p:par>
                              <p:par>
                                <p:cTn id="61" presetID="1" presetClass="entr" fill="hold" nodeType="withEffect">
                                  <p:stCondLst>
                                    <p:cond delay="0"/>
                                  </p:stCondLst>
                                  <p:childTnLst>
                                    <p:set>
                                      <p:cBhvr>
                                        <p:cTn id="62" dur="1" fill="hold">
                                          <p:stCondLst>
                                            <p:cond delay="0"/>
                                          </p:stCondLst>
                                        </p:cTn>
                                        <p:tgtEl>
                                          <p:spTgt spid="77"/>
                                        </p:tgtEl>
                                        <p:attrNameLst>
                                          <p:attrName>style.visibility</p:attrName>
                                        </p:attrNameLst>
                                      </p:cBhvr>
                                      <p:to>
                                        <p:strVal val="visible"/>
                                      </p:to>
                                    </p:set>
                                  </p:childTnLst>
                                </p:cTn>
                              </p:par>
                              <p:par>
                                <p:cTn id="63" presetID="1" presetClass="entr" fill="hold" nodeType="with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par>
                                <p:cTn id="65" presetID="1" presetClass="entr" fill="hold" nodeType="withEffect">
                                  <p:stCondLst>
                                    <p:cond delay="0"/>
                                  </p:stCondLst>
                                  <p:childTnLst>
                                    <p:set>
                                      <p:cBhvr>
                                        <p:cTn id="6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85"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Hardware draws the line</a:t>
            </a:r>
            <a:endParaRPr lang="de-DE" sz="2400" b="0" u="none" strike="noStrike">
              <a:solidFill>
                <a:srgbClr val="FFFFFF"/>
              </a:solidFill>
              <a:effectLst/>
              <a:uFillTx/>
              <a:latin typeface="Arial"/>
            </a:endParaRPr>
          </a:p>
        </p:txBody>
      </p:sp>
      <p:sp>
        <p:nvSpPr>
          <p:cNvPr id="86" name="Shape 1"/>
          <p:cNvSpPr/>
          <p:nvPr/>
        </p:nvSpPr>
        <p:spPr>
          <a:xfrm>
            <a:off x="457200" y="1491120"/>
            <a:ext cx="3926520" cy="246348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87" name="Text 2"/>
          <p:cNvSpPr/>
          <p:nvPr/>
        </p:nvSpPr>
        <p:spPr>
          <a:xfrm>
            <a:off x="640080" y="162828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3FAF46"/>
                </a:solidFill>
                <a:effectLst/>
                <a:uFillTx/>
                <a:latin typeface="DejaVu Serif"/>
                <a:ea typeface="DejaVu Serif"/>
              </a:rPr>
              <a:t>On-Prem Stack</a:t>
            </a:r>
            <a:endParaRPr lang="de-DE" sz="1300" b="0" u="none" strike="noStrike">
              <a:solidFill>
                <a:srgbClr val="FFFFFF"/>
              </a:solidFill>
              <a:effectLst/>
              <a:uFillTx/>
              <a:latin typeface="Arial"/>
            </a:endParaRPr>
          </a:p>
        </p:txBody>
      </p:sp>
      <p:sp>
        <p:nvSpPr>
          <p:cNvPr id="88" name="Text 3"/>
          <p:cNvSpPr/>
          <p:nvPr/>
        </p:nvSpPr>
        <p:spPr>
          <a:xfrm>
            <a:off x="685800" y="2131200"/>
            <a:ext cx="3377880" cy="16405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turbo</a:t>
            </a:r>
            <a:r>
              <a:rPr lang="en-US" sz="1300" b="0" u="none" strike="noStrike">
                <a:solidFill>
                  <a:srgbClr val="FFFFFF"/>
                </a:solidFill>
                <a:effectLst/>
                <a:uFillTx/>
                <a:latin typeface="DejaVu Serif"/>
                <a:ea typeface="DejaVu Serif"/>
              </a:rPr>
              <a:t>  ~800M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 Llama / Gemma</a:t>
            </a:r>
            <a:r>
              <a:rPr lang="en-US" sz="1300" b="0" u="none" strike="noStrike">
                <a:solidFill>
                  <a:srgbClr val="FFFFFF"/>
                </a:solidFill>
                <a:effectLst/>
                <a:uFillTx/>
                <a:latin typeface="DejaVu Serif"/>
                <a:ea typeface="DejaVu Serif"/>
              </a:rPr>
              <a:t>  </a:t>
            </a:r>
            <a:br>
              <a:rPr sz="1300"/>
            </a:br>
            <a:r>
              <a:rPr lang="en-US" sz="1300" b="0" u="none" strike="noStrike">
                <a:solidFill>
                  <a:srgbClr val="FFFFFF"/>
                </a:solidFill>
                <a:effectLst/>
                <a:uFillTx/>
                <a:latin typeface="DejaVu Serif"/>
                <a:ea typeface="DejaVu Serif"/>
              </a:rPr>
              <a:t>3–8B params</a:t>
            </a:r>
            <a:endParaRPr lang="de-DE" sz="1300" b="0" u="none" strike="noStrike">
              <a:solidFill>
                <a:srgbClr val="FFFFFF"/>
              </a:solidFill>
              <a:effectLst/>
              <a:uFillTx/>
              <a:latin typeface="Arial"/>
            </a:endParaRPr>
          </a:p>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AMD CPU — 16 GB RAM</a:t>
            </a:r>
            <a:endParaRPr lang="de-DE" sz="1300" b="0" u="none" strike="noStrike">
              <a:solidFill>
                <a:srgbClr val="FFFFFF"/>
              </a:solidFill>
              <a:effectLst/>
              <a:uFillTx/>
              <a:latin typeface="Arial"/>
            </a:endParaRPr>
          </a:p>
        </p:txBody>
      </p:sp>
      <p:sp>
        <p:nvSpPr>
          <p:cNvPr id="89" name="Shape 4"/>
          <p:cNvSpPr/>
          <p:nvPr/>
        </p:nvSpPr>
        <p:spPr>
          <a:xfrm>
            <a:off x="4754880" y="1491120"/>
            <a:ext cx="3926520" cy="246348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0" name="Text 5"/>
          <p:cNvSpPr/>
          <p:nvPr/>
        </p:nvSpPr>
        <p:spPr>
          <a:xfrm>
            <a:off x="4937760" y="162828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Feasibility Limit</a:t>
            </a:r>
            <a:endParaRPr lang="de-DE" sz="1300" b="0" u="none" strike="noStrike">
              <a:solidFill>
                <a:srgbClr val="FFFFFF"/>
              </a:solidFill>
              <a:effectLst/>
              <a:uFillTx/>
              <a:latin typeface="Arial"/>
            </a:endParaRPr>
          </a:p>
        </p:txBody>
      </p:sp>
      <p:sp>
        <p:nvSpPr>
          <p:cNvPr id="91" name="Text 6"/>
          <p:cNvSpPr/>
          <p:nvPr/>
        </p:nvSpPr>
        <p:spPr>
          <a:xfrm>
            <a:off x="4983480" y="2131200"/>
            <a:ext cx="3377880" cy="164052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large-v3</a:t>
            </a:r>
            <a:r>
              <a:rPr lang="en-US" sz="1300" b="0" u="none" strike="noStrike">
                <a:solidFill>
                  <a:srgbClr val="FFFFFF"/>
                </a:solidFill>
                <a:effectLst/>
                <a:uFillTx/>
                <a:latin typeface="DejaVu Serif"/>
                <a:ea typeface="DejaVu Serif"/>
              </a:rPr>
              <a:t>  1.55B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70B</a:t>
            </a:r>
            <a:r>
              <a:rPr lang="en-US" sz="1300" b="0" u="none" strike="noStrike">
                <a:solidFill>
                  <a:srgbClr val="FFFFFF"/>
                </a:solidFill>
                <a:effectLst/>
                <a:uFillTx/>
                <a:latin typeface="DejaVu Serif"/>
                <a:ea typeface="DejaVu Serif"/>
              </a:rPr>
              <a:t>  ~32 GB VRAM</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600" b="0" u="none" strike="noStrike">
                <a:solidFill>
                  <a:srgbClr val="FFFFFF"/>
                </a:solidFill>
                <a:effectLst/>
                <a:uFillTx/>
                <a:latin typeface="DejaVu Serif"/>
                <a:ea typeface="DejaVu Serif"/>
              </a:rPr>
              <a:t> </a:t>
            </a:r>
            <a:endParaRPr lang="de-DE" sz="600" b="0" u="none" strike="noStrike">
              <a:solidFill>
                <a:srgbClr val="FFFFFF"/>
              </a:solidFill>
              <a:effectLst/>
              <a:uFillTx/>
              <a:latin typeface="Arial"/>
            </a:endParaRPr>
          </a:p>
          <a:p>
            <a:pPr defTabSz="914400">
              <a:lnSpc>
                <a:spcPct val="100000"/>
              </a:lnSpc>
              <a:spcAft>
                <a:spcPts val="601"/>
              </a:spcAft>
              <a:tabLst>
                <a:tab pos="0" algn="l"/>
              </a:tabLst>
            </a:pPr>
            <a:r>
              <a:rPr lang="en-US" sz="1300" b="0" u="none" strike="noStrike">
                <a:solidFill>
                  <a:srgbClr val="FFFFFF"/>
                </a:solidFill>
                <a:effectLst/>
                <a:uFillTx/>
                <a:latin typeface="DejaVu Serif"/>
                <a:ea typeface="DejaVu Serif"/>
              </a:rPr>
              <a:t>Resources not available for this evaluation</a:t>
            </a:r>
            <a:endParaRPr lang="de-DE" sz="1300" b="0" u="none" strike="noStrike">
              <a:solidFill>
                <a:srgbClr val="FFFFFF"/>
              </a:solidFill>
              <a:effectLst/>
              <a:uFillTx/>
              <a:latin typeface="Arial"/>
            </a:endParaRPr>
          </a:p>
        </p:txBody>
      </p:sp>
      <p:sp>
        <p:nvSpPr>
          <p:cNvPr id="92" name="Text 7"/>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93" name="Text 8"/>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6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67" dur="indefinite" restart="never" nodeType="tmRoot">
          <p:childTnLst>
            <p:seq>
              <p:cTn id="68" dur="indefinite" nodeType="mainSeq">
                <p:childTnLst>
                  <p:par>
                    <p:cTn id="69" fill="hold">
                      <p:stCondLst>
                        <p:cond delay="indefinite"/>
                      </p:stCondLst>
                      <p:childTnLst>
                        <p:par>
                          <p:cTn id="70" fill="hold">
                            <p:stCondLst>
                              <p:cond delay="0"/>
                            </p:stCondLst>
                            <p:childTnLst>
                              <p:par>
                                <p:cTn id="71" presetID="1" presetClass="entr" fill="hold" nodeType="clickEffect">
                                  <p:stCondLst>
                                    <p:cond delay="0"/>
                                  </p:stCondLst>
                                  <p:childTnLst>
                                    <p:set>
                                      <p:cBhvr>
                                        <p:cTn id="72" dur="1" fill="hold">
                                          <p:stCondLst>
                                            <p:cond delay="0"/>
                                          </p:stCondLst>
                                        </p:cTn>
                                        <p:tgtEl>
                                          <p:spTgt spid="89"/>
                                        </p:tgtEl>
                                        <p:attrNameLst>
                                          <p:attrName>style.visibility</p:attrName>
                                        </p:attrNameLst>
                                      </p:cBhvr>
                                      <p:to>
                                        <p:strVal val="visible"/>
                                      </p:to>
                                    </p:set>
                                  </p:childTnLst>
                                </p:cTn>
                              </p:par>
                              <p:par>
                                <p:cTn id="73" presetID="1" presetClass="entr" fill="hold" nodeType="withEffect">
                                  <p:stCondLst>
                                    <p:cond delay="0"/>
                                  </p:stCondLst>
                                  <p:childTnLst>
                                    <p:set>
                                      <p:cBhvr>
                                        <p:cTn id="74" dur="1" fill="hold">
                                          <p:stCondLst>
                                            <p:cond delay="0"/>
                                          </p:stCondLst>
                                        </p:cTn>
                                        <p:tgtEl>
                                          <p:spTgt spid="90"/>
                                        </p:tgtEl>
                                        <p:attrNameLst>
                                          <p:attrName>style.visibility</p:attrName>
                                        </p:attrNameLst>
                                      </p:cBhvr>
                                      <p:to>
                                        <p:strVal val="visible"/>
                                      </p:to>
                                    </p:set>
                                  </p:childTnLst>
                                </p:cTn>
                              </p:par>
                              <p:par>
                                <p:cTn id="75" presetID="1" presetClass="entr"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94"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From clean recordings to total chaos</a:t>
            </a:r>
            <a:endParaRPr lang="de-DE" sz="2400" b="0" u="none" strike="noStrike">
              <a:solidFill>
                <a:srgbClr val="FFFFFF"/>
              </a:solidFill>
              <a:effectLst/>
              <a:uFillTx/>
              <a:latin typeface="Arial"/>
            </a:endParaRPr>
          </a:p>
        </p:txBody>
      </p:sp>
      <p:sp>
        <p:nvSpPr>
          <p:cNvPr id="95" name="Shape 1"/>
          <p:cNvSpPr/>
          <p:nvPr/>
        </p:nvSpPr>
        <p:spPr>
          <a:xfrm>
            <a:off x="457200" y="1188720"/>
            <a:ext cx="8224200" cy="77184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6" name="Text 2"/>
          <p:cNvSpPr/>
          <p:nvPr/>
        </p:nvSpPr>
        <p:spPr>
          <a:xfrm>
            <a:off x="640080" y="1188720"/>
            <a:ext cx="16405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Standard</a:t>
            </a:r>
            <a:endParaRPr lang="de-DE" sz="1600" b="0" u="none" strike="noStrike">
              <a:solidFill>
                <a:srgbClr val="FFFFFF"/>
              </a:solidFill>
              <a:effectLst/>
              <a:uFillTx/>
              <a:latin typeface="Arial"/>
            </a:endParaRPr>
          </a:p>
        </p:txBody>
      </p:sp>
      <p:sp>
        <p:nvSpPr>
          <p:cNvPr id="97" name="Shape 3"/>
          <p:cNvSpPr/>
          <p:nvPr/>
        </p:nvSpPr>
        <p:spPr>
          <a:xfrm>
            <a:off x="2377440" y="13258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8" name="Text 4"/>
          <p:cNvSpPr/>
          <p:nvPr/>
        </p:nvSpPr>
        <p:spPr>
          <a:xfrm>
            <a:off x="2651760" y="11887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Original</a:t>
            </a:r>
            <a:endParaRPr lang="de-DE" sz="1300" b="0" u="none" strike="noStrike">
              <a:solidFill>
                <a:srgbClr val="FFFFFF"/>
              </a:solidFill>
              <a:effectLst/>
              <a:uFillTx/>
              <a:latin typeface="Arial"/>
            </a:endParaRPr>
          </a:p>
        </p:txBody>
      </p:sp>
      <p:sp>
        <p:nvSpPr>
          <p:cNvPr id="99" name="Text 5"/>
          <p:cNvSpPr/>
          <p:nvPr/>
        </p:nvSpPr>
        <p:spPr>
          <a:xfrm>
            <a:off x="4663440" y="11887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Laptop-Middle</a:t>
            </a:r>
            <a:endParaRPr lang="de-DE" sz="1300" b="0" u="none" strike="noStrike">
              <a:solidFill>
                <a:srgbClr val="FFFFFF"/>
              </a:solidFill>
              <a:effectLst/>
              <a:uFillTx/>
              <a:latin typeface="Arial"/>
            </a:endParaRPr>
          </a:p>
        </p:txBody>
      </p:sp>
      <p:sp>
        <p:nvSpPr>
          <p:cNvPr id="100" name="Text 6"/>
          <p:cNvSpPr/>
          <p:nvPr/>
        </p:nvSpPr>
        <p:spPr>
          <a:xfrm>
            <a:off x="6675120" y="11887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Laptop-Doctor</a:t>
            </a:r>
            <a:endParaRPr lang="de-DE" sz="1300" b="0" u="none" strike="noStrike">
              <a:solidFill>
                <a:srgbClr val="FFFFFF"/>
              </a:solidFill>
              <a:effectLst/>
              <a:uFillTx/>
              <a:latin typeface="Arial"/>
            </a:endParaRPr>
          </a:p>
        </p:txBody>
      </p:sp>
      <p:sp>
        <p:nvSpPr>
          <p:cNvPr id="101" name="Shape 7"/>
          <p:cNvSpPr/>
          <p:nvPr/>
        </p:nvSpPr>
        <p:spPr>
          <a:xfrm>
            <a:off x="457200" y="2103120"/>
            <a:ext cx="8224200" cy="77184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2" name="Text 8"/>
          <p:cNvSpPr/>
          <p:nvPr/>
        </p:nvSpPr>
        <p:spPr>
          <a:xfrm>
            <a:off x="640080" y="2103120"/>
            <a:ext cx="16405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Challenging</a:t>
            </a:r>
            <a:endParaRPr lang="de-DE" sz="1600" b="0" u="none" strike="noStrike">
              <a:solidFill>
                <a:srgbClr val="FFFFFF"/>
              </a:solidFill>
              <a:effectLst/>
              <a:uFillTx/>
              <a:latin typeface="Arial"/>
            </a:endParaRPr>
          </a:p>
        </p:txBody>
      </p:sp>
      <p:sp>
        <p:nvSpPr>
          <p:cNvPr id="103" name="Shape 9"/>
          <p:cNvSpPr/>
          <p:nvPr/>
        </p:nvSpPr>
        <p:spPr>
          <a:xfrm>
            <a:off x="2377440" y="22402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4" name="Text 10"/>
          <p:cNvSpPr/>
          <p:nvPr/>
        </p:nvSpPr>
        <p:spPr>
          <a:xfrm>
            <a:off x="2651760" y="21031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White Noise</a:t>
            </a:r>
            <a:endParaRPr lang="de-DE" sz="1300" b="0" u="none" strike="noStrike">
              <a:solidFill>
                <a:srgbClr val="FFFFFF"/>
              </a:solidFill>
              <a:effectLst/>
              <a:uFillTx/>
              <a:latin typeface="Arial"/>
            </a:endParaRPr>
          </a:p>
        </p:txBody>
      </p:sp>
      <p:sp>
        <p:nvSpPr>
          <p:cNvPr id="105" name="Text 11"/>
          <p:cNvSpPr/>
          <p:nvPr/>
        </p:nvSpPr>
        <p:spPr>
          <a:xfrm>
            <a:off x="4663440" y="21031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Self-Corrections</a:t>
            </a:r>
            <a:endParaRPr lang="de-DE" sz="1300" b="0" u="none" strike="noStrike">
              <a:solidFill>
                <a:srgbClr val="FFFFFF"/>
              </a:solidFill>
              <a:effectLst/>
              <a:uFillTx/>
              <a:latin typeface="Arial"/>
            </a:endParaRPr>
          </a:p>
        </p:txBody>
      </p:sp>
      <p:sp>
        <p:nvSpPr>
          <p:cNvPr id="106" name="Text 12"/>
          <p:cNvSpPr/>
          <p:nvPr/>
        </p:nvSpPr>
        <p:spPr>
          <a:xfrm>
            <a:off x="6675120" y="21031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Interruptions</a:t>
            </a:r>
            <a:endParaRPr lang="de-DE" sz="1300" b="0" u="none" strike="noStrike">
              <a:solidFill>
                <a:srgbClr val="FFFFFF"/>
              </a:solidFill>
              <a:effectLst/>
              <a:uFillTx/>
              <a:latin typeface="Arial"/>
            </a:endParaRPr>
          </a:p>
        </p:txBody>
      </p:sp>
      <p:sp>
        <p:nvSpPr>
          <p:cNvPr id="107" name="Shape 13"/>
          <p:cNvSpPr/>
          <p:nvPr/>
        </p:nvSpPr>
        <p:spPr>
          <a:xfrm>
            <a:off x="457200" y="3017520"/>
            <a:ext cx="8224200" cy="77184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8" name="Text 14"/>
          <p:cNvSpPr/>
          <p:nvPr/>
        </p:nvSpPr>
        <p:spPr>
          <a:xfrm>
            <a:off x="640080" y="3017520"/>
            <a:ext cx="16405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Complex</a:t>
            </a:r>
            <a:endParaRPr lang="de-DE" sz="1600" b="0" u="none" strike="noStrike">
              <a:solidFill>
                <a:srgbClr val="FFFFFF"/>
              </a:solidFill>
              <a:effectLst/>
              <a:uFillTx/>
              <a:latin typeface="Arial"/>
            </a:endParaRPr>
          </a:p>
        </p:txBody>
      </p:sp>
      <p:sp>
        <p:nvSpPr>
          <p:cNvPr id="109" name="Shape 15"/>
          <p:cNvSpPr/>
          <p:nvPr/>
        </p:nvSpPr>
        <p:spPr>
          <a:xfrm>
            <a:off x="2377440" y="31546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0" name="Text 16"/>
          <p:cNvSpPr/>
          <p:nvPr/>
        </p:nvSpPr>
        <p:spPr>
          <a:xfrm>
            <a:off x="2651760" y="30175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Topic Jumps</a:t>
            </a:r>
            <a:endParaRPr lang="de-DE" sz="1300" b="0" u="none" strike="noStrike">
              <a:solidFill>
                <a:srgbClr val="FFFFFF"/>
              </a:solidFill>
              <a:effectLst/>
              <a:uFillTx/>
              <a:latin typeface="Arial"/>
            </a:endParaRPr>
          </a:p>
        </p:txBody>
      </p:sp>
      <p:sp>
        <p:nvSpPr>
          <p:cNvPr id="111" name="Text 17"/>
          <p:cNvSpPr/>
          <p:nvPr/>
        </p:nvSpPr>
        <p:spPr>
          <a:xfrm>
            <a:off x="4663440" y="30175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Mind Changes</a:t>
            </a:r>
            <a:endParaRPr lang="de-DE" sz="1300" b="0" u="none" strike="noStrike">
              <a:solidFill>
                <a:srgbClr val="FFFFFF"/>
              </a:solidFill>
              <a:effectLst/>
              <a:uFillTx/>
              <a:latin typeface="Arial"/>
            </a:endParaRPr>
          </a:p>
        </p:txBody>
      </p:sp>
      <p:sp>
        <p:nvSpPr>
          <p:cNvPr id="112" name="Text 18"/>
          <p:cNvSpPr/>
          <p:nvPr/>
        </p:nvSpPr>
        <p:spPr>
          <a:xfrm>
            <a:off x="6675120" y="3017520"/>
            <a:ext cx="200628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Chaos</a:t>
            </a:r>
            <a:endParaRPr lang="de-DE" sz="1300" b="0" u="none" strike="noStrike">
              <a:solidFill>
                <a:srgbClr val="FFFFFF"/>
              </a:solidFill>
              <a:effectLst/>
              <a:uFillTx/>
              <a:latin typeface="Arial"/>
            </a:endParaRPr>
          </a:p>
        </p:txBody>
      </p:sp>
      <p:sp>
        <p:nvSpPr>
          <p:cNvPr id="113" name="Shape 19"/>
          <p:cNvSpPr/>
          <p:nvPr/>
        </p:nvSpPr>
        <p:spPr>
          <a:xfrm>
            <a:off x="457200" y="3931920"/>
            <a:ext cx="8224200" cy="77184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4" name="Text 20"/>
          <p:cNvSpPr/>
          <p:nvPr/>
        </p:nvSpPr>
        <p:spPr>
          <a:xfrm>
            <a:off x="640080" y="3931920"/>
            <a:ext cx="16405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Real-World</a:t>
            </a:r>
            <a:endParaRPr lang="de-DE" sz="1600" b="0" u="none" strike="noStrike">
              <a:solidFill>
                <a:srgbClr val="FFFFFF"/>
              </a:solidFill>
              <a:effectLst/>
              <a:uFillTx/>
              <a:latin typeface="Arial"/>
            </a:endParaRPr>
          </a:p>
        </p:txBody>
      </p:sp>
      <p:sp>
        <p:nvSpPr>
          <p:cNvPr id="115" name="Shape 21"/>
          <p:cNvSpPr/>
          <p:nvPr/>
        </p:nvSpPr>
        <p:spPr>
          <a:xfrm>
            <a:off x="2377440" y="40690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6" name="Text 22"/>
          <p:cNvSpPr/>
          <p:nvPr/>
        </p:nvSpPr>
        <p:spPr>
          <a:xfrm>
            <a:off x="2651760" y="3931920"/>
            <a:ext cx="30121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Long Anamnesis</a:t>
            </a:r>
            <a:endParaRPr lang="de-DE" sz="1300" b="0" u="none" strike="noStrike">
              <a:solidFill>
                <a:srgbClr val="FFFFFF"/>
              </a:solidFill>
              <a:effectLst/>
              <a:uFillTx/>
              <a:latin typeface="Arial"/>
            </a:endParaRPr>
          </a:p>
        </p:txBody>
      </p:sp>
      <p:sp>
        <p:nvSpPr>
          <p:cNvPr id="117" name="Text 23"/>
          <p:cNvSpPr/>
          <p:nvPr/>
        </p:nvSpPr>
        <p:spPr>
          <a:xfrm>
            <a:off x="4663080" y="3931920"/>
            <a:ext cx="3012120" cy="771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Physiotherapy</a:t>
            </a:r>
            <a:endParaRPr lang="de-DE" sz="1300" b="0" u="none" strike="noStrike">
              <a:solidFill>
                <a:srgbClr val="FFFFFF"/>
              </a:solidFill>
              <a:effectLst/>
              <a:uFillTx/>
              <a:latin typeface="Arial"/>
            </a:endParaRPr>
          </a:p>
        </p:txBody>
      </p:sp>
      <p:sp>
        <p:nvSpPr>
          <p:cNvPr id="118" name="Text 25"/>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19" name="Text 26"/>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77" dur="indefinite" restart="never" nodeType="tmRoot">
          <p:childTnLst>
            <p:seq>
              <p:cTn id="78" dur="indefinite" nodeType="mainSeq">
                <p:childTnLst>
                  <p:par>
                    <p:cTn id="79" fill="hold">
                      <p:stCondLst>
                        <p:cond delay="indefinite"/>
                      </p:stCondLst>
                      <p:childTnLst>
                        <p:par>
                          <p:cTn id="80" fill="hold">
                            <p:stCondLst>
                              <p:cond delay="0"/>
                            </p:stCondLst>
                            <p:childTnLst>
                              <p:par>
                                <p:cTn id="81" presetID="1" presetClass="entr" fill="hold" nodeType="click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fill="hold"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fill="hold"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fill="hold"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fill="hold"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fill="hold" nodeType="clickEffect">
                                  <p:stCondLst>
                                    <p:cond delay="0"/>
                                  </p:stCondLst>
                                  <p:childTnLst>
                                    <p:set>
                                      <p:cBhvr>
                                        <p:cTn id="96" dur="1" fill="hold">
                                          <p:stCondLst>
                                            <p:cond delay="0"/>
                                          </p:stCondLst>
                                        </p:cTn>
                                        <p:tgtEl>
                                          <p:spTgt spid="101"/>
                                        </p:tgtEl>
                                        <p:attrNameLst>
                                          <p:attrName>style.visibility</p:attrName>
                                        </p:attrNameLst>
                                      </p:cBhvr>
                                      <p:to>
                                        <p:strVal val="visible"/>
                                      </p:to>
                                    </p:set>
                                  </p:childTnLst>
                                </p:cTn>
                              </p:par>
                              <p:par>
                                <p:cTn id="97" presetID="1" presetClass="entr" fill="hold" nodeType="withEffect">
                                  <p:stCondLst>
                                    <p:cond delay="0"/>
                                  </p:stCondLst>
                                  <p:childTnLst>
                                    <p:set>
                                      <p:cBhvr>
                                        <p:cTn id="98" dur="1" fill="hold">
                                          <p:stCondLst>
                                            <p:cond delay="0"/>
                                          </p:stCondLst>
                                        </p:cTn>
                                        <p:tgtEl>
                                          <p:spTgt spid="102"/>
                                        </p:tgtEl>
                                        <p:attrNameLst>
                                          <p:attrName>style.visibility</p:attrName>
                                        </p:attrNameLst>
                                      </p:cBhvr>
                                      <p:to>
                                        <p:strVal val="visible"/>
                                      </p:to>
                                    </p:set>
                                  </p:childTnLst>
                                </p:cTn>
                              </p:par>
                              <p:par>
                                <p:cTn id="99" presetID="1" presetClass="entr" fill="hold" nodeType="withEffect">
                                  <p:stCondLst>
                                    <p:cond delay="0"/>
                                  </p:stCondLst>
                                  <p:childTnLst>
                                    <p:set>
                                      <p:cBhvr>
                                        <p:cTn id="100" dur="1" fill="hold">
                                          <p:stCondLst>
                                            <p:cond delay="0"/>
                                          </p:stCondLst>
                                        </p:cTn>
                                        <p:tgtEl>
                                          <p:spTgt spid="103"/>
                                        </p:tgtEl>
                                        <p:attrNameLst>
                                          <p:attrName>style.visibility</p:attrName>
                                        </p:attrNameLst>
                                      </p:cBhvr>
                                      <p:to>
                                        <p:strVal val="visible"/>
                                      </p:to>
                                    </p:set>
                                  </p:childTnLst>
                                </p:cTn>
                              </p:par>
                              <p:par>
                                <p:cTn id="101" presetID="1" presetClass="entr"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childTnLst>
                                </p:cTn>
                              </p:par>
                              <p:par>
                                <p:cTn id="103" presetID="1" presetClass="entr" fill="hold" nodeType="withEffect">
                                  <p:stCondLst>
                                    <p:cond delay="0"/>
                                  </p:stCondLst>
                                  <p:childTnLst>
                                    <p:set>
                                      <p:cBhvr>
                                        <p:cTn id="104" dur="1" fill="hold">
                                          <p:stCondLst>
                                            <p:cond delay="0"/>
                                          </p:stCondLst>
                                        </p:cTn>
                                        <p:tgtEl>
                                          <p:spTgt spid="105"/>
                                        </p:tgtEl>
                                        <p:attrNameLst>
                                          <p:attrName>style.visibility</p:attrName>
                                        </p:attrNameLst>
                                      </p:cBhvr>
                                      <p:to>
                                        <p:strVal val="visible"/>
                                      </p:to>
                                    </p:set>
                                  </p:childTnLst>
                                </p:cTn>
                              </p:par>
                              <p:par>
                                <p:cTn id="105" presetID="1" presetClass="entr" fill="hold" nodeType="withEffect">
                                  <p:stCondLst>
                                    <p:cond delay="0"/>
                                  </p:stCondLst>
                                  <p:childTnLst>
                                    <p:set>
                                      <p:cBhvr>
                                        <p:cTn id="106" dur="1" fill="hold">
                                          <p:stCondLst>
                                            <p:cond delay="0"/>
                                          </p:stCondLst>
                                        </p:cTn>
                                        <p:tgtEl>
                                          <p:spTgt spid="106"/>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fill="hold" nodeType="click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fill="hold"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par>
                                <p:cTn id="113" presetID="1" presetClass="entr" fill="hold" nodeType="withEffect">
                                  <p:stCondLst>
                                    <p:cond delay="0"/>
                                  </p:stCondLst>
                                  <p:childTnLst>
                                    <p:set>
                                      <p:cBhvr>
                                        <p:cTn id="114" dur="1" fill="hold">
                                          <p:stCondLst>
                                            <p:cond delay="0"/>
                                          </p:stCondLst>
                                        </p:cTn>
                                        <p:tgtEl>
                                          <p:spTgt spid="109"/>
                                        </p:tgtEl>
                                        <p:attrNameLst>
                                          <p:attrName>style.visibility</p:attrName>
                                        </p:attrNameLst>
                                      </p:cBhvr>
                                      <p:to>
                                        <p:strVal val="visible"/>
                                      </p:to>
                                    </p:set>
                                  </p:childTnLst>
                                </p:cTn>
                              </p:par>
                              <p:par>
                                <p:cTn id="115" presetID="1" presetClass="entr" fill="hold" nodeType="withEffect">
                                  <p:stCondLst>
                                    <p:cond delay="0"/>
                                  </p:stCondLst>
                                  <p:childTnLst>
                                    <p:set>
                                      <p:cBhvr>
                                        <p:cTn id="116" dur="1" fill="hold">
                                          <p:stCondLst>
                                            <p:cond delay="0"/>
                                          </p:stCondLst>
                                        </p:cTn>
                                        <p:tgtEl>
                                          <p:spTgt spid="110"/>
                                        </p:tgtEl>
                                        <p:attrNameLst>
                                          <p:attrName>style.visibility</p:attrName>
                                        </p:attrNameLst>
                                      </p:cBhvr>
                                      <p:to>
                                        <p:strVal val="visible"/>
                                      </p:to>
                                    </p:set>
                                  </p:childTnLst>
                                </p:cTn>
                              </p:par>
                              <p:par>
                                <p:cTn id="117" presetID="1" presetClass="entr" fill="hold" nodeType="withEffect">
                                  <p:stCondLst>
                                    <p:cond delay="0"/>
                                  </p:stCondLst>
                                  <p:childTnLst>
                                    <p:set>
                                      <p:cBhvr>
                                        <p:cTn id="118" dur="1" fill="hold">
                                          <p:stCondLst>
                                            <p:cond delay="0"/>
                                          </p:stCondLst>
                                        </p:cTn>
                                        <p:tgtEl>
                                          <p:spTgt spid="111"/>
                                        </p:tgtEl>
                                        <p:attrNameLst>
                                          <p:attrName>style.visibility</p:attrName>
                                        </p:attrNameLst>
                                      </p:cBhvr>
                                      <p:to>
                                        <p:strVal val="visible"/>
                                      </p:to>
                                    </p:set>
                                  </p:childTnLst>
                                </p:cTn>
                              </p:par>
                              <p:par>
                                <p:cTn id="119" presetID="1" presetClass="entr" fill="hold" nodeType="withEffect">
                                  <p:stCondLst>
                                    <p:cond delay="0"/>
                                  </p:stCondLst>
                                  <p:childTnLst>
                                    <p:set>
                                      <p:cBhvr>
                                        <p:cTn id="120" dur="1" fill="hold">
                                          <p:stCondLst>
                                            <p:cond delay="0"/>
                                          </p:stCondLst>
                                        </p:cTn>
                                        <p:tgtEl>
                                          <p:spTgt spid="112"/>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fill="hold" nodeType="click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fill="hold"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fill="hold"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fill="hold"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fill="hold"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20"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independent measurements per run</a:t>
            </a:r>
            <a:endParaRPr lang="de-DE" sz="2400" b="0" u="none" strike="noStrike">
              <a:solidFill>
                <a:srgbClr val="FFFFFF"/>
              </a:solidFill>
              <a:effectLst/>
              <a:uFillTx/>
              <a:latin typeface="Arial"/>
            </a:endParaRPr>
          </a:p>
        </p:txBody>
      </p:sp>
      <p:sp>
        <p:nvSpPr>
          <p:cNvPr id="121" name="Shape 1"/>
          <p:cNvSpPr/>
          <p:nvPr/>
        </p:nvSpPr>
        <p:spPr>
          <a:xfrm>
            <a:off x="41148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2" name="Shape 2"/>
          <p:cNvSpPr/>
          <p:nvPr/>
        </p:nvSpPr>
        <p:spPr>
          <a:xfrm>
            <a:off x="411480" y="1280160"/>
            <a:ext cx="2646360" cy="10440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23" name="Text 3"/>
          <p:cNvSpPr/>
          <p:nvPr/>
        </p:nvSpPr>
        <p:spPr>
          <a:xfrm>
            <a:off x="411480" y="1508760"/>
            <a:ext cx="2646360" cy="45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24" name="Text 4"/>
          <p:cNvSpPr/>
          <p:nvPr/>
        </p:nvSpPr>
        <p:spPr>
          <a:xfrm>
            <a:off x="411480" y="2011680"/>
            <a:ext cx="264636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WER</a:t>
            </a:r>
            <a:endParaRPr lang="de-DE" sz="1600" b="0" u="none" strike="noStrike">
              <a:solidFill>
                <a:srgbClr val="FFFFFF"/>
              </a:solidFill>
              <a:effectLst/>
              <a:uFillTx/>
              <a:latin typeface="Arial"/>
            </a:endParaRPr>
          </a:p>
        </p:txBody>
      </p:sp>
      <p:sp>
        <p:nvSpPr>
          <p:cNvPr id="125" name="Text 5"/>
          <p:cNvSpPr/>
          <p:nvPr/>
        </p:nvSpPr>
        <p:spPr>
          <a:xfrm>
            <a:off x="411480" y="2423160"/>
            <a:ext cx="264636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Word Error Rate</a:t>
            </a:r>
            <a:endParaRPr lang="de-DE" sz="1300" b="0" u="none" strike="noStrike">
              <a:solidFill>
                <a:srgbClr val="FFFFFF"/>
              </a:solidFill>
              <a:effectLst/>
              <a:uFillTx/>
              <a:latin typeface="Arial"/>
            </a:endParaRPr>
          </a:p>
        </p:txBody>
      </p:sp>
      <p:sp>
        <p:nvSpPr>
          <p:cNvPr id="126" name="Text 6"/>
          <p:cNvSpPr/>
          <p:nvPr/>
        </p:nvSpPr>
        <p:spPr>
          <a:xfrm>
            <a:off x="548640" y="2926080"/>
            <a:ext cx="237204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Ground Truth vs. RAW STT</a:t>
            </a:r>
            <a:endParaRPr lang="de-DE" sz="1300" b="0" u="none" strike="noStrike">
              <a:solidFill>
                <a:srgbClr val="FFFFFF"/>
              </a:solidFill>
              <a:effectLst/>
              <a:uFillTx/>
              <a:latin typeface="Arial"/>
            </a:endParaRPr>
          </a:p>
        </p:txBody>
      </p:sp>
      <p:sp>
        <p:nvSpPr>
          <p:cNvPr id="127" name="Shape 7"/>
          <p:cNvSpPr/>
          <p:nvPr/>
        </p:nvSpPr>
        <p:spPr>
          <a:xfrm>
            <a:off x="324612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8" name="Shape 8"/>
          <p:cNvSpPr/>
          <p:nvPr/>
        </p:nvSpPr>
        <p:spPr>
          <a:xfrm>
            <a:off x="3246120" y="1280160"/>
            <a:ext cx="2646360" cy="10440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29" name="Text 9"/>
          <p:cNvSpPr/>
          <p:nvPr/>
        </p:nvSpPr>
        <p:spPr>
          <a:xfrm>
            <a:off x="3246120" y="1508760"/>
            <a:ext cx="2646360" cy="45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30" name="Text 10"/>
          <p:cNvSpPr/>
          <p:nvPr/>
        </p:nvSpPr>
        <p:spPr>
          <a:xfrm>
            <a:off x="3246120" y="2011680"/>
            <a:ext cx="264636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LLM Fidelity</a:t>
            </a:r>
            <a:endParaRPr lang="de-DE" sz="1600" b="0" u="none" strike="noStrike">
              <a:solidFill>
                <a:srgbClr val="FFFFFF"/>
              </a:solidFill>
              <a:effectLst/>
              <a:uFillTx/>
              <a:latin typeface="Arial"/>
            </a:endParaRPr>
          </a:p>
        </p:txBody>
      </p:sp>
      <p:sp>
        <p:nvSpPr>
          <p:cNvPr id="131" name="Text 11"/>
          <p:cNvSpPr/>
          <p:nvPr/>
        </p:nvSpPr>
        <p:spPr>
          <a:xfrm>
            <a:off x="3246120" y="2423160"/>
            <a:ext cx="264636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Did the LLM hallucinate?</a:t>
            </a:r>
            <a:endParaRPr lang="de-DE" sz="1300" b="0" u="none" strike="noStrike">
              <a:solidFill>
                <a:srgbClr val="FFFFFF"/>
              </a:solidFill>
              <a:effectLst/>
              <a:uFillTx/>
              <a:latin typeface="Arial"/>
            </a:endParaRPr>
          </a:p>
        </p:txBody>
      </p:sp>
      <p:sp>
        <p:nvSpPr>
          <p:cNvPr id="132" name="Text 12"/>
          <p:cNvSpPr/>
          <p:nvPr/>
        </p:nvSpPr>
        <p:spPr>
          <a:xfrm>
            <a:off x="3383280" y="2926080"/>
            <a:ext cx="237204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RAW STT vs. Formatted</a:t>
            </a:r>
            <a:endParaRPr lang="de-DE" sz="1300" b="0" u="none" strike="noStrike">
              <a:solidFill>
                <a:srgbClr val="FFFFFF"/>
              </a:solidFill>
              <a:effectLst/>
              <a:uFillTx/>
              <a:latin typeface="Arial"/>
            </a:endParaRPr>
          </a:p>
        </p:txBody>
      </p:sp>
      <p:sp>
        <p:nvSpPr>
          <p:cNvPr id="133" name="Shape 13"/>
          <p:cNvSpPr/>
          <p:nvPr/>
        </p:nvSpPr>
        <p:spPr>
          <a:xfrm>
            <a:off x="608076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34" name="Shape 14"/>
          <p:cNvSpPr/>
          <p:nvPr/>
        </p:nvSpPr>
        <p:spPr>
          <a:xfrm>
            <a:off x="6080760" y="1280160"/>
            <a:ext cx="2646360" cy="10440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35" name="Text 15"/>
          <p:cNvSpPr/>
          <p:nvPr/>
        </p:nvSpPr>
        <p:spPr>
          <a:xfrm>
            <a:off x="6080760" y="1508760"/>
            <a:ext cx="2646360" cy="451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chemeClr val="lt1"/>
                </a:solidFill>
                <a:effectLst/>
                <a:uFillTx/>
                <a:latin typeface="Calibri"/>
                <a:ea typeface="DejaVu Sans"/>
              </a:rPr>
              <a:t>⚕</a:t>
            </a:r>
            <a:endParaRPr lang="de-DE" sz="2800" b="0" u="none" strike="noStrike">
              <a:solidFill>
                <a:srgbClr val="FFFFFF"/>
              </a:solidFill>
              <a:effectLst/>
              <a:uFillTx/>
              <a:latin typeface="Arial"/>
            </a:endParaRPr>
          </a:p>
        </p:txBody>
      </p:sp>
      <p:sp>
        <p:nvSpPr>
          <p:cNvPr id="136" name="Text 16"/>
          <p:cNvSpPr/>
          <p:nvPr/>
        </p:nvSpPr>
        <p:spPr>
          <a:xfrm>
            <a:off x="6080760" y="2011680"/>
            <a:ext cx="264636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SOAP Quality</a:t>
            </a:r>
            <a:endParaRPr lang="de-DE" sz="1600" b="0" u="none" strike="noStrike">
              <a:solidFill>
                <a:srgbClr val="FFFFFF"/>
              </a:solidFill>
              <a:effectLst/>
              <a:uFillTx/>
              <a:latin typeface="Arial"/>
            </a:endParaRPr>
          </a:p>
        </p:txBody>
      </p:sp>
      <p:sp>
        <p:nvSpPr>
          <p:cNvPr id="137" name="Text 17"/>
          <p:cNvSpPr/>
          <p:nvPr/>
        </p:nvSpPr>
        <p:spPr>
          <a:xfrm>
            <a:off x="6080760" y="2423160"/>
            <a:ext cx="264636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Is the note medically usable?</a:t>
            </a:r>
            <a:endParaRPr lang="de-DE" sz="1300" b="0" u="none" strike="noStrike">
              <a:solidFill>
                <a:srgbClr val="FFFFFF"/>
              </a:solidFill>
              <a:effectLst/>
              <a:uFillTx/>
              <a:latin typeface="Arial"/>
            </a:endParaRPr>
          </a:p>
        </p:txBody>
      </p:sp>
      <p:sp>
        <p:nvSpPr>
          <p:cNvPr id="138" name="Text 18"/>
          <p:cNvSpPr/>
          <p:nvPr/>
        </p:nvSpPr>
        <p:spPr>
          <a:xfrm>
            <a:off x="6217920" y="2926080"/>
            <a:ext cx="2372040" cy="268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Claude-as-Judge (0–8 pts)</a:t>
            </a:r>
            <a:endParaRPr lang="de-DE" sz="1300" b="0" u="none" strike="noStrike">
              <a:solidFill>
                <a:srgbClr val="FFFFFF"/>
              </a:solidFill>
              <a:effectLst/>
              <a:uFillTx/>
              <a:latin typeface="Arial"/>
            </a:endParaRPr>
          </a:p>
        </p:txBody>
      </p:sp>
      <p:sp>
        <p:nvSpPr>
          <p:cNvPr id="139" name="Shape 19"/>
          <p:cNvSpPr/>
          <p:nvPr/>
        </p:nvSpPr>
        <p:spPr>
          <a:xfrm>
            <a:off x="457200" y="4114800"/>
            <a:ext cx="8224200" cy="497520"/>
          </a:xfrm>
          <a:prstGeom prst="roundRect">
            <a:avLst>
              <a:gd name="adj" fmla="val 27273"/>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40" name="Text 20"/>
          <p:cNvSpPr/>
          <p:nvPr/>
        </p:nvSpPr>
        <p:spPr>
          <a:xfrm>
            <a:off x="594360" y="4160520"/>
            <a:ext cx="7949880" cy="40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Safety Rule:</a:t>
            </a:r>
            <a:r>
              <a:rPr lang="en-US" sz="1300" b="1" u="none" strike="noStrike">
                <a:solidFill>
                  <a:srgbClr val="D04A02"/>
                </a:solidFill>
                <a:effectLst/>
                <a:uFillTx/>
                <a:latin typeface="DejaVu Serif"/>
                <a:ea typeface="DejaVu Serif"/>
              </a:rPr>
              <a:t> </a:t>
            </a:r>
            <a:r>
              <a:rPr lang="en-US" sz="1300" b="0" u="none" strike="noStrike">
                <a:solidFill>
                  <a:srgbClr val="E8E8E8"/>
                </a:solidFill>
                <a:effectLst/>
                <a:uFillTx/>
                <a:latin typeface="DejaVu Serif"/>
                <a:ea typeface="DejaVu Serif"/>
              </a:rPr>
              <a:t>Any hallucinated diagnosis or treatment = </a:t>
            </a:r>
            <a:r>
              <a:rPr lang="en-US" sz="1300" b="1" u="none" strike="noStrike">
                <a:solidFill>
                  <a:srgbClr val="E8E8E8"/>
                </a:solidFill>
                <a:effectLst/>
                <a:uFillTx/>
                <a:latin typeface="DejaVu Serif"/>
                <a:ea typeface="DejaVu Serif"/>
              </a:rPr>
              <a:t>0 points</a:t>
            </a:r>
            <a:r>
              <a:rPr lang="en-US" sz="1300" b="0" u="none" strike="noStrike">
                <a:solidFill>
                  <a:srgbClr val="E8E8E8"/>
                </a:solidFill>
                <a:effectLst/>
                <a:uFillTx/>
                <a:latin typeface="DejaVu Serif"/>
                <a:ea typeface="DejaVu Serif"/>
              </a:rPr>
              <a:t> in A &amp; P sections.</a:t>
            </a:r>
            <a:endParaRPr lang="de-DE" sz="1300" b="0" u="none" strike="noStrike">
              <a:solidFill>
                <a:srgbClr val="FFFFFF"/>
              </a:solidFill>
              <a:effectLst/>
              <a:uFillTx/>
              <a:latin typeface="Arial"/>
            </a:endParaRPr>
          </a:p>
        </p:txBody>
      </p:sp>
      <p:sp>
        <p:nvSpPr>
          <p:cNvPr id="141" name="Text 21"/>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42" name="Text 22"/>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33" dur="indefinite" restart="never" nodeType="tmRoot">
          <p:childTnLst>
            <p:seq>
              <p:cTn id="134" dur="indefinite" nodeType="mainSeq">
                <p:childTnLst>
                  <p:par>
                    <p:cTn id="135" fill="hold">
                      <p:stCondLst>
                        <p:cond delay="indefinite"/>
                      </p:stCondLst>
                      <p:childTnLst>
                        <p:par>
                          <p:cTn id="136" fill="hold">
                            <p:stCondLst>
                              <p:cond delay="0"/>
                            </p:stCondLst>
                            <p:childTnLst>
                              <p:par>
                                <p:cTn id="137" presetID="1" presetClass="entr" fill="hold" nodeType="clickEffect">
                                  <p:stCondLst>
                                    <p:cond delay="0"/>
                                  </p:stCondLst>
                                  <p:childTnLst>
                                    <p:set>
                                      <p:cBhvr>
                                        <p:cTn id="138" dur="1" fill="hold">
                                          <p:stCondLst>
                                            <p:cond delay="0"/>
                                          </p:stCondLst>
                                        </p:cTn>
                                        <p:tgtEl>
                                          <p:spTgt spid="121"/>
                                        </p:tgtEl>
                                        <p:attrNameLst>
                                          <p:attrName>style.visibility</p:attrName>
                                        </p:attrNameLst>
                                      </p:cBhvr>
                                      <p:to>
                                        <p:strVal val="visible"/>
                                      </p:to>
                                    </p:set>
                                  </p:childTnLst>
                                </p:cTn>
                              </p:par>
                              <p:par>
                                <p:cTn id="139" presetID="1" presetClass="entr" fill="hold" nodeType="withEffect">
                                  <p:stCondLst>
                                    <p:cond delay="0"/>
                                  </p:stCondLst>
                                  <p:childTnLst>
                                    <p:set>
                                      <p:cBhvr>
                                        <p:cTn id="140" dur="1" fill="hold">
                                          <p:stCondLst>
                                            <p:cond delay="0"/>
                                          </p:stCondLst>
                                        </p:cTn>
                                        <p:tgtEl>
                                          <p:spTgt spid="122"/>
                                        </p:tgtEl>
                                        <p:attrNameLst>
                                          <p:attrName>style.visibility</p:attrName>
                                        </p:attrNameLst>
                                      </p:cBhvr>
                                      <p:to>
                                        <p:strVal val="visible"/>
                                      </p:to>
                                    </p:set>
                                  </p:childTnLst>
                                </p:cTn>
                              </p:par>
                              <p:par>
                                <p:cTn id="141" presetID="1" presetClass="entr" fill="hold" nodeType="withEffect">
                                  <p:stCondLst>
                                    <p:cond delay="0"/>
                                  </p:stCondLst>
                                  <p:childTnLst>
                                    <p:set>
                                      <p:cBhvr>
                                        <p:cTn id="142" dur="1" fill="hold">
                                          <p:stCondLst>
                                            <p:cond delay="0"/>
                                          </p:stCondLst>
                                        </p:cTn>
                                        <p:tgtEl>
                                          <p:spTgt spid="123"/>
                                        </p:tgtEl>
                                        <p:attrNameLst>
                                          <p:attrName>style.visibility</p:attrName>
                                        </p:attrNameLst>
                                      </p:cBhvr>
                                      <p:to>
                                        <p:strVal val="visible"/>
                                      </p:to>
                                    </p:set>
                                  </p:childTnLst>
                                </p:cTn>
                              </p:par>
                              <p:par>
                                <p:cTn id="143" presetID="1" presetClass="entr" fill="hold" nodeType="withEffect">
                                  <p:stCondLst>
                                    <p:cond delay="0"/>
                                  </p:stCondLst>
                                  <p:childTnLst>
                                    <p:set>
                                      <p:cBhvr>
                                        <p:cTn id="144" dur="1" fill="hold">
                                          <p:stCondLst>
                                            <p:cond delay="0"/>
                                          </p:stCondLst>
                                        </p:cTn>
                                        <p:tgtEl>
                                          <p:spTgt spid="124"/>
                                        </p:tgtEl>
                                        <p:attrNameLst>
                                          <p:attrName>style.visibility</p:attrName>
                                        </p:attrNameLst>
                                      </p:cBhvr>
                                      <p:to>
                                        <p:strVal val="visible"/>
                                      </p:to>
                                    </p:set>
                                  </p:childTnLst>
                                </p:cTn>
                              </p:par>
                              <p:par>
                                <p:cTn id="145" presetID="1" presetClass="entr" fill="hold" nodeType="withEffect">
                                  <p:stCondLst>
                                    <p:cond delay="0"/>
                                  </p:stCondLst>
                                  <p:childTnLst>
                                    <p:set>
                                      <p:cBhvr>
                                        <p:cTn id="146" dur="1" fill="hold">
                                          <p:stCondLst>
                                            <p:cond delay="0"/>
                                          </p:stCondLst>
                                        </p:cTn>
                                        <p:tgtEl>
                                          <p:spTgt spid="125"/>
                                        </p:tgtEl>
                                        <p:attrNameLst>
                                          <p:attrName>style.visibility</p:attrName>
                                        </p:attrNameLst>
                                      </p:cBhvr>
                                      <p:to>
                                        <p:strVal val="visible"/>
                                      </p:to>
                                    </p:set>
                                  </p:childTnLst>
                                </p:cTn>
                              </p:par>
                              <p:par>
                                <p:cTn id="147" presetID="1" presetClass="entr" fill="hold" nodeType="withEffect">
                                  <p:stCondLst>
                                    <p:cond delay="0"/>
                                  </p:stCondLst>
                                  <p:childTnLst>
                                    <p:set>
                                      <p:cBhvr>
                                        <p:cTn id="148" dur="1" fill="hold">
                                          <p:stCondLst>
                                            <p:cond delay="0"/>
                                          </p:stCondLst>
                                        </p:cTn>
                                        <p:tgtEl>
                                          <p:spTgt spid="126"/>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fill="hold" nodeType="click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fill="hold"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fill="hold"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fill="hold"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fill="hold"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fill="hold"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fill="hold" nodeType="click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fill="hold"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fill="hold"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fill="hold"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fill="hold"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fill="hold"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fill="hold" nodeType="clickEffect">
                                  <p:stCondLst>
                                    <p:cond delay="0"/>
                                  </p:stCondLst>
                                  <p:childTnLst>
                                    <p:set>
                                      <p:cBhvr>
                                        <p:cTn id="180" dur="1" fill="hold">
                                          <p:stCondLst>
                                            <p:cond delay="0"/>
                                          </p:stCondLst>
                                        </p:cTn>
                                        <p:tgtEl>
                                          <p:spTgt spid="139"/>
                                        </p:tgtEl>
                                        <p:attrNameLst>
                                          <p:attrName>style.visibility</p:attrName>
                                        </p:attrNameLst>
                                      </p:cBhvr>
                                      <p:to>
                                        <p:strVal val="visible"/>
                                      </p:to>
                                    </p:set>
                                  </p:childTnLst>
                                </p:cTn>
                              </p:par>
                              <p:par>
                                <p:cTn id="181" presetID="1" presetClass="entr" fill="hold" nodeType="withEffect">
                                  <p:stCondLst>
                                    <p:cond delay="0"/>
                                  </p:stCondLst>
                                  <p:childTnLst>
                                    <p:set>
                                      <p:cBhvr>
                                        <p:cTn id="182"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43" name="Text 34"/>
          <p:cNvSpPr/>
          <p:nvPr/>
        </p:nvSpPr>
        <p:spPr>
          <a:xfrm>
            <a:off x="457200" y="274320"/>
            <a:ext cx="8224920" cy="63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SOAP — four sections, one structured note</a:t>
            </a:r>
            <a:endParaRPr lang="de-DE" sz="2400" b="0" u="none" strike="noStrike">
              <a:solidFill>
                <a:srgbClr val="FFFFFF"/>
              </a:solidFill>
              <a:effectLst/>
              <a:uFillTx/>
              <a:latin typeface="Arial"/>
            </a:endParaRPr>
          </a:p>
        </p:txBody>
      </p:sp>
      <p:sp>
        <p:nvSpPr>
          <p:cNvPr id="144" name="Shape 17"/>
          <p:cNvSpPr/>
          <p:nvPr/>
        </p:nvSpPr>
        <p:spPr>
          <a:xfrm>
            <a:off x="388800" y="1460160"/>
            <a:ext cx="1915560" cy="255564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45" name="Text 35"/>
          <p:cNvSpPr/>
          <p:nvPr/>
        </p:nvSpPr>
        <p:spPr>
          <a:xfrm>
            <a:off x="388800" y="1643040"/>
            <a:ext cx="1915560" cy="109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S</a:t>
            </a:r>
            <a:endParaRPr lang="de-DE" sz="7200" b="0" u="none" strike="noStrike">
              <a:solidFill>
                <a:srgbClr val="FFFFFF"/>
              </a:solidFill>
              <a:effectLst/>
              <a:uFillTx/>
              <a:latin typeface="Arial"/>
            </a:endParaRPr>
          </a:p>
        </p:txBody>
      </p:sp>
      <p:sp>
        <p:nvSpPr>
          <p:cNvPr id="146" name="Text 36"/>
          <p:cNvSpPr/>
          <p:nvPr/>
        </p:nvSpPr>
        <p:spPr>
          <a:xfrm>
            <a:off x="388800" y="283176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Subjective</a:t>
            </a:r>
            <a:endParaRPr lang="de-DE" sz="1600" b="0" u="none" strike="noStrike">
              <a:solidFill>
                <a:srgbClr val="FFFFFF"/>
              </a:solidFill>
              <a:effectLst/>
              <a:uFillTx/>
              <a:latin typeface="Arial"/>
            </a:endParaRPr>
          </a:p>
        </p:txBody>
      </p:sp>
      <p:sp>
        <p:nvSpPr>
          <p:cNvPr id="147" name="Text 37"/>
          <p:cNvSpPr/>
          <p:nvPr/>
        </p:nvSpPr>
        <p:spPr>
          <a:xfrm>
            <a:off x="388800" y="324324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Patient's own words</a:t>
            </a:r>
            <a:endParaRPr lang="de-DE" sz="1300" b="0" u="none" strike="noStrike">
              <a:solidFill>
                <a:srgbClr val="FFFFFF"/>
              </a:solidFill>
              <a:effectLst/>
              <a:uFillTx/>
              <a:latin typeface="Arial"/>
            </a:endParaRPr>
          </a:p>
        </p:txBody>
      </p:sp>
      <p:sp>
        <p:nvSpPr>
          <p:cNvPr id="148" name="Shape 20"/>
          <p:cNvSpPr/>
          <p:nvPr/>
        </p:nvSpPr>
        <p:spPr>
          <a:xfrm>
            <a:off x="2537640" y="1460160"/>
            <a:ext cx="1915560" cy="255564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49" name="Text 38"/>
          <p:cNvSpPr/>
          <p:nvPr/>
        </p:nvSpPr>
        <p:spPr>
          <a:xfrm>
            <a:off x="2537640" y="1643040"/>
            <a:ext cx="1915560" cy="109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O</a:t>
            </a:r>
            <a:endParaRPr lang="de-DE" sz="7200" b="0" u="none" strike="noStrike">
              <a:solidFill>
                <a:srgbClr val="FFFFFF"/>
              </a:solidFill>
              <a:effectLst/>
              <a:uFillTx/>
              <a:latin typeface="Arial"/>
            </a:endParaRPr>
          </a:p>
        </p:txBody>
      </p:sp>
      <p:sp>
        <p:nvSpPr>
          <p:cNvPr id="150" name="Text 39"/>
          <p:cNvSpPr/>
          <p:nvPr/>
        </p:nvSpPr>
        <p:spPr>
          <a:xfrm>
            <a:off x="2537640" y="283176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Objective</a:t>
            </a:r>
            <a:endParaRPr lang="de-DE" sz="1600" b="0" u="none" strike="noStrike">
              <a:solidFill>
                <a:srgbClr val="FFFFFF"/>
              </a:solidFill>
              <a:effectLst/>
              <a:uFillTx/>
              <a:latin typeface="Arial"/>
            </a:endParaRPr>
          </a:p>
        </p:txBody>
      </p:sp>
      <p:sp>
        <p:nvSpPr>
          <p:cNvPr id="151" name="Text 40"/>
          <p:cNvSpPr/>
          <p:nvPr/>
        </p:nvSpPr>
        <p:spPr>
          <a:xfrm>
            <a:off x="2537640" y="324324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Clinical observations</a:t>
            </a:r>
            <a:endParaRPr lang="de-DE" sz="1300" b="0" u="none" strike="noStrike">
              <a:solidFill>
                <a:srgbClr val="FFFFFF"/>
              </a:solidFill>
              <a:effectLst/>
              <a:uFillTx/>
              <a:latin typeface="Arial"/>
            </a:endParaRPr>
          </a:p>
        </p:txBody>
      </p:sp>
      <p:sp>
        <p:nvSpPr>
          <p:cNvPr id="152" name="Shape 22"/>
          <p:cNvSpPr/>
          <p:nvPr/>
        </p:nvSpPr>
        <p:spPr>
          <a:xfrm>
            <a:off x="4686480" y="1460160"/>
            <a:ext cx="1915560" cy="255564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3" name="Text 41"/>
          <p:cNvSpPr/>
          <p:nvPr/>
        </p:nvSpPr>
        <p:spPr>
          <a:xfrm>
            <a:off x="4686480" y="1643040"/>
            <a:ext cx="1915560" cy="109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A</a:t>
            </a:r>
            <a:endParaRPr lang="de-DE" sz="7200" b="0" u="none" strike="noStrike">
              <a:solidFill>
                <a:srgbClr val="FFFFFF"/>
              </a:solidFill>
              <a:effectLst/>
              <a:uFillTx/>
              <a:latin typeface="Arial"/>
            </a:endParaRPr>
          </a:p>
        </p:txBody>
      </p:sp>
      <p:sp>
        <p:nvSpPr>
          <p:cNvPr id="154" name="Text 42"/>
          <p:cNvSpPr/>
          <p:nvPr/>
        </p:nvSpPr>
        <p:spPr>
          <a:xfrm>
            <a:off x="4686480" y="283176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Assessment</a:t>
            </a:r>
            <a:endParaRPr lang="de-DE" sz="1600" b="0" u="none" strike="noStrike">
              <a:solidFill>
                <a:srgbClr val="FFFFFF"/>
              </a:solidFill>
              <a:effectLst/>
              <a:uFillTx/>
              <a:latin typeface="Arial"/>
            </a:endParaRPr>
          </a:p>
        </p:txBody>
      </p:sp>
      <p:sp>
        <p:nvSpPr>
          <p:cNvPr id="155" name="Text 43"/>
          <p:cNvSpPr/>
          <p:nvPr/>
        </p:nvSpPr>
        <p:spPr>
          <a:xfrm>
            <a:off x="4686480" y="324324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Diagnosis</a:t>
            </a:r>
            <a:endParaRPr lang="de-DE" sz="1300" b="0" u="none" strike="noStrike">
              <a:solidFill>
                <a:srgbClr val="FFFFFF"/>
              </a:solidFill>
              <a:effectLst/>
              <a:uFillTx/>
              <a:latin typeface="Arial"/>
            </a:endParaRPr>
          </a:p>
        </p:txBody>
      </p:sp>
      <p:sp>
        <p:nvSpPr>
          <p:cNvPr id="156" name="Shape 24"/>
          <p:cNvSpPr/>
          <p:nvPr/>
        </p:nvSpPr>
        <p:spPr>
          <a:xfrm>
            <a:off x="6835320" y="1460160"/>
            <a:ext cx="1915560" cy="255564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7" name="Text 44"/>
          <p:cNvSpPr/>
          <p:nvPr/>
        </p:nvSpPr>
        <p:spPr>
          <a:xfrm>
            <a:off x="6835320" y="1643040"/>
            <a:ext cx="1915560" cy="1092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P</a:t>
            </a:r>
            <a:endParaRPr lang="de-DE" sz="7200" b="0" u="none" strike="noStrike">
              <a:solidFill>
                <a:srgbClr val="FFFFFF"/>
              </a:solidFill>
              <a:effectLst/>
              <a:uFillTx/>
              <a:latin typeface="Arial"/>
            </a:endParaRPr>
          </a:p>
        </p:txBody>
      </p:sp>
      <p:sp>
        <p:nvSpPr>
          <p:cNvPr id="158" name="Text 45"/>
          <p:cNvSpPr/>
          <p:nvPr/>
        </p:nvSpPr>
        <p:spPr>
          <a:xfrm>
            <a:off x="6835320" y="283176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Plan</a:t>
            </a:r>
            <a:endParaRPr lang="de-DE" sz="1600" b="0" u="none" strike="noStrike">
              <a:solidFill>
                <a:srgbClr val="FFFFFF"/>
              </a:solidFill>
              <a:effectLst/>
              <a:uFillTx/>
              <a:latin typeface="Arial"/>
            </a:endParaRPr>
          </a:p>
        </p:txBody>
      </p:sp>
      <p:sp>
        <p:nvSpPr>
          <p:cNvPr id="159" name="Text 46"/>
          <p:cNvSpPr/>
          <p:nvPr/>
        </p:nvSpPr>
        <p:spPr>
          <a:xfrm>
            <a:off x="6835320" y="3243240"/>
            <a:ext cx="1915560" cy="361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Next steps</a:t>
            </a:r>
            <a:endParaRPr lang="de-DE" sz="1300" b="0" u="none" strike="noStrike">
              <a:solidFill>
                <a:srgbClr val="FFFFFF"/>
              </a:solidFill>
              <a:effectLst/>
              <a:uFillTx/>
              <a:latin typeface="Arial"/>
            </a:endParaRPr>
          </a:p>
        </p:txBody>
      </p:sp>
      <p:sp>
        <p:nvSpPr>
          <p:cNvPr id="160" name="Text 48"/>
          <p:cNvSpPr/>
          <p:nvPr/>
        </p:nvSpPr>
        <p:spPr>
          <a:xfrm>
            <a:off x="365760" y="4864680"/>
            <a:ext cx="6853320" cy="223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1" name="Text 49"/>
          <p:cNvSpPr/>
          <p:nvPr/>
        </p:nvSpPr>
        <p:spPr>
          <a:xfrm>
            <a:off x="7772400" y="4864680"/>
            <a:ext cx="1001160" cy="2239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20</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83" dur="indefinite" restart="never" nodeType="tmRoot">
          <p:childTnLst>
            <p:seq>
              <p:cTn id="184" dur="indefinite" nodeType="mainSeq">
                <p:childTnLst>
                  <p:par>
                    <p:cTn id="185" fill="hold">
                      <p:stCondLst>
                        <p:cond delay="indefinite"/>
                      </p:stCondLst>
                      <p:childTnLst>
                        <p:par>
                          <p:cTn id="186" fill="hold">
                            <p:stCondLst>
                              <p:cond delay="0"/>
                            </p:stCondLst>
                            <p:childTnLst>
                              <p:par>
                                <p:cTn id="187" presetID="1" presetClass="entr" fill="hold" nodeType="click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fill="hold"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fill="hold"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fill="hold"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fill="hold" nodeType="clickEffect">
                                  <p:stCondLst>
                                    <p:cond delay="0"/>
                                  </p:stCondLst>
                                  <p:childTnLst>
                                    <p:set>
                                      <p:cBhvr>
                                        <p:cTn id="198" dur="1" fill="hold">
                                          <p:stCondLst>
                                            <p:cond delay="0"/>
                                          </p:stCondLst>
                                        </p:cTn>
                                        <p:tgtEl>
                                          <p:spTgt spid="148"/>
                                        </p:tgtEl>
                                        <p:attrNameLst>
                                          <p:attrName>style.visibility</p:attrName>
                                        </p:attrNameLst>
                                      </p:cBhvr>
                                      <p:to>
                                        <p:strVal val="visible"/>
                                      </p:to>
                                    </p:set>
                                  </p:childTnLst>
                                </p:cTn>
                              </p:par>
                              <p:par>
                                <p:cTn id="199" presetID="1" presetClass="entr" fill="hold" nodeType="withEffect">
                                  <p:stCondLst>
                                    <p:cond delay="0"/>
                                  </p:stCondLst>
                                  <p:childTnLst>
                                    <p:set>
                                      <p:cBhvr>
                                        <p:cTn id="200" dur="1" fill="hold">
                                          <p:stCondLst>
                                            <p:cond delay="0"/>
                                          </p:stCondLst>
                                        </p:cTn>
                                        <p:tgtEl>
                                          <p:spTgt spid="149"/>
                                        </p:tgtEl>
                                        <p:attrNameLst>
                                          <p:attrName>style.visibility</p:attrName>
                                        </p:attrNameLst>
                                      </p:cBhvr>
                                      <p:to>
                                        <p:strVal val="visible"/>
                                      </p:to>
                                    </p:set>
                                  </p:childTnLst>
                                </p:cTn>
                              </p:par>
                              <p:par>
                                <p:cTn id="201" presetID="1" presetClass="entr" fill="hold" nodeType="withEffect">
                                  <p:stCondLst>
                                    <p:cond delay="0"/>
                                  </p:stCondLst>
                                  <p:childTnLst>
                                    <p:set>
                                      <p:cBhvr>
                                        <p:cTn id="202" dur="1" fill="hold">
                                          <p:stCondLst>
                                            <p:cond delay="0"/>
                                          </p:stCondLst>
                                        </p:cTn>
                                        <p:tgtEl>
                                          <p:spTgt spid="150"/>
                                        </p:tgtEl>
                                        <p:attrNameLst>
                                          <p:attrName>style.visibility</p:attrName>
                                        </p:attrNameLst>
                                      </p:cBhvr>
                                      <p:to>
                                        <p:strVal val="visible"/>
                                      </p:to>
                                    </p:set>
                                  </p:childTnLst>
                                </p:cTn>
                              </p:par>
                              <p:par>
                                <p:cTn id="203" presetID="1" presetClass="entr" fill="hold" nodeType="withEffect">
                                  <p:stCondLst>
                                    <p:cond delay="0"/>
                                  </p:stCondLst>
                                  <p:childTnLst>
                                    <p:set>
                                      <p:cBhvr>
                                        <p:cTn id="204" dur="1" fill="hold">
                                          <p:stCondLst>
                                            <p:cond delay="0"/>
                                          </p:stCondLst>
                                        </p:cTn>
                                        <p:tgtEl>
                                          <p:spTgt spid="151"/>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fill="hold" nodeType="clickEffect">
                                  <p:stCondLst>
                                    <p:cond delay="0"/>
                                  </p:stCondLst>
                                  <p:childTnLst>
                                    <p:set>
                                      <p:cBhvr>
                                        <p:cTn id="208" dur="1" fill="hold">
                                          <p:stCondLst>
                                            <p:cond delay="0"/>
                                          </p:stCondLst>
                                        </p:cTn>
                                        <p:tgtEl>
                                          <p:spTgt spid="152"/>
                                        </p:tgtEl>
                                        <p:attrNameLst>
                                          <p:attrName>style.visibility</p:attrName>
                                        </p:attrNameLst>
                                      </p:cBhvr>
                                      <p:to>
                                        <p:strVal val="visible"/>
                                      </p:to>
                                    </p:set>
                                  </p:childTnLst>
                                </p:cTn>
                              </p:par>
                              <p:par>
                                <p:cTn id="209" presetID="1" presetClass="entr" fill="hold" nodeType="withEffect">
                                  <p:stCondLst>
                                    <p:cond delay="0"/>
                                  </p:stCondLst>
                                  <p:childTnLst>
                                    <p:set>
                                      <p:cBhvr>
                                        <p:cTn id="210" dur="1" fill="hold">
                                          <p:stCondLst>
                                            <p:cond delay="0"/>
                                          </p:stCondLst>
                                        </p:cTn>
                                        <p:tgtEl>
                                          <p:spTgt spid="153"/>
                                        </p:tgtEl>
                                        <p:attrNameLst>
                                          <p:attrName>style.visibility</p:attrName>
                                        </p:attrNameLst>
                                      </p:cBhvr>
                                      <p:to>
                                        <p:strVal val="visible"/>
                                      </p:to>
                                    </p:set>
                                  </p:childTnLst>
                                </p:cTn>
                              </p:par>
                              <p:par>
                                <p:cTn id="211" presetID="1" presetClass="entr" fill="hold" nodeType="withEffect">
                                  <p:stCondLst>
                                    <p:cond delay="0"/>
                                  </p:stCondLst>
                                  <p:childTnLst>
                                    <p:set>
                                      <p:cBhvr>
                                        <p:cTn id="212" dur="1" fill="hold">
                                          <p:stCondLst>
                                            <p:cond delay="0"/>
                                          </p:stCondLst>
                                        </p:cTn>
                                        <p:tgtEl>
                                          <p:spTgt spid="154"/>
                                        </p:tgtEl>
                                        <p:attrNameLst>
                                          <p:attrName>style.visibility</p:attrName>
                                        </p:attrNameLst>
                                      </p:cBhvr>
                                      <p:to>
                                        <p:strVal val="visible"/>
                                      </p:to>
                                    </p:set>
                                  </p:childTnLst>
                                </p:cTn>
                              </p:par>
                              <p:par>
                                <p:cTn id="213" presetID="1" presetClass="entr" fill="hold" nodeType="withEffect">
                                  <p:stCondLst>
                                    <p:cond delay="0"/>
                                  </p:stCondLst>
                                  <p:childTnLst>
                                    <p:set>
                                      <p:cBhvr>
                                        <p:cTn id="214" dur="1" fill="hold">
                                          <p:stCondLst>
                                            <p:cond delay="0"/>
                                          </p:stCondLst>
                                        </p:cTn>
                                        <p:tgtEl>
                                          <p:spTgt spid="15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fill="hold" nodeType="clickEffect">
                                  <p:stCondLst>
                                    <p:cond delay="0"/>
                                  </p:stCondLst>
                                  <p:childTnLst>
                                    <p:set>
                                      <p:cBhvr>
                                        <p:cTn id="218" dur="1" fill="hold">
                                          <p:stCondLst>
                                            <p:cond delay="0"/>
                                          </p:stCondLst>
                                        </p:cTn>
                                        <p:tgtEl>
                                          <p:spTgt spid="156"/>
                                        </p:tgtEl>
                                        <p:attrNameLst>
                                          <p:attrName>style.visibility</p:attrName>
                                        </p:attrNameLst>
                                      </p:cBhvr>
                                      <p:to>
                                        <p:strVal val="visible"/>
                                      </p:to>
                                    </p:set>
                                  </p:childTnLst>
                                </p:cTn>
                              </p:par>
                              <p:par>
                                <p:cTn id="219" presetID="1" presetClass="entr" fill="hold" nodeType="withEffect">
                                  <p:stCondLst>
                                    <p:cond delay="0"/>
                                  </p:stCondLst>
                                  <p:childTnLst>
                                    <p:set>
                                      <p:cBhvr>
                                        <p:cTn id="220" dur="1" fill="hold">
                                          <p:stCondLst>
                                            <p:cond delay="0"/>
                                          </p:stCondLst>
                                        </p:cTn>
                                        <p:tgtEl>
                                          <p:spTgt spid="157"/>
                                        </p:tgtEl>
                                        <p:attrNameLst>
                                          <p:attrName>style.visibility</p:attrName>
                                        </p:attrNameLst>
                                      </p:cBhvr>
                                      <p:to>
                                        <p:strVal val="visible"/>
                                      </p:to>
                                    </p:set>
                                  </p:childTnLst>
                                </p:cTn>
                              </p:par>
                              <p:par>
                                <p:cTn id="221" presetID="1" presetClass="entr" fill="hold" nodeType="withEffect">
                                  <p:stCondLst>
                                    <p:cond delay="0"/>
                                  </p:stCondLst>
                                  <p:childTnLst>
                                    <p:set>
                                      <p:cBhvr>
                                        <p:cTn id="222" dur="1" fill="hold">
                                          <p:stCondLst>
                                            <p:cond delay="0"/>
                                          </p:stCondLst>
                                        </p:cTn>
                                        <p:tgtEl>
                                          <p:spTgt spid="158"/>
                                        </p:tgtEl>
                                        <p:attrNameLst>
                                          <p:attrName>style.visibility</p:attrName>
                                        </p:attrNameLst>
                                      </p:cBhvr>
                                      <p:to>
                                        <p:strVal val="visible"/>
                                      </p:to>
                                    </p:set>
                                  </p:childTnLst>
                                </p:cTn>
                              </p:par>
                              <p:par>
                                <p:cTn id="223" presetID="1" presetClass="entr" fill="hold" nodeType="withEffect">
                                  <p:stCondLst>
                                    <p:cond delay="0"/>
                                  </p:stCondLst>
                                  <p:childTnLst>
                                    <p:set>
                                      <p:cBhvr>
                                        <p:cTn id="224" dur="1" fill="hold">
                                          <p:stCondLst>
                                            <p:cond delay="0"/>
                                          </p:stCondLst>
                                        </p:cTn>
                                        <p:tgtEl>
                                          <p:spTgt spid="15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2" name="Shape 0"/>
          <p:cNvSpPr/>
          <p:nvPr/>
        </p:nvSpPr>
        <p:spPr>
          <a:xfrm>
            <a:off x="6949440" y="457200"/>
            <a:ext cx="2372040" cy="31464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3" name="Text 1"/>
          <p:cNvSpPr/>
          <p:nvPr/>
        </p:nvSpPr>
        <p:spPr>
          <a:xfrm>
            <a:off x="457200" y="1188720"/>
            <a:ext cx="8224200" cy="1000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600" b="0" u="none" strike="noStrike">
                <a:solidFill>
                  <a:srgbClr val="FFFFFF"/>
                </a:solidFill>
                <a:effectLst/>
                <a:uFillTx/>
                <a:latin typeface="DejaVu Serif"/>
                <a:ea typeface="DejaVu Serif"/>
              </a:rPr>
              <a:t>Let's run it live</a:t>
            </a:r>
            <a:endParaRPr lang="de-DE" sz="5600" b="0" u="none" strike="noStrike">
              <a:solidFill>
                <a:srgbClr val="FFFFFF"/>
              </a:solidFill>
              <a:effectLst/>
              <a:uFillTx/>
              <a:latin typeface="Arial"/>
            </a:endParaRPr>
          </a:p>
        </p:txBody>
      </p:sp>
      <p:sp>
        <p:nvSpPr>
          <p:cNvPr id="164" name="Shape 2"/>
          <p:cNvSpPr/>
          <p:nvPr/>
        </p:nvSpPr>
        <p:spPr>
          <a:xfrm>
            <a:off x="4023360" y="2468880"/>
            <a:ext cx="1091880" cy="1091880"/>
          </a:xfrm>
          <a:prstGeom prst="ellipse">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5" name="Shape 3"/>
          <p:cNvSpPr/>
          <p:nvPr/>
        </p:nvSpPr>
        <p:spPr>
          <a:xfrm rot="5400000">
            <a:off x="4341600" y="2715480"/>
            <a:ext cx="588960" cy="599040"/>
          </a:xfrm>
          <a:prstGeom prst="triangle">
            <a:avLst>
              <a:gd name="adj" fmla="val 50000"/>
            </a:avLst>
          </a:prstGeom>
          <a:solidFill>
            <a:srgbClr val="FFFFFF"/>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6" name="Text 4"/>
          <p:cNvSpPr/>
          <p:nvPr/>
        </p:nvSpPr>
        <p:spPr>
          <a:xfrm>
            <a:off x="457200" y="3931920"/>
            <a:ext cx="822420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Scenario:</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Mind-change     </a:t>
            </a:r>
            <a:r>
              <a:rPr lang="en-US" sz="1600" b="1" u="none" strike="noStrike">
                <a:solidFill>
                  <a:srgbClr val="FF5429"/>
                </a:solidFill>
                <a:effectLst/>
                <a:uFillTx/>
                <a:latin typeface="DejaVu Serif"/>
                <a:ea typeface="DejaVu Serif"/>
              </a:rPr>
              <a:t>Pipeline:</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AssemblyAI + GPT-4o</a:t>
            </a:r>
            <a:endParaRPr lang="de-DE" sz="1600" b="0" u="none" strike="noStrike">
              <a:solidFill>
                <a:srgbClr val="FFFFFF"/>
              </a:solidFill>
              <a:effectLst/>
              <a:uFillTx/>
              <a:latin typeface="Arial"/>
            </a:endParaRPr>
          </a:p>
        </p:txBody>
      </p:sp>
      <p:sp>
        <p:nvSpPr>
          <p:cNvPr id="167" name="Text 5"/>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8" name="Text 6"/>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9"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Cloud beats local — noise beats everyone</a:t>
            </a:r>
            <a:endParaRPr lang="de-DE" sz="2400" b="0" u="none" strike="noStrike">
              <a:solidFill>
                <a:srgbClr val="FFFFFF"/>
              </a:solidFill>
              <a:effectLst/>
              <a:uFillTx/>
              <a:latin typeface="Arial"/>
            </a:endParaRPr>
          </a:p>
        </p:txBody>
      </p:sp>
      <p:sp>
        <p:nvSpPr>
          <p:cNvPr id="170" name="Shape 1"/>
          <p:cNvSpPr/>
          <p:nvPr/>
        </p:nvSpPr>
        <p:spPr>
          <a:xfrm>
            <a:off x="5852160" y="1097280"/>
            <a:ext cx="2920680" cy="3012120"/>
          </a:xfrm>
          <a:prstGeom prst="roundRect">
            <a:avLst>
              <a:gd name="adj" fmla="val 4688"/>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71" name="Text 2"/>
          <p:cNvSpPr/>
          <p:nvPr/>
        </p:nvSpPr>
        <p:spPr>
          <a:xfrm>
            <a:off x="5989320" y="1188720"/>
            <a:ext cx="264636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Outlier scenario:</a:t>
            </a:r>
            <a:endParaRPr lang="de-DE" sz="1300" b="0" u="none" strike="noStrike">
              <a:solidFill>
                <a:srgbClr val="FFFFFF"/>
              </a:solidFill>
              <a:effectLst/>
              <a:uFillTx/>
              <a:latin typeface="Arial"/>
            </a:endParaRPr>
          </a:p>
        </p:txBody>
      </p:sp>
      <p:sp>
        <p:nvSpPr>
          <p:cNvPr id="172" name="Text 3"/>
          <p:cNvSpPr/>
          <p:nvPr/>
        </p:nvSpPr>
        <p:spPr>
          <a:xfrm>
            <a:off x="5989320" y="1463040"/>
            <a:ext cx="264636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White Noise</a:t>
            </a:r>
            <a:endParaRPr lang="de-DE" sz="1600" b="0" u="none" strike="noStrike">
              <a:solidFill>
                <a:srgbClr val="FFFFFF"/>
              </a:solidFill>
              <a:effectLst/>
              <a:uFillTx/>
              <a:latin typeface="Arial"/>
            </a:endParaRPr>
          </a:p>
        </p:txBody>
      </p:sp>
      <p:sp>
        <p:nvSpPr>
          <p:cNvPr id="173" name="Text 4"/>
          <p:cNvSpPr/>
          <p:nvPr/>
        </p:nvSpPr>
        <p:spPr>
          <a:xfrm>
            <a:off x="5989320" y="2011680"/>
            <a:ext cx="2646360" cy="10918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Assembly: </a:t>
            </a:r>
            <a:r>
              <a:rPr lang="en-US" sz="1300" b="1" u="none" strike="noStrike">
                <a:solidFill>
                  <a:srgbClr val="FF5429"/>
                </a:solidFill>
                <a:effectLst/>
                <a:uFillTx/>
                <a:latin typeface="DejaVu Serif"/>
                <a:ea typeface="DejaVu Serif"/>
              </a:rPr>
              <a:t>33.2 %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Speechmatics: </a:t>
            </a:r>
            <a:r>
              <a:rPr lang="en-US" sz="1300" b="1" u="none" strike="noStrike">
                <a:solidFill>
                  <a:srgbClr val="FF5429"/>
                </a:solidFill>
                <a:effectLst/>
                <a:uFillTx/>
                <a:latin typeface="DejaVu Serif"/>
                <a:ea typeface="DejaVu Serif"/>
              </a:rPr>
              <a:t>30.6 %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Whisper-local: </a:t>
            </a:r>
            <a:r>
              <a:rPr lang="en-US" sz="1300" b="1" u="none" strike="noStrike">
                <a:solidFill>
                  <a:srgbClr val="FF5429"/>
                </a:solidFill>
                <a:effectLst/>
                <a:uFillTx/>
                <a:latin typeface="DejaVu Serif"/>
                <a:ea typeface="DejaVu Serif"/>
              </a:rPr>
              <a:t>41.0 %</a:t>
            </a:r>
            <a:endParaRPr lang="de-DE" sz="1300" b="0" u="none" strike="noStrike">
              <a:solidFill>
                <a:srgbClr val="FFFFFF"/>
              </a:solidFill>
              <a:effectLst/>
              <a:uFillTx/>
              <a:latin typeface="Arial"/>
            </a:endParaRPr>
          </a:p>
        </p:txBody>
      </p:sp>
      <p:sp>
        <p:nvSpPr>
          <p:cNvPr id="174" name="Shape 5"/>
          <p:cNvSpPr/>
          <p:nvPr/>
        </p:nvSpPr>
        <p:spPr>
          <a:xfrm>
            <a:off x="5989320" y="3200400"/>
            <a:ext cx="2560320" cy="360"/>
          </a:xfrm>
          <a:prstGeom prst="line">
            <a:avLst/>
          </a:prstGeom>
          <a:ln w="12600">
            <a:solidFill>
              <a:srgbClr val="3A3D42"/>
            </a:solidFill>
            <a:round/>
          </a:ln>
        </p:spPr>
        <p:style>
          <a:lnRef idx="0"/>
          <a:fillRef idx="0"/>
          <a:effectRef idx="0"/>
          <a:fontRef idx="minor"/>
        </p:style>
        <p:txBody>
          <a:bodyPr lIns="90000" tIns="-44640" rIns="90000" bIns="-44640" anchor="t">
            <a:noAutofit/>
          </a:bodyPr>
          <a:p>
            <a:pPr defTabSz="914400">
              <a:lnSpc>
                <a:spcPct val="100000"/>
              </a:lnSpc>
            </a:pPr>
            <a:endParaRPr lang="de-DE" sz="1800" b="0" u="none" strike="noStrike">
              <a:solidFill>
                <a:schemeClr val="dk1"/>
              </a:solidFill>
              <a:effectLst/>
              <a:uFillTx/>
              <a:latin typeface="Calibri"/>
            </a:endParaRPr>
          </a:p>
        </p:txBody>
      </p:sp>
      <p:sp>
        <p:nvSpPr>
          <p:cNvPr id="175" name="Text 6"/>
          <p:cNvSpPr/>
          <p:nvPr/>
        </p:nvSpPr>
        <p:spPr>
          <a:xfrm>
            <a:off x="5989320" y="3291840"/>
            <a:ext cx="264636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Microphone quality is the hard floor of AI performance.</a:t>
            </a:r>
            <a:endParaRPr lang="de-DE" sz="1300" b="0" u="none" strike="noStrike">
              <a:solidFill>
                <a:srgbClr val="FFFFFF"/>
              </a:solidFill>
              <a:effectLst/>
              <a:uFillTx/>
              <a:latin typeface="Arial"/>
            </a:endParaRPr>
          </a:p>
        </p:txBody>
      </p:sp>
      <p:sp>
        <p:nvSpPr>
          <p:cNvPr id="176" name="Text 7"/>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77" name="Text 8"/>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10 / 19</a:t>
            </a:r>
            <a:endParaRPr lang="de-DE" sz="800" b="0" u="none" strike="noStrike">
              <a:solidFill>
                <a:srgbClr val="FFFFFF"/>
              </a:solidFill>
              <a:effectLst/>
              <a:uFillTx/>
              <a:latin typeface="Arial"/>
            </a:endParaRPr>
          </a:p>
        </p:txBody>
      </p:sp>
      <p:sp>
        <p:nvSpPr>
          <p:cNvPr id="178" name="Rechteck 156"/>
          <p:cNvSpPr/>
          <p:nvPr/>
        </p:nvSpPr>
        <p:spPr>
          <a:xfrm>
            <a:off x="412920" y="241056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79" name="Grafik 158"/>
          <p:cNvPicPr/>
          <p:nvPr/>
        </p:nvPicPr>
        <p:blipFill>
          <a:blip r:embed="rId1"/>
          <a:stretch/>
        </p:blipFill>
        <p:spPr>
          <a:xfrm>
            <a:off x="573480" y="2516400"/>
            <a:ext cx="174960" cy="95400"/>
          </a:xfrm>
          <a:prstGeom prst="rect">
            <a:avLst/>
          </a:prstGeom>
          <a:noFill/>
          <a:ln w="0">
            <a:noFill/>
          </a:ln>
        </p:spPr>
      </p:pic>
      <p:sp>
        <p:nvSpPr>
          <p:cNvPr id="180" name="Rechteck 159"/>
          <p:cNvSpPr/>
          <p:nvPr/>
        </p:nvSpPr>
        <p:spPr>
          <a:xfrm>
            <a:off x="1001520" y="323028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1" name="Grafik 160"/>
          <p:cNvPicPr/>
          <p:nvPr/>
        </p:nvPicPr>
        <p:blipFill>
          <a:blip r:embed="rId2"/>
          <a:stretch/>
        </p:blipFill>
        <p:spPr>
          <a:xfrm>
            <a:off x="1162080" y="3336120"/>
            <a:ext cx="174960" cy="95400"/>
          </a:xfrm>
          <a:prstGeom prst="rect">
            <a:avLst/>
          </a:prstGeom>
          <a:noFill/>
          <a:ln w="0">
            <a:noFill/>
          </a:ln>
        </p:spPr>
      </p:pic>
      <p:graphicFrame>
        <p:nvGraphicFramePr>
          <p:cNvPr id="182" name="Chart 0"/>
          <p:cNvGraphicFramePr/>
          <p:nvPr/>
        </p:nvGraphicFramePr>
        <p:xfrm>
          <a:off x="457560" y="1177200"/>
          <a:ext cx="5298480" cy="3012480"/>
        </p:xfrm>
        <a:graphic>
          <a:graphicData uri="http://schemas.openxmlformats.org/drawingml/2006/chart">
            <c:chart xmlns:c="http://schemas.openxmlformats.org/drawingml/2006/chart" xmlns:r="http://schemas.openxmlformats.org/officeDocument/2006/relationships" r:id="rId3"/>
          </a:graphicData>
        </a:graphic>
      </p:graphicFrame>
      <p:sp>
        <p:nvSpPr>
          <p:cNvPr id="183" name="Rechteck 1"/>
          <p:cNvSpPr/>
          <p:nvPr/>
        </p:nvSpPr>
        <p:spPr>
          <a:xfrm>
            <a:off x="784440" y="331092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4" name="Grafik 1"/>
          <p:cNvPicPr/>
          <p:nvPr/>
        </p:nvPicPr>
        <p:blipFill>
          <a:blip r:embed="rId4"/>
          <a:stretch/>
        </p:blipFill>
        <p:spPr>
          <a:xfrm>
            <a:off x="945000" y="3416760"/>
            <a:ext cx="174960" cy="95400"/>
          </a:xfrm>
          <a:prstGeom prst="rect">
            <a:avLst/>
          </a:prstGeom>
          <a:noFill/>
          <a:ln w="0">
            <a:noFill/>
          </a:ln>
        </p:spPr>
      </p:pic>
      <p:sp>
        <p:nvSpPr>
          <p:cNvPr id="185" name="Rechteck 2"/>
          <p:cNvSpPr/>
          <p:nvPr/>
        </p:nvSpPr>
        <p:spPr>
          <a:xfrm>
            <a:off x="412920" y="241056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6" name="Grafik 2"/>
          <p:cNvPicPr/>
          <p:nvPr/>
        </p:nvPicPr>
        <p:blipFill>
          <a:blip r:embed="rId5"/>
          <a:stretch/>
        </p:blipFill>
        <p:spPr>
          <a:xfrm>
            <a:off x="573480" y="2516400"/>
            <a:ext cx="174960" cy="95400"/>
          </a:xfrm>
          <a:prstGeom prst="rect">
            <a:avLst/>
          </a:prstGeom>
          <a:noFill/>
          <a:ln w="0">
            <a:noFill/>
          </a:ln>
        </p:spPr>
      </p:pic>
      <p:sp>
        <p:nvSpPr>
          <p:cNvPr id="187" name="TextBox 241"/>
          <p:cNvSpPr/>
          <p:nvPr/>
        </p:nvSpPr>
        <p:spPr>
          <a:xfrm>
            <a:off x="457560" y="925920"/>
            <a:ext cx="530100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Average WER across standard scenarios</a:t>
            </a:r>
            <a:endParaRPr lang="de-DE" sz="1100" b="0" u="none" strike="noStrike">
              <a:solidFill>
                <a:srgbClr val="FFFFFF"/>
              </a:solidFill>
              <a:effectLst/>
              <a:uFillTx/>
              <a:latin typeface="Arial"/>
            </a:endParaRPr>
          </a:p>
        </p:txBody>
      </p:sp>
      <p:sp>
        <p:nvSpPr>
          <p:cNvPr id="188" name="TextBox 240"/>
          <p:cNvSpPr/>
          <p:nvPr/>
        </p:nvSpPr>
        <p:spPr>
          <a:xfrm>
            <a:off x="1005840" y="4227480"/>
            <a:ext cx="475236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Word Error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25" dur="indefinite" restart="never" nodeType="tmRoot">
          <p:childTnLst>
            <p:seq>
              <p:cTn id="226" dur="indefinite" nodeType="mainSeq">
                <p:childTnLst>
                  <p:par>
                    <p:cTn id="227" fill="hold">
                      <p:stCondLst>
                        <p:cond delay="indefinite"/>
                      </p:stCondLst>
                      <p:childTnLst>
                        <p:par>
                          <p:cTn id="228" fill="hold">
                            <p:stCondLst>
                              <p:cond delay="0"/>
                            </p:stCondLst>
                            <p:childTnLst>
                              <p:par>
                                <p:cTn id="229" presetID="1" presetClass="entr" fill="hold" nodeType="clickEffect">
                                  <p:stCondLst>
                                    <p:cond delay="0"/>
                                  </p:stCondLst>
                                  <p:childTnLst>
                                    <p:set>
                                      <p:cBhvr>
                                        <p:cTn id="230" dur="1" fill="hold">
                                          <p:stCondLst>
                                            <p:cond delay="0"/>
                                          </p:stCondLst>
                                        </p:cTn>
                                        <p:tgtEl>
                                          <p:spTgt spid="170"/>
                                        </p:tgtEl>
                                        <p:attrNameLst>
                                          <p:attrName>style.visibility</p:attrName>
                                        </p:attrNameLst>
                                      </p:cBhvr>
                                      <p:to>
                                        <p:strVal val="visible"/>
                                      </p:to>
                                    </p:set>
                                  </p:childTnLst>
                                </p:cTn>
                              </p:par>
                              <p:par>
                                <p:cTn id="231" presetID="1" presetClass="entr" fill="hold" nodeType="withEffect">
                                  <p:stCondLst>
                                    <p:cond delay="0"/>
                                  </p:stCondLst>
                                  <p:childTnLst>
                                    <p:set>
                                      <p:cBhvr>
                                        <p:cTn id="232" dur="1" fill="hold">
                                          <p:stCondLst>
                                            <p:cond delay="0"/>
                                          </p:stCondLst>
                                        </p:cTn>
                                        <p:tgtEl>
                                          <p:spTgt spid="171"/>
                                        </p:tgtEl>
                                        <p:attrNameLst>
                                          <p:attrName>style.visibility</p:attrName>
                                        </p:attrNameLst>
                                      </p:cBhvr>
                                      <p:to>
                                        <p:strVal val="visible"/>
                                      </p:to>
                                    </p:set>
                                  </p:childTnLst>
                                </p:cTn>
                              </p:par>
                              <p:par>
                                <p:cTn id="233" presetID="1" presetClass="entr" fill="hold" nodeType="withEffect">
                                  <p:stCondLst>
                                    <p:cond delay="0"/>
                                  </p:stCondLst>
                                  <p:childTnLst>
                                    <p:set>
                                      <p:cBhvr>
                                        <p:cTn id="234" dur="1" fill="hold">
                                          <p:stCondLst>
                                            <p:cond delay="0"/>
                                          </p:stCondLst>
                                        </p:cTn>
                                        <p:tgtEl>
                                          <p:spTgt spid="172"/>
                                        </p:tgtEl>
                                        <p:attrNameLst>
                                          <p:attrName>style.visibility</p:attrName>
                                        </p:attrNameLst>
                                      </p:cBhvr>
                                      <p:to>
                                        <p:strVal val="visible"/>
                                      </p:to>
                                    </p:set>
                                  </p:childTnLst>
                                </p:cTn>
                              </p:par>
                              <p:par>
                                <p:cTn id="235" presetID="1" presetClass="entr" fill="hold" nodeType="withEffect">
                                  <p:stCondLst>
                                    <p:cond delay="0"/>
                                  </p:stCondLst>
                                  <p:childTnLst>
                                    <p:set>
                                      <p:cBhvr>
                                        <p:cTn id="236" dur="1" fill="hold">
                                          <p:stCondLst>
                                            <p:cond delay="0"/>
                                          </p:stCondLst>
                                        </p:cTn>
                                        <p:tgtEl>
                                          <p:spTgt spid="173"/>
                                        </p:tgtEl>
                                        <p:attrNameLst>
                                          <p:attrName>style.visibility</p:attrName>
                                        </p:attrNameLst>
                                      </p:cBhvr>
                                      <p:to>
                                        <p:strVal val="visible"/>
                                      </p:to>
                                    </p:set>
                                  </p:childTnLst>
                                </p:cTn>
                              </p:par>
                              <p:par>
                                <p:cTn id="237" presetID="1" presetClass="entr" fill="hold" nodeType="withEffect">
                                  <p:stCondLst>
                                    <p:cond delay="0"/>
                                  </p:stCondLst>
                                  <p:childTnLst>
                                    <p:set>
                                      <p:cBhvr>
                                        <p:cTn id="238" dur="1" fill="hold">
                                          <p:stCondLst>
                                            <p:cond delay="0"/>
                                          </p:stCondLst>
                                        </p:cTn>
                                        <p:tgtEl>
                                          <p:spTgt spid="174"/>
                                        </p:tgtEl>
                                        <p:attrNameLst>
                                          <p:attrName>style.visibility</p:attrName>
                                        </p:attrNameLst>
                                      </p:cBhvr>
                                      <p:to>
                                        <p:strVal val="visible"/>
                                      </p:to>
                                    </p:set>
                                  </p:childTnLst>
                                </p:cTn>
                              </p:par>
                              <p:par>
                                <p:cTn id="239" presetID="1" presetClass="entr" fill="hold" nodeType="withEffect">
                                  <p:stCondLst>
                                    <p:cond delay="0"/>
                                  </p:stCondLst>
                                  <p:childTnLst>
                                    <p:set>
                                      <p:cBhvr>
                                        <p:cTn id="240" dur="1" fill="hold">
                                          <p:stCondLst>
                                            <p:cond delay="0"/>
                                          </p:stCondLst>
                                        </p:cTn>
                                        <p:tgtEl>
                                          <p:spTgt spid="17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89"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Cloud listens — local rewrites</a:t>
            </a:r>
            <a:endParaRPr lang="de-DE" sz="2400" b="0" u="none" strike="noStrike">
              <a:solidFill>
                <a:srgbClr val="FFFFFF"/>
              </a:solidFill>
              <a:effectLst/>
              <a:uFillTx/>
              <a:latin typeface="Arial"/>
            </a:endParaRPr>
          </a:p>
        </p:txBody>
      </p:sp>
      <p:graphicFrame>
        <p:nvGraphicFramePr>
          <p:cNvPr id="190" name="Chart 0"/>
          <p:cNvGraphicFramePr/>
          <p:nvPr/>
        </p:nvGraphicFramePr>
        <p:xfrm>
          <a:off x="457200" y="1097280"/>
          <a:ext cx="7767000" cy="3195000"/>
        </p:xfrm>
        <a:graphic>
          <a:graphicData uri="http://schemas.openxmlformats.org/drawingml/2006/chart">
            <c:chart xmlns:c="http://schemas.openxmlformats.org/drawingml/2006/chart" xmlns:r="http://schemas.openxmlformats.org/officeDocument/2006/relationships" r:id="rId1"/>
          </a:graphicData>
        </a:graphic>
      </p:graphicFrame>
      <p:sp>
        <p:nvSpPr>
          <p:cNvPr id="191" name="Text 1"/>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92" name="Text 2"/>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11 / 19</a:t>
            </a:r>
            <a:endParaRPr lang="de-DE" sz="800" b="0" u="none" strike="noStrike">
              <a:solidFill>
                <a:srgbClr val="FFFFFF"/>
              </a:solidFill>
              <a:effectLst/>
              <a:uFillTx/>
              <a:latin typeface="Arial"/>
            </a:endParaRPr>
          </a:p>
        </p:txBody>
      </p:sp>
      <p:sp>
        <p:nvSpPr>
          <p:cNvPr id="193" name="Rechteck 165"/>
          <p:cNvSpPr/>
          <p:nvPr/>
        </p:nvSpPr>
        <p:spPr>
          <a:xfrm>
            <a:off x="468720" y="3497400"/>
            <a:ext cx="164304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pPr defTabSz="914400">
              <a:lnSpc>
                <a:spcPct val="100000"/>
              </a:lnSpc>
            </a:pPr>
            <a:r>
              <a:rPr lang="de-DE" sz="1100" b="0" u="none" strike="noStrike">
                <a:solidFill>
                  <a:srgbClr val="FFFFFF"/>
                </a:solidFill>
                <a:effectLst/>
                <a:uFillTx/>
                <a:latin typeface="Arial"/>
                <a:ea typeface="DejaVu Sans"/>
              </a:rPr>
              <a:t>               GPT-4o (avg)</a:t>
            </a:r>
            <a:endParaRPr lang="de-DE" sz="1100" b="0" u="none" strike="noStrike">
              <a:solidFill>
                <a:srgbClr val="FFFFFF"/>
              </a:solidFill>
              <a:effectLst/>
              <a:uFillTx/>
              <a:latin typeface="Arial"/>
            </a:endParaRPr>
          </a:p>
        </p:txBody>
      </p:sp>
      <p:pic>
        <p:nvPicPr>
          <p:cNvPr id="194" name="Grafik 166"/>
          <p:cNvPicPr/>
          <p:nvPr/>
        </p:nvPicPr>
        <p:blipFill>
          <a:blip r:embed="rId2"/>
          <a:stretch/>
        </p:blipFill>
        <p:spPr>
          <a:xfrm>
            <a:off x="914760" y="3627360"/>
            <a:ext cx="174960" cy="95400"/>
          </a:xfrm>
          <a:prstGeom prst="rect">
            <a:avLst/>
          </a:prstGeom>
          <a:noFill/>
          <a:ln w="0">
            <a:noFill/>
          </a:ln>
        </p:spPr>
      </p:pic>
      <p:graphicFrame>
        <p:nvGraphicFramePr>
          <p:cNvPr id="195" name="Chart 0"/>
          <p:cNvGraphicFramePr/>
          <p:nvPr/>
        </p:nvGraphicFramePr>
        <p:xfrm>
          <a:off x="685800" y="1096920"/>
          <a:ext cx="7767360" cy="3195360"/>
        </p:xfrm>
        <a:graphic>
          <a:graphicData uri="http://schemas.openxmlformats.org/drawingml/2006/chart">
            <c:chart xmlns:c="http://schemas.openxmlformats.org/drawingml/2006/chart" xmlns:r="http://schemas.openxmlformats.org/officeDocument/2006/relationships" r:id="rId3"/>
          </a:graphicData>
        </a:graphic>
      </p:graphicFrame>
      <p:sp>
        <p:nvSpPr>
          <p:cNvPr id="196" name="Rechteck 3"/>
          <p:cNvSpPr/>
          <p:nvPr/>
        </p:nvSpPr>
        <p:spPr>
          <a:xfrm>
            <a:off x="691920" y="349920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97" name="Grafik 3"/>
          <p:cNvPicPr/>
          <p:nvPr/>
        </p:nvPicPr>
        <p:blipFill>
          <a:blip r:embed="rId4"/>
          <a:stretch/>
        </p:blipFill>
        <p:spPr>
          <a:xfrm>
            <a:off x="852480" y="3605040"/>
            <a:ext cx="174960" cy="95400"/>
          </a:xfrm>
          <a:prstGeom prst="rect">
            <a:avLst/>
          </a:prstGeom>
          <a:noFill/>
          <a:ln w="0">
            <a:noFill/>
          </a:ln>
        </p:spPr>
      </p:pic>
      <p:sp>
        <p:nvSpPr>
          <p:cNvPr id="198" name="TextBox 191"/>
          <p:cNvSpPr/>
          <p:nvPr/>
        </p:nvSpPr>
        <p:spPr>
          <a:xfrm>
            <a:off x="457560" y="925920"/>
            <a:ext cx="776988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LLM Fidelity check — RAW STT vs. Formatted output</a:t>
            </a:r>
            <a:endParaRPr lang="de-DE" sz="1100" b="0" u="none" strike="noStrike">
              <a:solidFill>
                <a:srgbClr val="FFFFFF"/>
              </a:solidFill>
              <a:effectLst/>
              <a:uFillTx/>
              <a:latin typeface="Arial"/>
            </a:endParaRPr>
          </a:p>
        </p:txBody>
      </p:sp>
      <p:sp>
        <p:nvSpPr>
          <p:cNvPr id="199" name="TextBox 192"/>
          <p:cNvSpPr/>
          <p:nvPr/>
        </p:nvSpPr>
        <p:spPr>
          <a:xfrm>
            <a:off x="71280" y="4300920"/>
            <a:ext cx="712980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Hallucination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00"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Anamnese Catastrophe</a:t>
            </a:r>
            <a:endParaRPr lang="de-DE" sz="2400" b="0" u="none" strike="noStrike">
              <a:solidFill>
                <a:srgbClr val="FFFFFF"/>
              </a:solidFill>
              <a:effectLst/>
              <a:uFillTx/>
              <a:latin typeface="Arial"/>
            </a:endParaRPr>
          </a:p>
        </p:txBody>
      </p:sp>
      <p:graphicFrame>
        <p:nvGraphicFramePr>
          <p:cNvPr id="201" name="Chart 0"/>
          <p:cNvGraphicFramePr/>
          <p:nvPr/>
        </p:nvGraphicFramePr>
        <p:xfrm>
          <a:off x="457200" y="1368720"/>
          <a:ext cx="5481000" cy="2554920"/>
        </p:xfrm>
        <a:graphic>
          <a:graphicData uri="http://schemas.openxmlformats.org/drawingml/2006/chart">
            <c:chart xmlns:c="http://schemas.openxmlformats.org/drawingml/2006/chart" xmlns:r="http://schemas.openxmlformats.org/officeDocument/2006/relationships" r:id="rId1"/>
          </a:graphicData>
        </a:graphic>
      </p:graphicFrame>
      <p:sp>
        <p:nvSpPr>
          <p:cNvPr id="202" name="Text 1"/>
          <p:cNvSpPr/>
          <p:nvPr/>
        </p:nvSpPr>
        <p:spPr>
          <a:xfrm>
            <a:off x="6217920" y="1800000"/>
            <a:ext cx="2554920" cy="1091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1" u="none" strike="noStrike">
                <a:solidFill>
                  <a:srgbClr val="FF5429"/>
                </a:solidFill>
                <a:effectLst/>
                <a:uFillTx/>
                <a:latin typeface="DejaVu Serif"/>
                <a:ea typeface="DejaVu Serif"/>
              </a:rPr>
              <a:t>–93%</a:t>
            </a:r>
            <a:endParaRPr lang="de-DE" sz="6400" b="0" u="none" strike="noStrike">
              <a:solidFill>
                <a:srgbClr val="FFFFFF"/>
              </a:solidFill>
              <a:effectLst/>
              <a:uFillTx/>
              <a:latin typeface="Arial"/>
            </a:endParaRPr>
          </a:p>
        </p:txBody>
      </p:sp>
      <p:sp>
        <p:nvSpPr>
          <p:cNvPr id="203" name="Text 2"/>
          <p:cNvSpPr/>
          <p:nvPr/>
        </p:nvSpPr>
        <p:spPr>
          <a:xfrm>
            <a:off x="6217920" y="2897280"/>
            <a:ext cx="2554920" cy="360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E8E8E8"/>
                </a:solidFill>
                <a:effectLst/>
                <a:uFillTx/>
                <a:latin typeface="DejaVu Serif"/>
                <a:ea typeface="DejaVu Serif"/>
              </a:rPr>
              <a:t>content silently dropped</a:t>
            </a:r>
            <a:endParaRPr lang="de-DE" sz="1300" b="0" u="none" strike="noStrike">
              <a:solidFill>
                <a:srgbClr val="FFFFFF"/>
              </a:solidFill>
              <a:effectLst/>
              <a:uFillTx/>
              <a:latin typeface="Arial"/>
            </a:endParaRPr>
          </a:p>
        </p:txBody>
      </p:sp>
      <p:sp>
        <p:nvSpPr>
          <p:cNvPr id="204" name="Text 4"/>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05" name="Text 5"/>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12 / 19</a:t>
            </a:r>
            <a:endParaRPr lang="de-DE" sz="800" b="0" u="none" strike="noStrike">
              <a:solidFill>
                <a:srgbClr val="FFFFFF"/>
              </a:solidFill>
              <a:effectLst/>
              <a:uFillTx/>
              <a:latin typeface="Arial"/>
            </a:endParaRPr>
          </a:p>
        </p:txBody>
      </p:sp>
      <p:sp>
        <p:nvSpPr>
          <p:cNvPr id="206" name=""/>
          <p:cNvSpPr/>
          <p:nvPr/>
        </p:nvSpPr>
        <p:spPr>
          <a:xfrm>
            <a:off x="666000" y="1801080"/>
            <a:ext cx="1628280" cy="35604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chorCtr="1">
            <a:noAutofit/>
          </a:bodyPr>
          <a:p>
            <a:pPr algn="ctr">
              <a:lnSpc>
                <a:spcPct val="100000"/>
              </a:lnSpc>
            </a:pPr>
            <a:r>
              <a:rPr lang="de-DE" sz="1300" b="0" u="none" strike="noStrike">
                <a:solidFill>
                  <a:srgbClr val="FFFFFF"/>
                </a:solidFill>
                <a:effectLst/>
                <a:uFillTx/>
                <a:latin typeface="DejaVu Serif"/>
                <a:ea typeface="DejaVu Sans"/>
              </a:rPr>
              <a:t> </a:t>
            </a:r>
            <a:endParaRPr lang="de-DE" sz="1300" b="0" u="none" strike="noStrike">
              <a:solidFill>
                <a:srgbClr val="FFFFFF"/>
              </a:solidFill>
              <a:effectLst/>
              <a:uFillTx/>
              <a:latin typeface="Arial"/>
            </a:endParaRPr>
          </a:p>
        </p:txBody>
      </p:sp>
      <p:sp>
        <p:nvSpPr>
          <p:cNvPr id="207" name=""/>
          <p:cNvSpPr/>
          <p:nvPr/>
        </p:nvSpPr>
        <p:spPr>
          <a:xfrm>
            <a:off x="783720" y="1813320"/>
            <a:ext cx="1616040" cy="2880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de-DE" sz="1300" b="0" u="none" strike="noStrike">
                <a:solidFill>
                  <a:srgbClr val="FFFFFF"/>
                </a:solidFill>
                <a:effectLst/>
                <a:uFillTx/>
                <a:latin typeface="DejaVu Serif"/>
                <a:ea typeface="DejaVu Sans"/>
              </a:rPr>
              <a:t>Raw STT Output</a:t>
            </a:r>
            <a:endParaRPr lang="de-DE" sz="1300" b="0" u="none" strike="noStrike">
              <a:solidFill>
                <a:srgbClr val="FFFFFF"/>
              </a:solidFill>
              <a:effectLst/>
              <a:uFillTx/>
              <a:latin typeface="Arial"/>
            </a:endParaRPr>
          </a:p>
        </p:txBody>
      </p:sp>
      <p:sp>
        <p:nvSpPr>
          <p:cNvPr id="208" name="TextBox 249"/>
          <p:cNvSpPr/>
          <p:nvPr/>
        </p:nvSpPr>
        <p:spPr>
          <a:xfrm>
            <a:off x="457560" y="1105920"/>
            <a:ext cx="548388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Content volume — before vs. after LLM formatting step</a:t>
            </a:r>
            <a:endParaRPr lang="de-DE" sz="1100" b="0" u="none" strike="noStrike">
              <a:solidFill>
                <a:srgbClr val="FFFFFF"/>
              </a:solidFill>
              <a:effectLst/>
              <a:uFillTx/>
              <a:latin typeface="Arial"/>
            </a:endParaRPr>
          </a:p>
        </p:txBody>
      </p:sp>
      <p:sp>
        <p:nvSpPr>
          <p:cNvPr id="209" name=""/>
          <p:cNvSpPr/>
          <p:nvPr/>
        </p:nvSpPr>
        <p:spPr>
          <a:xfrm>
            <a:off x="3334680" y="3925800"/>
            <a:ext cx="998640" cy="25632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de-DE" sz="1100" b="0" u="none" strike="noStrike">
                <a:solidFill>
                  <a:srgbClr val="FFFFFF"/>
                </a:solidFill>
                <a:effectLst/>
                <a:uFillTx/>
                <a:latin typeface="DejaVu Serif"/>
                <a:ea typeface="DejaVu Sans"/>
              </a:rPr>
              <a:t>Word count</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1" dur="indefinite" restart="never" nodeType="tmRoot">
          <p:childTnLst>
            <p:seq>
              <p:cTn id="242" dur="indefinite" nodeType="mainSeq">
                <p:childTnLst>
                  <p:par>
                    <p:cTn id="243" fill="hold">
                      <p:stCondLst>
                        <p:cond delay="indefinite"/>
                      </p:stCondLst>
                      <p:childTnLst>
                        <p:par>
                          <p:cTn id="244" fill="hold">
                            <p:stCondLst>
                              <p:cond delay="0"/>
                            </p:stCondLst>
                            <p:childTnLst>
                              <p:par>
                                <p:cTn id="245" presetID="1" presetClass="entr" fill="hold" nodeType="clickEffect">
                                  <p:stCondLst>
                                    <p:cond delay="0"/>
                                  </p:stCondLst>
                                  <p:childTnLst>
                                    <p:set>
                                      <p:cBhvr>
                                        <p:cTn id="246" dur="1" fill="hold">
                                          <p:stCondLst>
                                            <p:cond delay="0"/>
                                          </p:stCondLst>
                                        </p:cTn>
                                        <p:tgtEl>
                                          <p:spTgt spid="202"/>
                                        </p:tgtEl>
                                        <p:attrNameLst>
                                          <p:attrName>style.visibility</p:attrName>
                                        </p:attrNameLst>
                                      </p:cBhvr>
                                      <p:to>
                                        <p:strVal val="visible"/>
                                      </p:to>
                                    </p:set>
                                  </p:childTnLst>
                                </p:cTn>
                              </p:par>
                              <p:par>
                                <p:cTn id="247" presetID="1" presetClass="entr" fill="hold" nodeType="withEffect">
                                  <p:stCondLst>
                                    <p:cond delay="0"/>
                                  </p:stCondLst>
                                  <p:childTnLst>
                                    <p:set>
                                      <p:cBhvr>
                                        <p:cTn id="248"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10"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No model reached clinically acceptable quality</a:t>
            </a:r>
            <a:endParaRPr lang="de-DE" sz="2400" b="0" u="none" strike="noStrike">
              <a:solidFill>
                <a:srgbClr val="FFFFFF"/>
              </a:solidFill>
              <a:effectLst/>
              <a:uFillTx/>
              <a:latin typeface="Arial"/>
            </a:endParaRPr>
          </a:p>
        </p:txBody>
      </p:sp>
      <p:sp>
        <p:nvSpPr>
          <p:cNvPr id="211" name="Shape 9"/>
          <p:cNvSpPr/>
          <p:nvPr/>
        </p:nvSpPr>
        <p:spPr>
          <a:xfrm>
            <a:off x="5577840" y="1321560"/>
            <a:ext cx="3195000" cy="2280600"/>
          </a:xfrm>
          <a:prstGeom prst="roundRect">
            <a:avLst>
              <a:gd name="adj" fmla="val 6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12" name="Text 10"/>
          <p:cNvSpPr/>
          <p:nvPr/>
        </p:nvSpPr>
        <p:spPr>
          <a:xfrm>
            <a:off x="5715000" y="1394640"/>
            <a:ext cx="292068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Quality Distribution</a:t>
            </a:r>
            <a:endParaRPr lang="de-DE" sz="1300" b="0" u="none" strike="noStrike">
              <a:solidFill>
                <a:srgbClr val="FFFFFF"/>
              </a:solidFill>
              <a:effectLst/>
              <a:uFillTx/>
              <a:latin typeface="Arial"/>
            </a:endParaRPr>
          </a:p>
        </p:txBody>
      </p:sp>
      <p:graphicFrame>
        <p:nvGraphicFramePr>
          <p:cNvPr id="213" name="Table 0"/>
          <p:cNvGraphicFramePr/>
          <p:nvPr/>
        </p:nvGraphicFramePr>
        <p:xfrm>
          <a:off x="5669280" y="1733040"/>
          <a:ext cx="3016080" cy="1791000"/>
        </p:xfrm>
        <a:graphic>
          <a:graphicData uri="http://schemas.openxmlformats.org/drawingml/2006/table">
            <a:tbl>
              <a:tblPr/>
              <a:tblGrid>
                <a:gridCol w="1400760"/>
                <a:gridCol w="538560"/>
                <a:gridCol w="538560"/>
                <a:gridCol w="538560"/>
              </a:tblGrid>
              <a:tr h="358200">
                <a:tc>
                  <a:txBody>
                    <a:bodyPr anchor="t">
                      <a:noAutofit/>
                    </a:bodyPr>
                    <a:p>
                      <a:pPr defTabSz="914400">
                        <a:lnSpc>
                          <a:spcPct val="100000"/>
                        </a:lnSpc>
                        <a:tabLst>
                          <a:tab pos="0" algn="l"/>
                        </a:tabLst>
                      </a:pPr>
                      <a:r>
                        <a:rPr lang="en-US" sz="1100" b="1" u="none" strike="noStrike">
                          <a:solidFill>
                            <a:srgbClr val="FFFFFF"/>
                          </a:solidFill>
                          <a:effectLst/>
                          <a:uFillTx/>
                          <a:latin typeface="DejaVu Serif"/>
                          <a:ea typeface="DejaVu Serif"/>
                        </a:rPr>
                        <a:t>Model</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o</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GPT-4o</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Gemma</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5</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6</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Sauerkraut</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4</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7</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Llama 3.2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9</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214" name="Text 13"/>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15" name="Text 14"/>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19</a:t>
            </a:r>
            <a:endParaRPr lang="de-DE" sz="800" b="0" u="none" strike="noStrike">
              <a:solidFill>
                <a:srgbClr val="FFFFFF"/>
              </a:solidFill>
              <a:effectLst/>
              <a:uFillTx/>
              <a:latin typeface="Arial"/>
            </a:endParaRPr>
          </a:p>
        </p:txBody>
      </p:sp>
      <p:sp>
        <p:nvSpPr>
          <p:cNvPr id="216" name="Rechteck 191"/>
          <p:cNvSpPr/>
          <p:nvPr/>
        </p:nvSpPr>
        <p:spPr>
          <a:xfrm>
            <a:off x="510840" y="145008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graphicFrame>
        <p:nvGraphicFramePr>
          <p:cNvPr id="217" name="Chart 0"/>
          <p:cNvGraphicFramePr/>
          <p:nvPr/>
        </p:nvGraphicFramePr>
        <p:xfrm>
          <a:off x="360000" y="1229760"/>
          <a:ext cx="5075640" cy="2921040"/>
        </p:xfrm>
        <a:graphic>
          <a:graphicData uri="http://schemas.openxmlformats.org/drawingml/2006/chart">
            <c:chart xmlns:c="http://schemas.openxmlformats.org/drawingml/2006/chart" xmlns:r="http://schemas.openxmlformats.org/officeDocument/2006/relationships" r:id="rId1"/>
          </a:graphicData>
        </a:graphic>
      </p:graphicFrame>
      <p:sp>
        <p:nvSpPr>
          <p:cNvPr id="218" name="Shape 1"/>
          <p:cNvSpPr/>
          <p:nvPr/>
        </p:nvSpPr>
        <p:spPr>
          <a:xfrm>
            <a:off x="1078920" y="4288320"/>
            <a:ext cx="159480" cy="123120"/>
          </a:xfrm>
          <a:prstGeom prst="roundRect">
            <a:avLst>
              <a:gd name="adj" fmla="val 21429"/>
            </a:avLst>
          </a:prstGeom>
          <a:solidFill>
            <a:srgbClr val="D04A3A"/>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19" name="Text 2"/>
          <p:cNvSpPr/>
          <p:nvPr/>
        </p:nvSpPr>
        <p:spPr>
          <a:xfrm>
            <a:off x="1280160" y="4260960"/>
            <a:ext cx="1183680" cy="17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0–3 not usable</a:t>
            </a:r>
            <a:endParaRPr lang="de-DE" sz="800" b="0" u="none" strike="noStrike">
              <a:solidFill>
                <a:srgbClr val="FFFFFF"/>
              </a:solidFill>
              <a:effectLst/>
              <a:uFillTx/>
              <a:latin typeface="Arial"/>
            </a:endParaRPr>
          </a:p>
        </p:txBody>
      </p:sp>
      <p:sp>
        <p:nvSpPr>
          <p:cNvPr id="220" name="Shape 3"/>
          <p:cNvSpPr/>
          <p:nvPr/>
        </p:nvSpPr>
        <p:spPr>
          <a:xfrm>
            <a:off x="2541960" y="4288320"/>
            <a:ext cx="159480" cy="123120"/>
          </a:xfrm>
          <a:prstGeom prst="roundRect">
            <a:avLst>
              <a:gd name="adj" fmla="val 21429"/>
            </a:avLst>
          </a:prstGeom>
          <a:solidFill>
            <a:srgbClr val="D89614"/>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1" name="Text 4"/>
          <p:cNvSpPr/>
          <p:nvPr/>
        </p:nvSpPr>
        <p:spPr>
          <a:xfrm>
            <a:off x="2743200" y="4260960"/>
            <a:ext cx="1366560" cy="17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&gt;3–6 needs revision</a:t>
            </a:r>
            <a:endParaRPr lang="de-DE" sz="800" b="0" u="none" strike="noStrike">
              <a:solidFill>
                <a:srgbClr val="FFFFFF"/>
              </a:solidFill>
              <a:effectLst/>
              <a:uFillTx/>
              <a:latin typeface="Arial"/>
            </a:endParaRPr>
          </a:p>
        </p:txBody>
      </p:sp>
      <p:sp>
        <p:nvSpPr>
          <p:cNvPr id="222" name="Shape 5"/>
          <p:cNvSpPr/>
          <p:nvPr/>
        </p:nvSpPr>
        <p:spPr>
          <a:xfrm>
            <a:off x="4187880" y="4288320"/>
            <a:ext cx="159480" cy="123120"/>
          </a:xfrm>
          <a:prstGeom prst="roundRect">
            <a:avLst>
              <a:gd name="adj" fmla="val 21429"/>
            </a:avLst>
          </a:prstGeom>
          <a:solidFill>
            <a:srgbClr val="3DA07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3" name="Text 6"/>
          <p:cNvSpPr/>
          <p:nvPr/>
        </p:nvSpPr>
        <p:spPr>
          <a:xfrm>
            <a:off x="4389120" y="4260960"/>
            <a:ext cx="1183680" cy="17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&gt;6 acceptable</a:t>
            </a:r>
            <a:endParaRPr lang="de-DE" sz="800" b="0" u="none" strike="noStrike">
              <a:solidFill>
                <a:srgbClr val="FFFFFF"/>
              </a:solidFill>
              <a:effectLst/>
              <a:uFillTx/>
              <a:latin typeface="Arial"/>
            </a:endParaRPr>
          </a:p>
        </p:txBody>
      </p:sp>
      <p:sp>
        <p:nvSpPr>
          <p:cNvPr id="224" name="Shape 1"/>
          <p:cNvSpPr/>
          <p:nvPr/>
        </p:nvSpPr>
        <p:spPr>
          <a:xfrm>
            <a:off x="4499640" y="1260000"/>
            <a:ext cx="360" cy="2671560"/>
          </a:xfrm>
          <a:prstGeom prst="line">
            <a:avLst/>
          </a:prstGeom>
          <a:ln w="25560">
            <a:solidFill>
              <a:srgbClr val="3DA070"/>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5" name="Rechteck 5"/>
          <p:cNvSpPr/>
          <p:nvPr/>
        </p:nvSpPr>
        <p:spPr>
          <a:xfrm>
            <a:off x="317880" y="1451880"/>
            <a:ext cx="35496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226" name="Grafik 5"/>
          <p:cNvPicPr/>
          <p:nvPr/>
        </p:nvPicPr>
        <p:blipFill>
          <a:blip r:embed="rId2"/>
          <a:stretch/>
        </p:blipFill>
        <p:spPr>
          <a:xfrm>
            <a:off x="478440" y="1557720"/>
            <a:ext cx="174960" cy="95400"/>
          </a:xfrm>
          <a:prstGeom prst="rect">
            <a:avLst/>
          </a:prstGeom>
          <a:noFill/>
          <a:ln w="0">
            <a:noFill/>
          </a:ln>
        </p:spPr>
      </p:pic>
      <p:sp>
        <p:nvSpPr>
          <p:cNvPr id="227" name="TextBox 259"/>
          <p:cNvSpPr/>
          <p:nvPr/>
        </p:nvSpPr>
        <p:spPr>
          <a:xfrm>
            <a:off x="4115160" y="1005840"/>
            <a:ext cx="1186200" cy="13680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900" b="0" u="none" strike="noStrike">
                <a:solidFill>
                  <a:srgbClr val="2EBD8F"/>
                </a:solidFill>
                <a:effectLst/>
                <a:uFillTx/>
                <a:latin typeface="DejaVu Serif"/>
                <a:ea typeface="DejaVu Sans"/>
              </a:rPr>
              <a:t>Acceptable (&gt; 6)</a:t>
            </a:r>
            <a:endParaRPr lang="de-DE" sz="900" b="0" u="none" strike="noStrike">
              <a:solidFill>
                <a:srgbClr val="FFFFFF"/>
              </a:solidFill>
              <a:effectLst/>
              <a:uFillTx/>
              <a:latin typeface="Arial"/>
            </a:endParaRPr>
          </a:p>
        </p:txBody>
      </p:sp>
      <p:sp>
        <p:nvSpPr>
          <p:cNvPr id="228" name="TextBox 260"/>
          <p:cNvSpPr/>
          <p:nvPr/>
        </p:nvSpPr>
        <p:spPr>
          <a:xfrm>
            <a:off x="5669640" y="3665520"/>
            <a:ext cx="301500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acceptable   </a:t>
            </a:r>
            <a:r>
              <a:rPr lang="de-DE" sz="1100" b="0" u="none" strike="noStrike">
                <a:solidFill>
                  <a:srgbClr val="FFFFFF"/>
                </a:solidFill>
                <a:effectLst/>
                <a:uFillTx/>
                <a:latin typeface="DejaVu Serif"/>
                <a:ea typeface="DejaVu Sans"/>
              </a:rPr>
              <a:t>o </a:t>
            </a:r>
            <a:r>
              <a:rPr lang="de-DE" sz="900" b="0" u="none" strike="noStrike">
                <a:solidFill>
                  <a:srgbClr val="FFFFFF"/>
                </a:solidFill>
                <a:effectLst/>
                <a:uFillTx/>
                <a:latin typeface="DejaVu Serif"/>
                <a:ea typeface="DejaVu Sans"/>
              </a:rPr>
              <a:t>needs revision   </a:t>
            </a: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not usable</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9" dur="indefinite" restart="never" nodeType="tmRoot">
          <p:childTnLst>
            <p:seq>
              <p:cTn id="250" dur="indefinite" nodeType="mainSeq">
                <p:childTnLst>
                  <p:par>
                    <p:cTn id="251" fill="hold">
                      <p:stCondLst>
                        <p:cond delay="indefinite"/>
                      </p:stCondLst>
                      <p:childTnLst>
                        <p:par>
                          <p:cTn id="252" fill="hold">
                            <p:stCondLst>
                              <p:cond delay="0"/>
                            </p:stCondLst>
                            <p:childTnLst>
                              <p:par>
                                <p:cTn id="253" presetID="1" presetClass="entr" fill="hold" nodeType="clickEffect">
                                  <p:stCondLst>
                                    <p:cond delay="0"/>
                                  </p:stCondLst>
                                  <p:childTnLst>
                                    <p:set>
                                      <p:cBhvr>
                                        <p:cTn id="254" dur="1" fill="hold">
                                          <p:stCondLst>
                                            <p:cond delay="0"/>
                                          </p:stCondLst>
                                        </p:cTn>
                                        <p:tgtEl>
                                          <p:spTgt spid="211"/>
                                        </p:tgtEl>
                                        <p:attrNameLst>
                                          <p:attrName>style.visibility</p:attrName>
                                        </p:attrNameLst>
                                      </p:cBhvr>
                                      <p:to>
                                        <p:strVal val="visible"/>
                                      </p:to>
                                    </p:set>
                                  </p:childTnLst>
                                </p:cTn>
                              </p:par>
                              <p:par>
                                <p:cTn id="255" presetID="1" presetClass="entr" fill="hold" nodeType="withEffect">
                                  <p:stCondLst>
                                    <p:cond delay="0"/>
                                  </p:stCondLst>
                                  <p:childTnLst>
                                    <p:set>
                                      <p:cBhvr>
                                        <p:cTn id="256" dur="1" fill="hold">
                                          <p:stCondLst>
                                            <p:cond delay="0"/>
                                          </p:stCondLst>
                                        </p:cTn>
                                        <p:tgtEl>
                                          <p:spTgt spid="212"/>
                                        </p:tgtEl>
                                        <p:attrNameLst>
                                          <p:attrName>style.visibility</p:attrName>
                                        </p:attrNameLst>
                                      </p:cBhvr>
                                      <p:to>
                                        <p:strVal val="visible"/>
                                      </p:to>
                                    </p:set>
                                  </p:childTnLst>
                                </p:cTn>
                              </p:par>
                              <p:par>
                                <p:cTn id="257" presetID="1" presetClass="entr" fill="hold" nodeType="withEffect">
                                  <p:stCondLst>
                                    <p:cond delay="0"/>
                                  </p:stCondLst>
                                  <p:childTnLst>
                                    <p:set>
                                      <p:cBhvr>
                                        <p:cTn id="258" dur="1" fill="hold">
                                          <p:stCondLst>
                                            <p:cond delay="0"/>
                                          </p:stCondLst>
                                        </p:cTn>
                                        <p:tgtEl>
                                          <p:spTgt spid="213"/>
                                        </p:tgtEl>
                                        <p:attrNameLst>
                                          <p:attrName>style.visibility</p:attrName>
                                        </p:attrNameLst>
                                      </p:cBhvr>
                                      <p:to>
                                        <p:strVal val="visible"/>
                                      </p:to>
                                    </p:set>
                                  </p:childTnLst>
                                </p:cTn>
                              </p:par>
                              <p:par>
                                <p:cTn id="259" presetID="1" presetClass="entr" fill="hold" nodeType="withEffect">
                                  <p:stCondLst>
                                    <p:cond delay="0"/>
                                  </p:stCondLst>
                                  <p:childTnLst>
                                    <p:set>
                                      <p:cBhvr>
                                        <p:cTn id="260"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29"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Technology assists — </a:t>
            </a:r>
            <a:r>
              <a:rPr lang="en-US" sz="2400" b="1" u="none" strike="noStrike">
                <a:solidFill>
                  <a:schemeClr val="lt1"/>
                </a:solidFill>
                <a:effectLst/>
                <a:uFillTx/>
                <a:latin typeface="DejaVu Serif"/>
                <a:ea typeface="DejaVu Serif"/>
              </a:rPr>
              <a:t>but doesn't yet replace a clinician's pen</a:t>
            </a:r>
            <a:endParaRPr lang="de-DE" sz="2400" b="0" u="none" strike="noStrike">
              <a:solidFill>
                <a:srgbClr val="FFFFFF"/>
              </a:solidFill>
              <a:effectLst/>
              <a:uFillTx/>
              <a:latin typeface="Arial"/>
            </a:endParaRPr>
          </a:p>
        </p:txBody>
      </p:sp>
      <p:sp>
        <p:nvSpPr>
          <p:cNvPr id="230" name="Shape 1"/>
          <p:cNvSpPr/>
          <p:nvPr/>
        </p:nvSpPr>
        <p:spPr>
          <a:xfrm>
            <a:off x="457200" y="1188720"/>
            <a:ext cx="3926520" cy="2646360"/>
          </a:xfrm>
          <a:prstGeom prst="roundRect">
            <a:avLst>
              <a:gd name="adj" fmla="val 5172"/>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31" name="Text 2"/>
          <p:cNvSpPr/>
          <p:nvPr/>
        </p:nvSpPr>
        <p:spPr>
          <a:xfrm>
            <a:off x="640080" y="1325880"/>
            <a:ext cx="273780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Winners</a:t>
            </a:r>
            <a:endParaRPr lang="de-DE" sz="1300" b="0" u="none" strike="noStrike">
              <a:solidFill>
                <a:srgbClr val="FFFFFF"/>
              </a:solidFill>
              <a:effectLst/>
              <a:uFillTx/>
              <a:latin typeface="Arial"/>
            </a:endParaRPr>
          </a:p>
        </p:txBody>
      </p:sp>
      <p:sp>
        <p:nvSpPr>
          <p:cNvPr id="232" name="Text 3"/>
          <p:cNvSpPr/>
          <p:nvPr/>
        </p:nvSpPr>
        <p:spPr>
          <a:xfrm>
            <a:off x="640080" y="1645920"/>
            <a:ext cx="3560760" cy="40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Assembly &amp; GPT-4o</a:t>
            </a:r>
            <a:endParaRPr lang="de-DE" sz="1600" b="0" u="none" strike="noStrike">
              <a:solidFill>
                <a:srgbClr val="FFFFFF"/>
              </a:solidFill>
              <a:effectLst/>
              <a:uFillTx/>
              <a:latin typeface="Arial"/>
            </a:endParaRPr>
          </a:p>
        </p:txBody>
      </p:sp>
      <p:sp>
        <p:nvSpPr>
          <p:cNvPr id="233" name="Text 4"/>
          <p:cNvSpPr/>
          <p:nvPr/>
        </p:nvSpPr>
        <p:spPr>
          <a:xfrm>
            <a:off x="640080" y="224028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WER (8.9 %)</a:t>
            </a:r>
            <a:endParaRPr lang="de-DE" sz="1300" b="0" u="none" strike="noStrike">
              <a:solidFill>
                <a:srgbClr val="FFFFFF"/>
              </a:solidFill>
              <a:effectLst/>
              <a:uFillTx/>
              <a:latin typeface="Arial"/>
            </a:endParaRPr>
          </a:p>
        </p:txBody>
      </p:sp>
      <p:sp>
        <p:nvSpPr>
          <p:cNvPr id="234" name="Text 5"/>
          <p:cNvSpPr/>
          <p:nvPr/>
        </p:nvSpPr>
        <p:spPr>
          <a:xfrm>
            <a:off x="640080" y="260604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hallucination rate (0.0 %)</a:t>
            </a:r>
            <a:endParaRPr lang="de-DE" sz="1300" b="0" u="none" strike="noStrike">
              <a:solidFill>
                <a:srgbClr val="FFFFFF"/>
              </a:solidFill>
              <a:effectLst/>
              <a:uFillTx/>
              <a:latin typeface="Arial"/>
            </a:endParaRPr>
          </a:p>
        </p:txBody>
      </p:sp>
      <p:sp>
        <p:nvSpPr>
          <p:cNvPr id="235" name="Text 6"/>
          <p:cNvSpPr/>
          <p:nvPr/>
        </p:nvSpPr>
        <p:spPr>
          <a:xfrm>
            <a:off x="640080" y="297180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Best SOAP score (4.4 / 8)</a:t>
            </a:r>
            <a:endParaRPr lang="de-DE" sz="1300" b="0" u="none" strike="noStrike">
              <a:solidFill>
                <a:srgbClr val="FFFFFF"/>
              </a:solidFill>
              <a:effectLst/>
              <a:uFillTx/>
              <a:latin typeface="Arial"/>
            </a:endParaRPr>
          </a:p>
        </p:txBody>
      </p:sp>
      <p:sp>
        <p:nvSpPr>
          <p:cNvPr id="236" name="Shape 7"/>
          <p:cNvSpPr/>
          <p:nvPr/>
        </p:nvSpPr>
        <p:spPr>
          <a:xfrm>
            <a:off x="4754880" y="1188720"/>
            <a:ext cx="3926520" cy="2646360"/>
          </a:xfrm>
          <a:prstGeom prst="roundRect">
            <a:avLst>
              <a:gd name="adj" fmla="val 5172"/>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chemeClr val="dk1"/>
              </a:solidFill>
              <a:effectLst/>
              <a:uFillTx/>
              <a:latin typeface="Calibri"/>
            </a:endParaRPr>
          </a:p>
        </p:txBody>
      </p:sp>
      <p:sp>
        <p:nvSpPr>
          <p:cNvPr id="237" name="Text 8"/>
          <p:cNvSpPr/>
          <p:nvPr/>
        </p:nvSpPr>
        <p:spPr>
          <a:xfrm>
            <a:off x="4937760" y="1325880"/>
            <a:ext cx="2737800" cy="268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But</a:t>
            </a:r>
            <a:endParaRPr lang="de-DE" sz="1300" b="0" u="none" strike="noStrike">
              <a:solidFill>
                <a:srgbClr val="FFFFFF"/>
              </a:solidFill>
              <a:effectLst/>
              <a:uFillTx/>
              <a:latin typeface="Arial"/>
            </a:endParaRPr>
          </a:p>
        </p:txBody>
      </p:sp>
      <p:sp>
        <p:nvSpPr>
          <p:cNvPr id="238" name="Text 9"/>
          <p:cNvSpPr/>
          <p:nvPr/>
        </p:nvSpPr>
        <p:spPr>
          <a:xfrm>
            <a:off x="4937760" y="1645920"/>
            <a:ext cx="3560760" cy="406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Still not clinically usable</a:t>
            </a:r>
            <a:endParaRPr lang="de-DE" sz="1600" b="0" u="none" strike="noStrike">
              <a:solidFill>
                <a:srgbClr val="FFFFFF"/>
              </a:solidFill>
              <a:effectLst/>
              <a:uFillTx/>
              <a:latin typeface="Arial"/>
            </a:endParaRPr>
          </a:p>
        </p:txBody>
      </p:sp>
      <p:sp>
        <p:nvSpPr>
          <p:cNvPr id="239" name="Text 10"/>
          <p:cNvSpPr/>
          <p:nvPr/>
        </p:nvSpPr>
        <p:spPr>
          <a:xfrm>
            <a:off x="4937760" y="224028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Zero runs reached 'acceptable'</a:t>
            </a:r>
            <a:endParaRPr lang="de-DE" sz="1300" b="0" u="none" strike="noStrike">
              <a:solidFill>
                <a:srgbClr val="FFFFFF"/>
              </a:solidFill>
              <a:effectLst/>
              <a:uFillTx/>
              <a:latin typeface="Arial"/>
            </a:endParaRPr>
          </a:p>
        </p:txBody>
      </p:sp>
      <p:sp>
        <p:nvSpPr>
          <p:cNvPr id="240" name="Text 11"/>
          <p:cNvSpPr/>
          <p:nvPr/>
        </p:nvSpPr>
        <p:spPr>
          <a:xfrm>
            <a:off x="4937760" y="260604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Plan section averaged 0.1 / 2</a:t>
            </a:r>
            <a:endParaRPr lang="de-DE" sz="1300" b="0" u="none" strike="noStrike">
              <a:solidFill>
                <a:srgbClr val="FFFFFF"/>
              </a:solidFill>
              <a:effectLst/>
              <a:uFillTx/>
              <a:latin typeface="Arial"/>
            </a:endParaRPr>
          </a:p>
        </p:txBody>
      </p:sp>
      <p:sp>
        <p:nvSpPr>
          <p:cNvPr id="241" name="Text 12"/>
          <p:cNvSpPr/>
          <p:nvPr/>
        </p:nvSpPr>
        <p:spPr>
          <a:xfrm>
            <a:off x="4937760" y="2971800"/>
            <a:ext cx="356076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Performance collapses with bad audio</a:t>
            </a:r>
            <a:endParaRPr lang="de-DE" sz="1300" b="0" u="none" strike="noStrike">
              <a:solidFill>
                <a:srgbClr val="FFFFFF"/>
              </a:solidFill>
              <a:effectLst/>
              <a:uFillTx/>
              <a:latin typeface="Arial"/>
            </a:endParaRPr>
          </a:p>
        </p:txBody>
      </p:sp>
      <p:sp>
        <p:nvSpPr>
          <p:cNvPr id="242" name="Text 13"/>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43" name="Text 14"/>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61" dur="indefinite" restart="never" nodeType="tmRoot">
          <p:childTnLst>
            <p:seq>
              <p:cTn id="262" dur="indefinite" nodeType="mainSeq">
                <p:childTnLst>
                  <p:par>
                    <p:cTn id="263" fill="hold">
                      <p:stCondLst>
                        <p:cond delay="indefinite"/>
                      </p:stCondLst>
                      <p:childTnLst>
                        <p:par>
                          <p:cTn id="264" fill="hold">
                            <p:stCondLst>
                              <p:cond delay="0"/>
                            </p:stCondLst>
                            <p:childTnLst>
                              <p:par>
                                <p:cTn id="265" presetID="1" presetClass="entr" fill="hold" nodeType="clickEffect">
                                  <p:stCondLst>
                                    <p:cond delay="0"/>
                                  </p:stCondLst>
                                  <p:childTnLst>
                                    <p:set>
                                      <p:cBhvr>
                                        <p:cTn id="266" dur="1" fill="hold">
                                          <p:stCondLst>
                                            <p:cond delay="0"/>
                                          </p:stCondLst>
                                        </p:cTn>
                                        <p:tgtEl>
                                          <p:spTgt spid="236"/>
                                        </p:tgtEl>
                                        <p:attrNameLst>
                                          <p:attrName>style.visibility</p:attrName>
                                        </p:attrNameLst>
                                      </p:cBhvr>
                                      <p:to>
                                        <p:strVal val="visible"/>
                                      </p:to>
                                    </p:set>
                                  </p:childTnLst>
                                </p:cTn>
                              </p:par>
                              <p:par>
                                <p:cTn id="267" presetID="1" presetClass="entr" fill="hold" nodeType="withEffect">
                                  <p:stCondLst>
                                    <p:cond delay="0"/>
                                  </p:stCondLst>
                                  <p:childTnLst>
                                    <p:set>
                                      <p:cBhvr>
                                        <p:cTn id="268" dur="1" fill="hold">
                                          <p:stCondLst>
                                            <p:cond delay="0"/>
                                          </p:stCondLst>
                                        </p:cTn>
                                        <p:tgtEl>
                                          <p:spTgt spid="237"/>
                                        </p:tgtEl>
                                        <p:attrNameLst>
                                          <p:attrName>style.visibility</p:attrName>
                                        </p:attrNameLst>
                                      </p:cBhvr>
                                      <p:to>
                                        <p:strVal val="visible"/>
                                      </p:to>
                                    </p:set>
                                  </p:childTnLst>
                                </p:cTn>
                              </p:par>
                              <p:par>
                                <p:cTn id="269" presetID="1" presetClass="entr" fill="hold" nodeType="withEffect">
                                  <p:stCondLst>
                                    <p:cond delay="0"/>
                                  </p:stCondLst>
                                  <p:childTnLst>
                                    <p:set>
                                      <p:cBhvr>
                                        <p:cTn id="270" dur="1" fill="hold">
                                          <p:stCondLst>
                                            <p:cond delay="0"/>
                                          </p:stCondLst>
                                        </p:cTn>
                                        <p:tgtEl>
                                          <p:spTgt spid="238"/>
                                        </p:tgtEl>
                                        <p:attrNameLst>
                                          <p:attrName>style.visibility</p:attrName>
                                        </p:attrNameLst>
                                      </p:cBhvr>
                                      <p:to>
                                        <p:strVal val="visible"/>
                                      </p:to>
                                    </p:set>
                                  </p:childTnLst>
                                </p:cTn>
                              </p:par>
                              <p:par>
                                <p:cTn id="271" presetID="1" presetClass="entr" fill="hold" nodeType="withEffect">
                                  <p:stCondLst>
                                    <p:cond delay="0"/>
                                  </p:stCondLst>
                                  <p:childTnLst>
                                    <p:set>
                                      <p:cBhvr>
                                        <p:cTn id="272" dur="1" fill="hold">
                                          <p:stCondLst>
                                            <p:cond delay="0"/>
                                          </p:stCondLst>
                                        </p:cTn>
                                        <p:tgtEl>
                                          <p:spTgt spid="239"/>
                                        </p:tgtEl>
                                        <p:attrNameLst>
                                          <p:attrName>style.visibility</p:attrName>
                                        </p:attrNameLst>
                                      </p:cBhvr>
                                      <p:to>
                                        <p:strVal val="visible"/>
                                      </p:to>
                                    </p:set>
                                  </p:childTnLst>
                                </p:cTn>
                              </p:par>
                              <p:par>
                                <p:cTn id="273" presetID="1" presetClass="entr" fill="hold" nodeType="withEffect">
                                  <p:stCondLst>
                                    <p:cond delay="0"/>
                                  </p:stCondLst>
                                  <p:childTnLst>
                                    <p:set>
                                      <p:cBhvr>
                                        <p:cTn id="274" dur="1" fill="hold">
                                          <p:stCondLst>
                                            <p:cond delay="0"/>
                                          </p:stCondLst>
                                        </p:cTn>
                                        <p:tgtEl>
                                          <p:spTgt spid="240"/>
                                        </p:tgtEl>
                                        <p:attrNameLst>
                                          <p:attrName>style.visibility</p:attrName>
                                        </p:attrNameLst>
                                      </p:cBhvr>
                                      <p:to>
                                        <p:strVal val="visible"/>
                                      </p:to>
                                    </p:set>
                                  </p:childTnLst>
                                </p:cTn>
                              </p:par>
                              <p:par>
                                <p:cTn id="275" presetID="1" presetClass="entr" fill="hold" nodeType="withEffect">
                                  <p:stCondLst>
                                    <p:cond delay="0"/>
                                  </p:stCondLst>
                                  <p:childTnLst>
                                    <p:set>
                                      <p:cBhvr>
                                        <p:cTn id="276" dur="1" fill="hold">
                                          <p:stCondLst>
                                            <p:cond delay="0"/>
                                          </p:stCondLst>
                                        </p:cTn>
                                        <p:tgtEl>
                                          <p:spTgt spid="24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44"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What we deliberately left out</a:t>
            </a:r>
            <a:endParaRPr lang="de-DE" sz="2400" b="0" u="none" strike="noStrike">
              <a:solidFill>
                <a:srgbClr val="FFFFFF"/>
              </a:solidFill>
              <a:effectLst/>
              <a:uFillTx/>
              <a:latin typeface="Arial"/>
            </a:endParaRPr>
          </a:p>
        </p:txBody>
      </p:sp>
      <p:sp>
        <p:nvSpPr>
          <p:cNvPr id="245" name="Shape 1"/>
          <p:cNvSpPr/>
          <p:nvPr/>
        </p:nvSpPr>
        <p:spPr>
          <a:xfrm>
            <a:off x="41148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6" name="Shape 2"/>
          <p:cNvSpPr/>
          <p:nvPr/>
        </p:nvSpPr>
        <p:spPr>
          <a:xfrm>
            <a:off x="411480" y="1280160"/>
            <a:ext cx="67680" cy="2554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7" name="Text 3"/>
          <p:cNvSpPr/>
          <p:nvPr/>
        </p:nvSpPr>
        <p:spPr>
          <a:xfrm>
            <a:off x="640080" y="1463040"/>
            <a:ext cx="543240" cy="451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48" name="Text 4"/>
          <p:cNvSpPr/>
          <p:nvPr/>
        </p:nvSpPr>
        <p:spPr>
          <a:xfrm>
            <a:off x="640080" y="2011680"/>
            <a:ext cx="228060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real-time mode</a:t>
            </a:r>
            <a:endParaRPr lang="de-DE" sz="1600" b="0" u="none" strike="noStrike">
              <a:solidFill>
                <a:srgbClr val="FFFFFF"/>
              </a:solidFill>
              <a:effectLst/>
              <a:uFillTx/>
              <a:latin typeface="Arial"/>
            </a:endParaRPr>
          </a:p>
        </p:txBody>
      </p:sp>
      <p:sp>
        <p:nvSpPr>
          <p:cNvPr id="249" name="Text 5"/>
          <p:cNvSpPr/>
          <p:nvPr/>
        </p:nvSpPr>
        <p:spPr>
          <a:xfrm>
            <a:off x="640080" y="2514600"/>
            <a:ext cx="2280600" cy="10918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Quality first, speed next</a:t>
            </a:r>
            <a:endParaRPr lang="de-DE" sz="1300" b="0" u="none" strike="noStrike">
              <a:solidFill>
                <a:srgbClr val="FFFFFF"/>
              </a:solidFill>
              <a:effectLst/>
              <a:uFillTx/>
              <a:latin typeface="Arial"/>
            </a:endParaRPr>
          </a:p>
        </p:txBody>
      </p:sp>
      <p:sp>
        <p:nvSpPr>
          <p:cNvPr id="250" name="Shape 6"/>
          <p:cNvSpPr/>
          <p:nvPr/>
        </p:nvSpPr>
        <p:spPr>
          <a:xfrm>
            <a:off x="324612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1" name="Shape 7"/>
          <p:cNvSpPr/>
          <p:nvPr/>
        </p:nvSpPr>
        <p:spPr>
          <a:xfrm>
            <a:off x="3246120" y="1280160"/>
            <a:ext cx="67680" cy="2554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2" name="Text 8"/>
          <p:cNvSpPr/>
          <p:nvPr/>
        </p:nvSpPr>
        <p:spPr>
          <a:xfrm>
            <a:off x="3474720" y="1463040"/>
            <a:ext cx="543240" cy="451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53" name="Text 9"/>
          <p:cNvSpPr/>
          <p:nvPr/>
        </p:nvSpPr>
        <p:spPr>
          <a:xfrm>
            <a:off x="3474720" y="2011680"/>
            <a:ext cx="228060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prompt iteration</a:t>
            </a:r>
            <a:endParaRPr lang="de-DE" sz="1600" b="0" u="none" strike="noStrike">
              <a:solidFill>
                <a:srgbClr val="FFFFFF"/>
              </a:solidFill>
              <a:effectLst/>
              <a:uFillTx/>
              <a:latin typeface="Arial"/>
            </a:endParaRPr>
          </a:p>
        </p:txBody>
      </p:sp>
      <p:sp>
        <p:nvSpPr>
          <p:cNvPr id="254" name="Text 10"/>
          <p:cNvSpPr/>
          <p:nvPr/>
        </p:nvSpPr>
        <p:spPr>
          <a:xfrm>
            <a:off x="3474720" y="2514600"/>
            <a:ext cx="2280600" cy="10918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Fair comparison, untapped potential</a:t>
            </a:r>
            <a:endParaRPr lang="de-DE" sz="1300" b="0" u="none" strike="noStrike">
              <a:solidFill>
                <a:srgbClr val="FFFFFF"/>
              </a:solidFill>
              <a:effectLst/>
              <a:uFillTx/>
              <a:latin typeface="Arial"/>
            </a:endParaRPr>
          </a:p>
        </p:txBody>
      </p:sp>
      <p:sp>
        <p:nvSpPr>
          <p:cNvPr id="255" name="Shape 11"/>
          <p:cNvSpPr/>
          <p:nvPr/>
        </p:nvSpPr>
        <p:spPr>
          <a:xfrm>
            <a:off x="6120000" y="1280160"/>
            <a:ext cx="2646360" cy="255492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6" name="Shape 12"/>
          <p:cNvSpPr/>
          <p:nvPr/>
        </p:nvSpPr>
        <p:spPr>
          <a:xfrm>
            <a:off x="6080760" y="1280160"/>
            <a:ext cx="67680" cy="2554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7" name="Text 13"/>
          <p:cNvSpPr/>
          <p:nvPr/>
        </p:nvSpPr>
        <p:spPr>
          <a:xfrm>
            <a:off x="6309360" y="1463040"/>
            <a:ext cx="543240" cy="451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de-DE" sz="1800" b="0" u="none" strike="noStrike">
              <a:solidFill>
                <a:srgbClr val="FFFFFF"/>
              </a:solidFill>
              <a:effectLst/>
              <a:uFillTx/>
              <a:latin typeface="Arial"/>
            </a:endParaRPr>
          </a:p>
        </p:txBody>
      </p:sp>
      <p:sp>
        <p:nvSpPr>
          <p:cNvPr id="258" name="Text 14"/>
          <p:cNvSpPr/>
          <p:nvPr/>
        </p:nvSpPr>
        <p:spPr>
          <a:xfrm>
            <a:off x="6309360" y="2011680"/>
            <a:ext cx="228060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German only</a:t>
            </a:r>
            <a:endParaRPr lang="de-DE" sz="1600" b="0" u="none" strike="noStrike">
              <a:solidFill>
                <a:srgbClr val="FFFFFF"/>
              </a:solidFill>
              <a:effectLst/>
              <a:uFillTx/>
              <a:latin typeface="Arial"/>
            </a:endParaRPr>
          </a:p>
        </p:txBody>
      </p:sp>
      <p:sp>
        <p:nvSpPr>
          <p:cNvPr id="259" name="Text 15"/>
          <p:cNvSpPr/>
          <p:nvPr/>
        </p:nvSpPr>
        <p:spPr>
          <a:xfrm>
            <a:off x="6309360" y="2514600"/>
            <a:ext cx="2280600" cy="1091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Generalization to other languages untested.</a:t>
            </a:r>
            <a:endParaRPr lang="de-DE" sz="1300" b="0" u="none" strike="noStrike">
              <a:solidFill>
                <a:srgbClr val="FFFFFF"/>
              </a:solidFill>
              <a:effectLst/>
              <a:uFillTx/>
              <a:latin typeface="Arial"/>
            </a:endParaRPr>
          </a:p>
        </p:txBody>
      </p:sp>
      <p:sp>
        <p:nvSpPr>
          <p:cNvPr id="260" name="Text 16"/>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61" name="Text 17"/>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15 / 19</a:t>
            </a:r>
            <a:endParaRPr lang="de-DE" sz="800" b="0" u="none" strike="noStrike">
              <a:solidFill>
                <a:srgbClr val="FFFFFF"/>
              </a:solidFill>
              <a:effectLst/>
              <a:uFillTx/>
              <a:latin typeface="Arial"/>
            </a:endParaRPr>
          </a:p>
        </p:txBody>
      </p:sp>
      <p:pic>
        <p:nvPicPr>
          <p:cNvPr id="262" name=""/>
          <p:cNvPicPr/>
          <p:nvPr/>
        </p:nvPicPr>
        <p:blipFill>
          <a:blip r:embed="rId1"/>
          <a:stretch/>
        </p:blipFill>
        <p:spPr>
          <a:xfrm>
            <a:off x="6342840" y="1585080"/>
            <a:ext cx="357480" cy="271800"/>
          </a:xfrm>
          <a:prstGeom prst="rect">
            <a:avLst/>
          </a:prstGeom>
          <a:noFill/>
          <a:ln w="0">
            <a:noFill/>
          </a:ln>
        </p:spPr>
      </p:pic>
    </p:spTree>
  </p:cSld>
  <mc:AlternateContent>
    <mc:Choice Requires="p14">
      <p:transition spd="slow" p14:dur="2000"/>
    </mc:Choice>
    <mc:Fallback>
      <p:transition spd="slow"/>
    </mc:Fallback>
  </mc:AlternateContent>
  <p:timing>
    <p:tnLst>
      <p:par>
        <p:cTn id="277" dur="indefinite" restart="never" nodeType="tmRoot">
          <p:childTnLst>
            <p:seq>
              <p:cTn id="278" dur="indefinite" nodeType="mainSeq">
                <p:childTnLst>
                  <p:par>
                    <p:cTn id="279" fill="hold">
                      <p:stCondLst>
                        <p:cond delay="indefinite"/>
                      </p:stCondLst>
                      <p:childTnLst>
                        <p:par>
                          <p:cTn id="280" fill="hold">
                            <p:stCondLst>
                              <p:cond delay="0"/>
                            </p:stCondLst>
                            <p:childTnLst>
                              <p:par>
                                <p:cTn id="281" presetID="1" presetClass="entr" fill="hold" nodeType="clickEffect">
                                  <p:stCondLst>
                                    <p:cond delay="0"/>
                                  </p:stCondLst>
                                  <p:childTnLst>
                                    <p:set>
                                      <p:cBhvr>
                                        <p:cTn id="282" dur="1" fill="hold">
                                          <p:stCondLst>
                                            <p:cond delay="0"/>
                                          </p:stCondLst>
                                        </p:cTn>
                                        <p:tgtEl>
                                          <p:spTgt spid="245"/>
                                        </p:tgtEl>
                                        <p:attrNameLst>
                                          <p:attrName>style.visibility</p:attrName>
                                        </p:attrNameLst>
                                      </p:cBhvr>
                                      <p:to>
                                        <p:strVal val="visible"/>
                                      </p:to>
                                    </p:set>
                                  </p:childTnLst>
                                </p:cTn>
                              </p:par>
                              <p:par>
                                <p:cTn id="283" presetID="1" presetClass="entr" fill="hold" nodeType="withEffect">
                                  <p:stCondLst>
                                    <p:cond delay="0"/>
                                  </p:stCondLst>
                                  <p:childTnLst>
                                    <p:set>
                                      <p:cBhvr>
                                        <p:cTn id="284" dur="1" fill="hold">
                                          <p:stCondLst>
                                            <p:cond delay="0"/>
                                          </p:stCondLst>
                                        </p:cTn>
                                        <p:tgtEl>
                                          <p:spTgt spid="246"/>
                                        </p:tgtEl>
                                        <p:attrNameLst>
                                          <p:attrName>style.visibility</p:attrName>
                                        </p:attrNameLst>
                                      </p:cBhvr>
                                      <p:to>
                                        <p:strVal val="visible"/>
                                      </p:to>
                                    </p:set>
                                  </p:childTnLst>
                                </p:cTn>
                              </p:par>
                              <p:par>
                                <p:cTn id="285" presetID="1" presetClass="entr" fill="hold" nodeType="withEffect">
                                  <p:stCondLst>
                                    <p:cond delay="0"/>
                                  </p:stCondLst>
                                  <p:childTnLst>
                                    <p:set>
                                      <p:cBhvr>
                                        <p:cTn id="286" dur="1" fill="hold">
                                          <p:stCondLst>
                                            <p:cond delay="0"/>
                                          </p:stCondLst>
                                        </p:cTn>
                                        <p:tgtEl>
                                          <p:spTgt spid="247"/>
                                        </p:tgtEl>
                                        <p:attrNameLst>
                                          <p:attrName>style.visibility</p:attrName>
                                        </p:attrNameLst>
                                      </p:cBhvr>
                                      <p:to>
                                        <p:strVal val="visible"/>
                                      </p:to>
                                    </p:set>
                                  </p:childTnLst>
                                </p:cTn>
                              </p:par>
                              <p:par>
                                <p:cTn id="287" presetID="1" presetClass="entr" fill="hold" nodeType="withEffect">
                                  <p:stCondLst>
                                    <p:cond delay="0"/>
                                  </p:stCondLst>
                                  <p:childTnLst>
                                    <p:set>
                                      <p:cBhvr>
                                        <p:cTn id="288" dur="1" fill="hold">
                                          <p:stCondLst>
                                            <p:cond delay="0"/>
                                          </p:stCondLst>
                                        </p:cTn>
                                        <p:tgtEl>
                                          <p:spTgt spid="248"/>
                                        </p:tgtEl>
                                        <p:attrNameLst>
                                          <p:attrName>style.visibility</p:attrName>
                                        </p:attrNameLst>
                                      </p:cBhvr>
                                      <p:to>
                                        <p:strVal val="visible"/>
                                      </p:to>
                                    </p:set>
                                  </p:childTnLst>
                                </p:cTn>
                              </p:par>
                              <p:par>
                                <p:cTn id="289" presetID="1" presetClass="entr" fill="hold" nodeType="withEffect">
                                  <p:stCondLst>
                                    <p:cond delay="0"/>
                                  </p:stCondLst>
                                  <p:childTnLst>
                                    <p:set>
                                      <p:cBhvr>
                                        <p:cTn id="290" dur="1" fill="hold">
                                          <p:stCondLst>
                                            <p:cond delay="0"/>
                                          </p:stCondLst>
                                        </p:cTn>
                                        <p:tgtEl>
                                          <p:spTgt spid="249"/>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fill="hold" nodeType="clickEffect">
                                  <p:stCondLst>
                                    <p:cond delay="0"/>
                                  </p:stCondLst>
                                  <p:childTnLst>
                                    <p:set>
                                      <p:cBhvr>
                                        <p:cTn id="294" dur="1" fill="hold">
                                          <p:stCondLst>
                                            <p:cond delay="0"/>
                                          </p:stCondLst>
                                        </p:cTn>
                                        <p:tgtEl>
                                          <p:spTgt spid="250"/>
                                        </p:tgtEl>
                                        <p:attrNameLst>
                                          <p:attrName>style.visibility</p:attrName>
                                        </p:attrNameLst>
                                      </p:cBhvr>
                                      <p:to>
                                        <p:strVal val="visible"/>
                                      </p:to>
                                    </p:set>
                                  </p:childTnLst>
                                </p:cTn>
                              </p:par>
                              <p:par>
                                <p:cTn id="295" presetID="1" presetClass="entr" fill="hold" nodeType="withEffect">
                                  <p:stCondLst>
                                    <p:cond delay="0"/>
                                  </p:stCondLst>
                                  <p:childTnLst>
                                    <p:set>
                                      <p:cBhvr>
                                        <p:cTn id="296" dur="1" fill="hold">
                                          <p:stCondLst>
                                            <p:cond delay="0"/>
                                          </p:stCondLst>
                                        </p:cTn>
                                        <p:tgtEl>
                                          <p:spTgt spid="251"/>
                                        </p:tgtEl>
                                        <p:attrNameLst>
                                          <p:attrName>style.visibility</p:attrName>
                                        </p:attrNameLst>
                                      </p:cBhvr>
                                      <p:to>
                                        <p:strVal val="visible"/>
                                      </p:to>
                                    </p:set>
                                  </p:childTnLst>
                                </p:cTn>
                              </p:par>
                              <p:par>
                                <p:cTn id="297" presetID="1" presetClass="entr" fill="hold" nodeType="withEffect">
                                  <p:stCondLst>
                                    <p:cond delay="0"/>
                                  </p:stCondLst>
                                  <p:childTnLst>
                                    <p:set>
                                      <p:cBhvr>
                                        <p:cTn id="298" dur="1" fill="hold">
                                          <p:stCondLst>
                                            <p:cond delay="0"/>
                                          </p:stCondLst>
                                        </p:cTn>
                                        <p:tgtEl>
                                          <p:spTgt spid="252"/>
                                        </p:tgtEl>
                                        <p:attrNameLst>
                                          <p:attrName>style.visibility</p:attrName>
                                        </p:attrNameLst>
                                      </p:cBhvr>
                                      <p:to>
                                        <p:strVal val="visible"/>
                                      </p:to>
                                    </p:set>
                                  </p:childTnLst>
                                </p:cTn>
                              </p:par>
                              <p:par>
                                <p:cTn id="299" presetID="1" presetClass="entr" fill="hold" nodeType="withEffect">
                                  <p:stCondLst>
                                    <p:cond delay="0"/>
                                  </p:stCondLst>
                                  <p:childTnLst>
                                    <p:set>
                                      <p:cBhvr>
                                        <p:cTn id="300" dur="1" fill="hold">
                                          <p:stCondLst>
                                            <p:cond delay="0"/>
                                          </p:stCondLst>
                                        </p:cTn>
                                        <p:tgtEl>
                                          <p:spTgt spid="253"/>
                                        </p:tgtEl>
                                        <p:attrNameLst>
                                          <p:attrName>style.visibility</p:attrName>
                                        </p:attrNameLst>
                                      </p:cBhvr>
                                      <p:to>
                                        <p:strVal val="visible"/>
                                      </p:to>
                                    </p:set>
                                  </p:childTnLst>
                                </p:cTn>
                              </p:par>
                              <p:par>
                                <p:cTn id="301" presetID="1" presetClass="entr" fill="hold" nodeType="withEffect">
                                  <p:stCondLst>
                                    <p:cond delay="0"/>
                                  </p:stCondLst>
                                  <p:childTnLst>
                                    <p:set>
                                      <p:cBhvr>
                                        <p:cTn id="302" dur="1" fill="hold">
                                          <p:stCondLst>
                                            <p:cond delay="0"/>
                                          </p:stCondLst>
                                        </p:cTn>
                                        <p:tgtEl>
                                          <p:spTgt spid="254"/>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fill="hold" nodeType="clickEffect">
                                  <p:stCondLst>
                                    <p:cond delay="0"/>
                                  </p:stCondLst>
                                  <p:childTnLst>
                                    <p:set>
                                      <p:cBhvr>
                                        <p:cTn id="306" dur="1" fill="hold">
                                          <p:stCondLst>
                                            <p:cond delay="0"/>
                                          </p:stCondLst>
                                        </p:cTn>
                                        <p:tgtEl>
                                          <p:spTgt spid="255"/>
                                        </p:tgtEl>
                                        <p:attrNameLst>
                                          <p:attrName>style.visibility</p:attrName>
                                        </p:attrNameLst>
                                      </p:cBhvr>
                                      <p:to>
                                        <p:strVal val="visible"/>
                                      </p:to>
                                    </p:set>
                                  </p:childTnLst>
                                </p:cTn>
                              </p:par>
                              <p:par>
                                <p:cTn id="307" presetID="1" presetClass="entr" fill="hold" nodeType="withEffect">
                                  <p:stCondLst>
                                    <p:cond delay="0"/>
                                  </p:stCondLst>
                                  <p:childTnLst>
                                    <p:set>
                                      <p:cBhvr>
                                        <p:cTn id="308" dur="1" fill="hold">
                                          <p:stCondLst>
                                            <p:cond delay="0"/>
                                          </p:stCondLst>
                                        </p:cTn>
                                        <p:tgtEl>
                                          <p:spTgt spid="256"/>
                                        </p:tgtEl>
                                        <p:attrNameLst>
                                          <p:attrName>style.visibility</p:attrName>
                                        </p:attrNameLst>
                                      </p:cBhvr>
                                      <p:to>
                                        <p:strVal val="visible"/>
                                      </p:to>
                                    </p:set>
                                  </p:childTnLst>
                                </p:cTn>
                              </p:par>
                              <p:par>
                                <p:cTn id="309" presetID="1" presetClass="entr" fill="hold" nodeType="withEffect">
                                  <p:stCondLst>
                                    <p:cond delay="0"/>
                                  </p:stCondLst>
                                  <p:childTnLst>
                                    <p:set>
                                      <p:cBhvr>
                                        <p:cTn id="310" dur="1" fill="hold">
                                          <p:stCondLst>
                                            <p:cond delay="0"/>
                                          </p:stCondLst>
                                        </p:cTn>
                                        <p:tgtEl>
                                          <p:spTgt spid="257"/>
                                        </p:tgtEl>
                                        <p:attrNameLst>
                                          <p:attrName>style.visibility</p:attrName>
                                        </p:attrNameLst>
                                      </p:cBhvr>
                                      <p:to>
                                        <p:strVal val="visible"/>
                                      </p:to>
                                    </p:set>
                                  </p:childTnLst>
                                </p:cTn>
                              </p:par>
                              <p:par>
                                <p:cTn id="311" presetID="1" presetClass="entr" fill="hold" nodeType="withEffect">
                                  <p:stCondLst>
                                    <p:cond delay="0"/>
                                  </p:stCondLst>
                                  <p:childTnLst>
                                    <p:set>
                                      <p:cBhvr>
                                        <p:cTn id="312" dur="1" fill="hold">
                                          <p:stCondLst>
                                            <p:cond delay="0"/>
                                          </p:stCondLst>
                                        </p:cTn>
                                        <p:tgtEl>
                                          <p:spTgt spid="258"/>
                                        </p:tgtEl>
                                        <p:attrNameLst>
                                          <p:attrName>style.visibility</p:attrName>
                                        </p:attrNameLst>
                                      </p:cBhvr>
                                      <p:to>
                                        <p:strVal val="visible"/>
                                      </p:to>
                                    </p:set>
                                  </p:childTnLst>
                                </p:cTn>
                              </p:par>
                              <p:par>
                                <p:cTn id="313" presetID="1" presetClass="entr" fill="hold" nodeType="withEffect">
                                  <p:stCondLst>
                                    <p:cond delay="0"/>
                                  </p:stCondLst>
                                  <p:childTnLst>
                                    <p:set>
                                      <p:cBhvr>
                                        <p:cTn id="314" dur="1" fill="hold">
                                          <p:stCondLst>
                                            <p:cond delay="0"/>
                                          </p:stCondLst>
                                        </p:cTn>
                                        <p:tgtEl>
                                          <p:spTgt spid="259"/>
                                        </p:tgtEl>
                                        <p:attrNameLst>
                                          <p:attrName>style.visibility</p:attrName>
                                        </p:attrNameLst>
                                      </p:cBhvr>
                                      <p:to>
                                        <p:strVal val="visible"/>
                                      </p:to>
                                    </p:set>
                                  </p:childTnLst>
                                </p:cTn>
                              </p:par>
                              <p:par>
                                <p:cTn id="315" presetID="1" presetClass="entr" fill="hold" nodeType="withEffect">
                                  <p:stCondLst>
                                    <p:cond delay="0"/>
                                  </p:stCondLst>
                                  <p:childTnLst>
                                    <p:set>
                                      <p:cBhvr>
                                        <p:cTn id="316"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63" name="Text 28"/>
          <p:cNvSpPr/>
          <p:nvPr/>
        </p:nvSpPr>
        <p:spPr>
          <a:xfrm>
            <a:off x="274320" y="201240"/>
            <a:ext cx="8593200" cy="5464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Two steps closer — one to go</a:t>
            </a:r>
            <a:endParaRPr lang="de-DE" sz="2400" b="0" u="none" strike="noStrike">
              <a:solidFill>
                <a:srgbClr val="FFFFFF"/>
              </a:solidFill>
              <a:effectLst/>
              <a:uFillTx/>
              <a:latin typeface="Arial"/>
            </a:endParaRPr>
          </a:p>
        </p:txBody>
      </p:sp>
      <p:sp>
        <p:nvSpPr>
          <p:cNvPr id="264" name="Shape 18"/>
          <p:cNvSpPr/>
          <p:nvPr/>
        </p:nvSpPr>
        <p:spPr>
          <a:xfrm>
            <a:off x="274320" y="1104120"/>
            <a:ext cx="2741040" cy="299808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65" name="Shape 23"/>
          <p:cNvSpPr/>
          <p:nvPr/>
        </p:nvSpPr>
        <p:spPr>
          <a:xfrm>
            <a:off x="274320" y="1104120"/>
            <a:ext cx="2741040" cy="61920"/>
          </a:xfrm>
          <a:prstGeom prst="rect">
            <a:avLst/>
          </a:prstGeom>
          <a:solidFill>
            <a:srgbClr val="3EAF46"/>
          </a:solidFill>
          <a:ln w="12700">
            <a:solidFill>
              <a:srgbClr val="3FAF46"/>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FFFFFF"/>
              </a:solidFill>
              <a:effectLst/>
              <a:uFillTx/>
              <a:latin typeface="Arial"/>
            </a:endParaRPr>
          </a:p>
        </p:txBody>
      </p:sp>
      <p:sp>
        <p:nvSpPr>
          <p:cNvPr id="266" name="Text 30"/>
          <p:cNvSpPr/>
          <p:nvPr/>
        </p:nvSpPr>
        <p:spPr>
          <a:xfrm>
            <a:off x="475560" y="1268640"/>
            <a:ext cx="2338560" cy="36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Fully on-premise</a:t>
            </a:r>
            <a:endParaRPr lang="de-DE" sz="1600" b="0" u="none" strike="noStrike">
              <a:solidFill>
                <a:srgbClr val="FFFFFF"/>
              </a:solidFill>
              <a:effectLst/>
              <a:uFillTx/>
              <a:latin typeface="Arial"/>
            </a:endParaRPr>
          </a:p>
        </p:txBody>
      </p:sp>
      <p:sp>
        <p:nvSpPr>
          <p:cNvPr id="267" name="Text 31"/>
          <p:cNvSpPr/>
          <p:nvPr/>
        </p:nvSpPr>
        <p:spPr>
          <a:xfrm>
            <a:off x="475560" y="167112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Llama 3.2 · Gemma · Sauerkraut</a:t>
            </a:r>
            <a:endParaRPr lang="de-DE" sz="1100" b="0" u="none" strike="noStrike">
              <a:solidFill>
                <a:srgbClr val="FFFFFF"/>
              </a:solidFill>
              <a:effectLst/>
              <a:uFillTx/>
              <a:latin typeface="Arial"/>
            </a:endParaRPr>
          </a:p>
        </p:txBody>
      </p:sp>
      <p:sp>
        <p:nvSpPr>
          <p:cNvPr id="268" name="Shape 26"/>
          <p:cNvSpPr/>
          <p:nvPr/>
        </p:nvSpPr>
        <p:spPr>
          <a:xfrm>
            <a:off x="47520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69" name="Text 32"/>
          <p:cNvSpPr/>
          <p:nvPr/>
        </p:nvSpPr>
        <p:spPr>
          <a:xfrm>
            <a:off x="475560" y="24026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70" name="Text 33"/>
          <p:cNvSpPr/>
          <p:nvPr/>
        </p:nvSpPr>
        <p:spPr>
          <a:xfrm>
            <a:off x="475560" y="261288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800" b="1" u="none" strike="noStrike">
                <a:solidFill>
                  <a:srgbClr val="3FAF46"/>
                </a:solidFill>
                <a:effectLst/>
                <a:uFillTx/>
                <a:latin typeface="DejaVu Serif"/>
                <a:ea typeface="DejaVu Serif"/>
              </a:rPr>
              <a:t>Low</a:t>
            </a:r>
            <a:endParaRPr lang="de-DE" sz="2800" b="0" u="none" strike="noStrike">
              <a:solidFill>
                <a:srgbClr val="FFFFFF"/>
              </a:solidFill>
              <a:effectLst/>
              <a:uFillTx/>
              <a:latin typeface="Arial"/>
            </a:endParaRPr>
          </a:p>
        </p:txBody>
      </p:sp>
      <p:sp>
        <p:nvSpPr>
          <p:cNvPr id="271" name="Text 57"/>
          <p:cNvSpPr/>
          <p:nvPr/>
        </p:nvSpPr>
        <p:spPr>
          <a:xfrm>
            <a:off x="475560" y="32918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72" name="Shape 29"/>
          <p:cNvSpPr/>
          <p:nvPr/>
        </p:nvSpPr>
        <p:spPr>
          <a:xfrm>
            <a:off x="475560" y="3520440"/>
            <a:ext cx="290520" cy="10764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3" name="Shape 32"/>
          <p:cNvSpPr/>
          <p:nvPr/>
        </p:nvSpPr>
        <p:spPr>
          <a:xfrm>
            <a:off x="841320" y="3520440"/>
            <a:ext cx="290520" cy="10764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4" name="Shape 37"/>
          <p:cNvSpPr/>
          <p:nvPr/>
        </p:nvSpPr>
        <p:spPr>
          <a:xfrm>
            <a:off x="1207080" y="3520440"/>
            <a:ext cx="290520" cy="10764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5" name="Text 60"/>
          <p:cNvSpPr/>
          <p:nvPr/>
        </p:nvSpPr>
        <p:spPr>
          <a:xfrm>
            <a:off x="475560" y="3675960"/>
            <a:ext cx="2338560" cy="226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3FAF46"/>
                </a:solidFill>
                <a:effectLst/>
                <a:uFillTx/>
                <a:latin typeface="DejaVu Serif"/>
                <a:ea typeface="Arial"/>
              </a:rPr>
              <a:t>Full</a:t>
            </a:r>
            <a:endParaRPr lang="de-DE" sz="1100" b="0" u="none" strike="noStrike">
              <a:solidFill>
                <a:srgbClr val="FFFFFF"/>
              </a:solidFill>
              <a:effectLst/>
              <a:uFillTx/>
              <a:latin typeface="Arial"/>
            </a:endParaRPr>
          </a:p>
        </p:txBody>
      </p:sp>
      <p:sp>
        <p:nvSpPr>
          <p:cNvPr id="276" name="Shape 38"/>
          <p:cNvSpPr/>
          <p:nvPr/>
        </p:nvSpPr>
        <p:spPr>
          <a:xfrm>
            <a:off x="3200400" y="1104120"/>
            <a:ext cx="2741040" cy="299808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7" name="Shape 39"/>
          <p:cNvSpPr/>
          <p:nvPr/>
        </p:nvSpPr>
        <p:spPr>
          <a:xfrm>
            <a:off x="3200400" y="1104120"/>
            <a:ext cx="2741040" cy="61920"/>
          </a:xfrm>
          <a:prstGeom prst="rect">
            <a:avLst/>
          </a:prstGeom>
          <a:solidFill>
            <a:srgbClr val="FFD428"/>
          </a:solidFill>
          <a:ln w="12700">
            <a:solidFill>
              <a:srgbClr val="FFD428"/>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000000"/>
              </a:solidFill>
              <a:effectLst/>
              <a:uFillTx/>
              <a:latin typeface="Arial"/>
            </a:endParaRPr>
          </a:p>
        </p:txBody>
      </p:sp>
      <p:sp>
        <p:nvSpPr>
          <p:cNvPr id="278" name="Text 65"/>
          <p:cNvSpPr/>
          <p:nvPr/>
        </p:nvSpPr>
        <p:spPr>
          <a:xfrm>
            <a:off x="3401640" y="1268640"/>
            <a:ext cx="2338560" cy="36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EU Cloud</a:t>
            </a:r>
            <a:endParaRPr lang="de-DE" sz="1600" b="0" u="none" strike="noStrike">
              <a:solidFill>
                <a:srgbClr val="FFFFFF"/>
              </a:solidFill>
              <a:effectLst/>
              <a:uFillTx/>
              <a:latin typeface="Arial"/>
            </a:endParaRPr>
          </a:p>
        </p:txBody>
      </p:sp>
      <p:sp>
        <p:nvSpPr>
          <p:cNvPr id="279" name="Text 68"/>
          <p:cNvSpPr/>
          <p:nvPr/>
        </p:nvSpPr>
        <p:spPr>
          <a:xfrm>
            <a:off x="3401640" y="167112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Assembly · Speechmatics · GPT-4o</a:t>
            </a:r>
            <a:endParaRPr lang="de-DE" sz="1100" b="0" u="none" strike="noStrike">
              <a:solidFill>
                <a:srgbClr val="FFFFFF"/>
              </a:solidFill>
              <a:effectLst/>
              <a:uFillTx/>
              <a:latin typeface="Arial"/>
            </a:endParaRPr>
          </a:p>
        </p:txBody>
      </p:sp>
      <p:sp>
        <p:nvSpPr>
          <p:cNvPr id="280" name="Shape 50"/>
          <p:cNvSpPr/>
          <p:nvPr/>
        </p:nvSpPr>
        <p:spPr>
          <a:xfrm>
            <a:off x="340128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81" name="Text 73"/>
          <p:cNvSpPr/>
          <p:nvPr/>
        </p:nvSpPr>
        <p:spPr>
          <a:xfrm>
            <a:off x="3401640" y="24026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82" name="Text 76"/>
          <p:cNvSpPr/>
          <p:nvPr/>
        </p:nvSpPr>
        <p:spPr>
          <a:xfrm>
            <a:off x="3401640" y="261288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D428"/>
                </a:solidFill>
                <a:effectLst/>
                <a:uFillTx/>
                <a:latin typeface="DejaVu Serif"/>
                <a:ea typeface="DejaVu Serif"/>
              </a:rPr>
              <a:t>Mid</a:t>
            </a:r>
            <a:endParaRPr lang="de-DE" sz="2800" b="0" u="none" strike="noStrike">
              <a:solidFill>
                <a:srgbClr val="FFFFFF"/>
              </a:solidFill>
              <a:effectLst/>
              <a:uFillTx/>
              <a:latin typeface="Arial"/>
            </a:endParaRPr>
          </a:p>
        </p:txBody>
      </p:sp>
      <p:sp>
        <p:nvSpPr>
          <p:cNvPr id="283" name="Text 77"/>
          <p:cNvSpPr/>
          <p:nvPr/>
        </p:nvSpPr>
        <p:spPr>
          <a:xfrm>
            <a:off x="3401640" y="32918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84" name="Shape 51"/>
          <p:cNvSpPr/>
          <p:nvPr/>
        </p:nvSpPr>
        <p:spPr>
          <a:xfrm>
            <a:off x="3401640" y="3520440"/>
            <a:ext cx="290520" cy="10764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5" name="Shape 52"/>
          <p:cNvSpPr/>
          <p:nvPr/>
        </p:nvSpPr>
        <p:spPr>
          <a:xfrm>
            <a:off x="3767400" y="3520440"/>
            <a:ext cx="290520" cy="10764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6" name="Shape 53"/>
          <p:cNvSpPr/>
          <p:nvPr/>
        </p:nvSpPr>
        <p:spPr>
          <a:xfrm>
            <a:off x="4133160" y="3520440"/>
            <a:ext cx="290520" cy="107640"/>
          </a:xfrm>
          <a:prstGeom prst="rect">
            <a:avLst/>
          </a:prstGeom>
          <a:solidFill>
            <a:srgbClr val="3A3D42"/>
          </a:solidFill>
          <a:ln w="1270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87" name="Text 78"/>
          <p:cNvSpPr/>
          <p:nvPr/>
        </p:nvSpPr>
        <p:spPr>
          <a:xfrm>
            <a:off x="3401640" y="3675960"/>
            <a:ext cx="2338560" cy="226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FD428"/>
                </a:solidFill>
                <a:effectLst/>
                <a:uFillTx/>
                <a:latin typeface="DejaVu Serif"/>
                <a:ea typeface="Arial"/>
              </a:rPr>
              <a:t>GDPR-compliant, third-party</a:t>
            </a:r>
            <a:endParaRPr lang="de-DE" sz="1100" b="0" u="none" strike="noStrike">
              <a:solidFill>
                <a:srgbClr val="FFFFFF"/>
              </a:solidFill>
              <a:effectLst/>
              <a:uFillTx/>
              <a:latin typeface="Arial"/>
            </a:endParaRPr>
          </a:p>
        </p:txBody>
      </p:sp>
      <p:sp>
        <p:nvSpPr>
          <p:cNvPr id="288" name="Shape 54"/>
          <p:cNvSpPr/>
          <p:nvPr/>
        </p:nvSpPr>
        <p:spPr>
          <a:xfrm>
            <a:off x="6126480" y="1104120"/>
            <a:ext cx="2741040" cy="2998080"/>
          </a:xfrm>
          <a:prstGeom prst="rect">
            <a:avLst/>
          </a:prstGeom>
          <a:solidFill>
            <a:srgbClr val="242424"/>
          </a:solidFill>
          <a:ln w="19050">
            <a:solidFill>
              <a:srgbClr val="E8E8E8"/>
            </a:solidFill>
            <a:prstDash val="dash"/>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89" name="Text 79"/>
          <p:cNvSpPr/>
          <p:nvPr/>
        </p:nvSpPr>
        <p:spPr>
          <a:xfrm>
            <a:off x="6327720" y="1268640"/>
            <a:ext cx="2338560" cy="36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Arial"/>
              </a:rPr>
              <a:t>Where we want </a:t>
            </a:r>
            <a:endParaRPr lang="de-DE" sz="1600" b="0" u="none" strike="noStrike">
              <a:solidFill>
                <a:srgbClr val="FFFFFF"/>
              </a:solidFill>
              <a:effectLst/>
              <a:uFillTx/>
              <a:latin typeface="Arial"/>
            </a:endParaRPr>
          </a:p>
          <a:p>
            <a:pPr defTabSz="914400">
              <a:lnSpc>
                <a:spcPct val="100000"/>
              </a:lnSpc>
              <a:tabLst>
                <a:tab pos="0" algn="l"/>
              </a:tabLst>
            </a:pPr>
            <a:r>
              <a:rPr lang="en-US" sz="1600" b="1" u="none" strike="noStrike">
                <a:solidFill>
                  <a:srgbClr val="E8E8E8"/>
                </a:solidFill>
                <a:effectLst/>
                <a:uFillTx/>
                <a:latin typeface="DejaVu Serif"/>
                <a:ea typeface="Arial"/>
              </a:rPr>
              <a:t>to be</a:t>
            </a:r>
            <a:endParaRPr lang="de-DE" sz="1600" b="0" u="none" strike="noStrike">
              <a:solidFill>
                <a:srgbClr val="FFFFFF"/>
              </a:solidFill>
              <a:effectLst/>
              <a:uFillTx/>
              <a:latin typeface="Arial"/>
            </a:endParaRPr>
          </a:p>
        </p:txBody>
      </p:sp>
      <p:sp>
        <p:nvSpPr>
          <p:cNvPr id="290" name="Text 80"/>
          <p:cNvSpPr/>
          <p:nvPr/>
        </p:nvSpPr>
        <p:spPr>
          <a:xfrm>
            <a:off x="6327720" y="167112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On-prem at scale</a:t>
            </a:r>
            <a:endParaRPr lang="de-DE" sz="1100" b="0" u="none" strike="noStrike">
              <a:solidFill>
                <a:srgbClr val="FFFFFF"/>
              </a:solidFill>
              <a:effectLst/>
              <a:uFillTx/>
              <a:latin typeface="Arial"/>
            </a:endParaRPr>
          </a:p>
        </p:txBody>
      </p:sp>
      <p:sp>
        <p:nvSpPr>
          <p:cNvPr id="291" name="Shape 55"/>
          <p:cNvSpPr/>
          <p:nvPr/>
        </p:nvSpPr>
        <p:spPr>
          <a:xfrm>
            <a:off x="632736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92" name="Text 81"/>
          <p:cNvSpPr/>
          <p:nvPr/>
        </p:nvSpPr>
        <p:spPr>
          <a:xfrm>
            <a:off x="6327720" y="24026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93" name="Text 82"/>
          <p:cNvSpPr/>
          <p:nvPr/>
        </p:nvSpPr>
        <p:spPr>
          <a:xfrm>
            <a:off x="6327720" y="2612880"/>
            <a:ext cx="2338560" cy="50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E8E8E8"/>
                </a:solidFill>
                <a:effectLst/>
                <a:uFillTx/>
                <a:latin typeface="DejaVu Serif"/>
                <a:ea typeface="DejaVu Serif"/>
              </a:rPr>
              <a:t>High</a:t>
            </a:r>
            <a:endParaRPr lang="de-DE" sz="2800" b="0" u="none" strike="noStrike">
              <a:solidFill>
                <a:srgbClr val="FFFFFF"/>
              </a:solidFill>
              <a:effectLst/>
              <a:uFillTx/>
              <a:latin typeface="Arial"/>
            </a:endParaRPr>
          </a:p>
        </p:txBody>
      </p:sp>
      <p:sp>
        <p:nvSpPr>
          <p:cNvPr id="294" name="Text 83"/>
          <p:cNvSpPr/>
          <p:nvPr/>
        </p:nvSpPr>
        <p:spPr>
          <a:xfrm>
            <a:off x="6327720" y="3291840"/>
            <a:ext cx="2338560" cy="199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95" name="Shape 56"/>
          <p:cNvSpPr/>
          <p:nvPr/>
        </p:nvSpPr>
        <p:spPr>
          <a:xfrm>
            <a:off x="6327720" y="3520440"/>
            <a:ext cx="290520" cy="10764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6" name="Shape 57"/>
          <p:cNvSpPr/>
          <p:nvPr/>
        </p:nvSpPr>
        <p:spPr>
          <a:xfrm>
            <a:off x="6693480" y="3520440"/>
            <a:ext cx="290520" cy="10764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7" name="Shape 58"/>
          <p:cNvSpPr/>
          <p:nvPr/>
        </p:nvSpPr>
        <p:spPr>
          <a:xfrm>
            <a:off x="7059240" y="3520440"/>
            <a:ext cx="290520" cy="10764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8" name="Text 84"/>
          <p:cNvSpPr/>
          <p:nvPr/>
        </p:nvSpPr>
        <p:spPr>
          <a:xfrm>
            <a:off x="6327720" y="3675960"/>
            <a:ext cx="2338560" cy="226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E8E8E8"/>
                </a:solidFill>
                <a:effectLst/>
                <a:uFillTx/>
                <a:latin typeface="DejaVu Serif"/>
                <a:ea typeface="Arial"/>
              </a:rPr>
              <a:t>Full</a:t>
            </a:r>
            <a:endParaRPr lang="de-DE" sz="1100" b="0" u="none" strike="noStrike">
              <a:solidFill>
                <a:srgbClr val="FFFFFF"/>
              </a:solidFill>
              <a:effectLst/>
              <a:uFillTx/>
              <a:latin typeface="Arial"/>
            </a:endParaRPr>
          </a:p>
        </p:txBody>
      </p:sp>
      <p:sp>
        <p:nvSpPr>
          <p:cNvPr id="299" name="Text 85"/>
          <p:cNvSpPr/>
          <p:nvPr/>
        </p:nvSpPr>
        <p:spPr>
          <a:xfrm>
            <a:off x="7772400" y="486504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16 / 19</a:t>
            </a:r>
            <a:endParaRPr lang="de-DE" sz="800" b="0" u="none" strike="noStrike">
              <a:solidFill>
                <a:srgbClr val="FFFFFF"/>
              </a:solidFill>
              <a:effectLst/>
              <a:uFillTx/>
              <a:latin typeface="Arial"/>
            </a:endParaRPr>
          </a:p>
        </p:txBody>
      </p:sp>
      <p:sp>
        <p:nvSpPr>
          <p:cNvPr id="300" name="Text 86"/>
          <p:cNvSpPr/>
          <p:nvPr/>
        </p:nvSpPr>
        <p:spPr>
          <a:xfrm>
            <a:off x="365760" y="486504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17" dur="indefinite" restart="never" nodeType="tmRoot">
          <p:childTnLst>
            <p:seq>
              <p:cTn id="318" dur="indefinite" nodeType="mainSeq">
                <p:childTnLst>
                  <p:par>
                    <p:cTn id="319" fill="hold">
                      <p:stCondLst>
                        <p:cond delay="indefinite"/>
                      </p:stCondLst>
                      <p:childTnLst>
                        <p:par>
                          <p:cTn id="320" fill="hold">
                            <p:stCondLst>
                              <p:cond delay="0"/>
                            </p:stCondLst>
                            <p:childTnLst>
                              <p:par>
                                <p:cTn id="321" presetID="1" presetClass="entr" fill="hold" nodeType="clickEffect">
                                  <p:stCondLst>
                                    <p:cond delay="0"/>
                                  </p:stCondLst>
                                  <p:childTnLst>
                                    <p:set>
                                      <p:cBhvr>
                                        <p:cTn id="322" dur="1" fill="hold">
                                          <p:stCondLst>
                                            <p:cond delay="0"/>
                                          </p:stCondLst>
                                        </p:cTn>
                                        <p:tgtEl>
                                          <p:spTgt spid="264"/>
                                        </p:tgtEl>
                                        <p:attrNameLst>
                                          <p:attrName>style.visibility</p:attrName>
                                        </p:attrNameLst>
                                      </p:cBhvr>
                                      <p:to>
                                        <p:strVal val="visible"/>
                                      </p:to>
                                    </p:set>
                                  </p:childTnLst>
                                </p:cTn>
                              </p:par>
                              <p:par>
                                <p:cTn id="323" presetID="1" presetClass="entr" fill="hold" nodeType="withEffect">
                                  <p:stCondLst>
                                    <p:cond delay="0"/>
                                  </p:stCondLst>
                                  <p:childTnLst>
                                    <p:set>
                                      <p:cBhvr>
                                        <p:cTn id="324" dur="1" fill="hold">
                                          <p:stCondLst>
                                            <p:cond delay="0"/>
                                          </p:stCondLst>
                                        </p:cTn>
                                        <p:tgtEl>
                                          <p:spTgt spid="265"/>
                                        </p:tgtEl>
                                        <p:attrNameLst>
                                          <p:attrName>style.visibility</p:attrName>
                                        </p:attrNameLst>
                                      </p:cBhvr>
                                      <p:to>
                                        <p:strVal val="visible"/>
                                      </p:to>
                                    </p:set>
                                  </p:childTnLst>
                                </p:cTn>
                              </p:par>
                              <p:par>
                                <p:cTn id="325" presetID="1" presetClass="entr" fill="hold" nodeType="withEffect">
                                  <p:stCondLst>
                                    <p:cond delay="0"/>
                                  </p:stCondLst>
                                  <p:childTnLst>
                                    <p:set>
                                      <p:cBhvr>
                                        <p:cTn id="326" dur="1" fill="hold">
                                          <p:stCondLst>
                                            <p:cond delay="0"/>
                                          </p:stCondLst>
                                        </p:cTn>
                                        <p:tgtEl>
                                          <p:spTgt spid="266"/>
                                        </p:tgtEl>
                                        <p:attrNameLst>
                                          <p:attrName>style.visibility</p:attrName>
                                        </p:attrNameLst>
                                      </p:cBhvr>
                                      <p:to>
                                        <p:strVal val="visible"/>
                                      </p:to>
                                    </p:set>
                                  </p:childTnLst>
                                </p:cTn>
                              </p:par>
                              <p:par>
                                <p:cTn id="327" presetID="1" presetClass="entr" fill="hold" nodeType="withEffect">
                                  <p:stCondLst>
                                    <p:cond delay="0"/>
                                  </p:stCondLst>
                                  <p:childTnLst>
                                    <p:set>
                                      <p:cBhvr>
                                        <p:cTn id="328" dur="1" fill="hold">
                                          <p:stCondLst>
                                            <p:cond delay="0"/>
                                          </p:stCondLst>
                                        </p:cTn>
                                        <p:tgtEl>
                                          <p:spTgt spid="267"/>
                                        </p:tgtEl>
                                        <p:attrNameLst>
                                          <p:attrName>style.visibility</p:attrName>
                                        </p:attrNameLst>
                                      </p:cBhvr>
                                      <p:to>
                                        <p:strVal val="visible"/>
                                      </p:to>
                                    </p:set>
                                  </p:childTnLst>
                                </p:cTn>
                              </p:par>
                              <p:par>
                                <p:cTn id="329" presetID="1" presetClass="entr" fill="hold" nodeType="withEffect">
                                  <p:stCondLst>
                                    <p:cond delay="0"/>
                                  </p:stCondLst>
                                  <p:childTnLst>
                                    <p:set>
                                      <p:cBhvr>
                                        <p:cTn id="330" dur="1" fill="hold">
                                          <p:stCondLst>
                                            <p:cond delay="0"/>
                                          </p:stCondLst>
                                        </p:cTn>
                                        <p:tgtEl>
                                          <p:spTgt spid="268"/>
                                        </p:tgtEl>
                                        <p:attrNameLst>
                                          <p:attrName>style.visibility</p:attrName>
                                        </p:attrNameLst>
                                      </p:cBhvr>
                                      <p:to>
                                        <p:strVal val="visible"/>
                                      </p:to>
                                    </p:set>
                                  </p:childTnLst>
                                </p:cTn>
                              </p:par>
                              <p:par>
                                <p:cTn id="331" presetID="1" presetClass="entr" fill="hold" nodeType="withEffect">
                                  <p:stCondLst>
                                    <p:cond delay="0"/>
                                  </p:stCondLst>
                                  <p:childTnLst>
                                    <p:set>
                                      <p:cBhvr>
                                        <p:cTn id="332" dur="1" fill="hold">
                                          <p:stCondLst>
                                            <p:cond delay="0"/>
                                          </p:stCondLst>
                                        </p:cTn>
                                        <p:tgtEl>
                                          <p:spTgt spid="269"/>
                                        </p:tgtEl>
                                        <p:attrNameLst>
                                          <p:attrName>style.visibility</p:attrName>
                                        </p:attrNameLst>
                                      </p:cBhvr>
                                      <p:to>
                                        <p:strVal val="visible"/>
                                      </p:to>
                                    </p:set>
                                  </p:childTnLst>
                                </p:cTn>
                              </p:par>
                              <p:par>
                                <p:cTn id="333" presetID="1" presetClass="entr" fill="hold" nodeType="withEffect">
                                  <p:stCondLst>
                                    <p:cond delay="0"/>
                                  </p:stCondLst>
                                  <p:childTnLst>
                                    <p:set>
                                      <p:cBhvr>
                                        <p:cTn id="334" dur="1" fill="hold">
                                          <p:stCondLst>
                                            <p:cond delay="0"/>
                                          </p:stCondLst>
                                        </p:cTn>
                                        <p:tgtEl>
                                          <p:spTgt spid="270"/>
                                        </p:tgtEl>
                                        <p:attrNameLst>
                                          <p:attrName>style.visibility</p:attrName>
                                        </p:attrNameLst>
                                      </p:cBhvr>
                                      <p:to>
                                        <p:strVal val="visible"/>
                                      </p:to>
                                    </p:set>
                                  </p:childTnLst>
                                </p:cTn>
                              </p:par>
                              <p:par>
                                <p:cTn id="335" presetID="1" presetClass="entr" fill="hold" nodeType="withEffect">
                                  <p:stCondLst>
                                    <p:cond delay="0"/>
                                  </p:stCondLst>
                                  <p:childTnLst>
                                    <p:set>
                                      <p:cBhvr>
                                        <p:cTn id="336" dur="1" fill="hold">
                                          <p:stCondLst>
                                            <p:cond delay="0"/>
                                          </p:stCondLst>
                                        </p:cTn>
                                        <p:tgtEl>
                                          <p:spTgt spid="271"/>
                                        </p:tgtEl>
                                        <p:attrNameLst>
                                          <p:attrName>style.visibility</p:attrName>
                                        </p:attrNameLst>
                                      </p:cBhvr>
                                      <p:to>
                                        <p:strVal val="visible"/>
                                      </p:to>
                                    </p:set>
                                  </p:childTnLst>
                                </p:cTn>
                              </p:par>
                              <p:par>
                                <p:cTn id="337" presetID="1" presetClass="entr" fill="hold" nodeType="withEffect">
                                  <p:stCondLst>
                                    <p:cond delay="0"/>
                                  </p:stCondLst>
                                  <p:childTnLst>
                                    <p:set>
                                      <p:cBhvr>
                                        <p:cTn id="338" dur="1" fill="hold">
                                          <p:stCondLst>
                                            <p:cond delay="0"/>
                                          </p:stCondLst>
                                        </p:cTn>
                                        <p:tgtEl>
                                          <p:spTgt spid="272"/>
                                        </p:tgtEl>
                                        <p:attrNameLst>
                                          <p:attrName>style.visibility</p:attrName>
                                        </p:attrNameLst>
                                      </p:cBhvr>
                                      <p:to>
                                        <p:strVal val="visible"/>
                                      </p:to>
                                    </p:set>
                                  </p:childTnLst>
                                </p:cTn>
                              </p:par>
                              <p:par>
                                <p:cTn id="339" presetID="1" presetClass="entr" fill="hold" nodeType="withEffect">
                                  <p:stCondLst>
                                    <p:cond delay="0"/>
                                  </p:stCondLst>
                                  <p:childTnLst>
                                    <p:set>
                                      <p:cBhvr>
                                        <p:cTn id="340" dur="1" fill="hold">
                                          <p:stCondLst>
                                            <p:cond delay="0"/>
                                          </p:stCondLst>
                                        </p:cTn>
                                        <p:tgtEl>
                                          <p:spTgt spid="273"/>
                                        </p:tgtEl>
                                        <p:attrNameLst>
                                          <p:attrName>style.visibility</p:attrName>
                                        </p:attrNameLst>
                                      </p:cBhvr>
                                      <p:to>
                                        <p:strVal val="visible"/>
                                      </p:to>
                                    </p:set>
                                  </p:childTnLst>
                                </p:cTn>
                              </p:par>
                              <p:par>
                                <p:cTn id="341" presetID="1" presetClass="entr" fill="hold" nodeType="withEffect">
                                  <p:stCondLst>
                                    <p:cond delay="0"/>
                                  </p:stCondLst>
                                  <p:childTnLst>
                                    <p:set>
                                      <p:cBhvr>
                                        <p:cTn id="342" dur="1" fill="hold">
                                          <p:stCondLst>
                                            <p:cond delay="0"/>
                                          </p:stCondLst>
                                        </p:cTn>
                                        <p:tgtEl>
                                          <p:spTgt spid="274"/>
                                        </p:tgtEl>
                                        <p:attrNameLst>
                                          <p:attrName>style.visibility</p:attrName>
                                        </p:attrNameLst>
                                      </p:cBhvr>
                                      <p:to>
                                        <p:strVal val="visible"/>
                                      </p:to>
                                    </p:set>
                                  </p:childTnLst>
                                </p:cTn>
                              </p:par>
                              <p:par>
                                <p:cTn id="343" presetID="1" presetClass="entr" fill="hold" nodeType="withEffect">
                                  <p:stCondLst>
                                    <p:cond delay="0"/>
                                  </p:stCondLst>
                                  <p:childTnLst>
                                    <p:set>
                                      <p:cBhvr>
                                        <p:cTn id="344" dur="1" fill="hold">
                                          <p:stCondLst>
                                            <p:cond delay="0"/>
                                          </p:stCondLst>
                                        </p:cTn>
                                        <p:tgtEl>
                                          <p:spTgt spid="275"/>
                                        </p:tgtEl>
                                        <p:attrNameLst>
                                          <p:attrName>style.visibility</p:attrName>
                                        </p:attrNameLst>
                                      </p:cBhvr>
                                      <p:to>
                                        <p:strVal val="visible"/>
                                      </p:to>
                                    </p:set>
                                  </p:childTnLst>
                                </p:cTn>
                              </p:par>
                            </p:childTnLst>
                          </p:cTn>
                        </p:par>
                      </p:childTnLst>
                    </p:cTn>
                  </p:par>
                  <p:par>
                    <p:cTn id="345" fill="hold">
                      <p:stCondLst>
                        <p:cond delay="indefinite"/>
                      </p:stCondLst>
                      <p:childTnLst>
                        <p:par>
                          <p:cTn id="346" fill="hold">
                            <p:stCondLst>
                              <p:cond delay="0"/>
                            </p:stCondLst>
                            <p:childTnLst>
                              <p:par>
                                <p:cTn id="347" presetID="1" presetClass="entr" fill="hold" nodeType="clickEffect">
                                  <p:stCondLst>
                                    <p:cond delay="0"/>
                                  </p:stCondLst>
                                  <p:childTnLst>
                                    <p:set>
                                      <p:cBhvr>
                                        <p:cTn id="348" dur="1" fill="hold">
                                          <p:stCondLst>
                                            <p:cond delay="0"/>
                                          </p:stCondLst>
                                        </p:cTn>
                                        <p:tgtEl>
                                          <p:spTgt spid="276"/>
                                        </p:tgtEl>
                                        <p:attrNameLst>
                                          <p:attrName>style.visibility</p:attrName>
                                        </p:attrNameLst>
                                      </p:cBhvr>
                                      <p:to>
                                        <p:strVal val="visible"/>
                                      </p:to>
                                    </p:set>
                                  </p:childTnLst>
                                </p:cTn>
                              </p:par>
                              <p:par>
                                <p:cTn id="349" presetID="1" presetClass="entr" fill="hold" nodeType="withEffect">
                                  <p:stCondLst>
                                    <p:cond delay="0"/>
                                  </p:stCondLst>
                                  <p:childTnLst>
                                    <p:set>
                                      <p:cBhvr>
                                        <p:cTn id="350" dur="1" fill="hold">
                                          <p:stCondLst>
                                            <p:cond delay="0"/>
                                          </p:stCondLst>
                                        </p:cTn>
                                        <p:tgtEl>
                                          <p:spTgt spid="277"/>
                                        </p:tgtEl>
                                        <p:attrNameLst>
                                          <p:attrName>style.visibility</p:attrName>
                                        </p:attrNameLst>
                                      </p:cBhvr>
                                      <p:to>
                                        <p:strVal val="visible"/>
                                      </p:to>
                                    </p:set>
                                  </p:childTnLst>
                                </p:cTn>
                              </p:par>
                              <p:par>
                                <p:cTn id="351" presetID="1" presetClass="entr" fill="hold" nodeType="withEffect">
                                  <p:stCondLst>
                                    <p:cond delay="0"/>
                                  </p:stCondLst>
                                  <p:childTnLst>
                                    <p:set>
                                      <p:cBhvr>
                                        <p:cTn id="352" dur="1" fill="hold">
                                          <p:stCondLst>
                                            <p:cond delay="0"/>
                                          </p:stCondLst>
                                        </p:cTn>
                                        <p:tgtEl>
                                          <p:spTgt spid="278"/>
                                        </p:tgtEl>
                                        <p:attrNameLst>
                                          <p:attrName>style.visibility</p:attrName>
                                        </p:attrNameLst>
                                      </p:cBhvr>
                                      <p:to>
                                        <p:strVal val="visible"/>
                                      </p:to>
                                    </p:set>
                                  </p:childTnLst>
                                </p:cTn>
                              </p:par>
                              <p:par>
                                <p:cTn id="353" presetID="1" presetClass="entr" fill="hold" nodeType="withEffect">
                                  <p:stCondLst>
                                    <p:cond delay="0"/>
                                  </p:stCondLst>
                                  <p:childTnLst>
                                    <p:set>
                                      <p:cBhvr>
                                        <p:cTn id="354" dur="1" fill="hold">
                                          <p:stCondLst>
                                            <p:cond delay="0"/>
                                          </p:stCondLst>
                                        </p:cTn>
                                        <p:tgtEl>
                                          <p:spTgt spid="279"/>
                                        </p:tgtEl>
                                        <p:attrNameLst>
                                          <p:attrName>style.visibility</p:attrName>
                                        </p:attrNameLst>
                                      </p:cBhvr>
                                      <p:to>
                                        <p:strVal val="visible"/>
                                      </p:to>
                                    </p:set>
                                  </p:childTnLst>
                                </p:cTn>
                              </p:par>
                              <p:par>
                                <p:cTn id="355" presetID="1" presetClass="entr" fill="hold" nodeType="withEffect">
                                  <p:stCondLst>
                                    <p:cond delay="0"/>
                                  </p:stCondLst>
                                  <p:childTnLst>
                                    <p:set>
                                      <p:cBhvr>
                                        <p:cTn id="356" dur="1" fill="hold">
                                          <p:stCondLst>
                                            <p:cond delay="0"/>
                                          </p:stCondLst>
                                        </p:cTn>
                                        <p:tgtEl>
                                          <p:spTgt spid="280"/>
                                        </p:tgtEl>
                                        <p:attrNameLst>
                                          <p:attrName>style.visibility</p:attrName>
                                        </p:attrNameLst>
                                      </p:cBhvr>
                                      <p:to>
                                        <p:strVal val="visible"/>
                                      </p:to>
                                    </p:set>
                                  </p:childTnLst>
                                </p:cTn>
                              </p:par>
                              <p:par>
                                <p:cTn id="357" presetID="1" presetClass="entr" fill="hold" nodeType="withEffect">
                                  <p:stCondLst>
                                    <p:cond delay="0"/>
                                  </p:stCondLst>
                                  <p:childTnLst>
                                    <p:set>
                                      <p:cBhvr>
                                        <p:cTn id="358" dur="1" fill="hold">
                                          <p:stCondLst>
                                            <p:cond delay="0"/>
                                          </p:stCondLst>
                                        </p:cTn>
                                        <p:tgtEl>
                                          <p:spTgt spid="281"/>
                                        </p:tgtEl>
                                        <p:attrNameLst>
                                          <p:attrName>style.visibility</p:attrName>
                                        </p:attrNameLst>
                                      </p:cBhvr>
                                      <p:to>
                                        <p:strVal val="visible"/>
                                      </p:to>
                                    </p:set>
                                  </p:childTnLst>
                                </p:cTn>
                              </p:par>
                              <p:par>
                                <p:cTn id="359" presetID="1" presetClass="entr" fill="hold" nodeType="withEffect">
                                  <p:stCondLst>
                                    <p:cond delay="0"/>
                                  </p:stCondLst>
                                  <p:childTnLst>
                                    <p:set>
                                      <p:cBhvr>
                                        <p:cTn id="360" dur="1" fill="hold">
                                          <p:stCondLst>
                                            <p:cond delay="0"/>
                                          </p:stCondLst>
                                        </p:cTn>
                                        <p:tgtEl>
                                          <p:spTgt spid="282"/>
                                        </p:tgtEl>
                                        <p:attrNameLst>
                                          <p:attrName>style.visibility</p:attrName>
                                        </p:attrNameLst>
                                      </p:cBhvr>
                                      <p:to>
                                        <p:strVal val="visible"/>
                                      </p:to>
                                    </p:set>
                                  </p:childTnLst>
                                </p:cTn>
                              </p:par>
                              <p:par>
                                <p:cTn id="361" presetID="1" presetClass="entr" fill="hold" nodeType="withEffect">
                                  <p:stCondLst>
                                    <p:cond delay="0"/>
                                  </p:stCondLst>
                                  <p:childTnLst>
                                    <p:set>
                                      <p:cBhvr>
                                        <p:cTn id="362" dur="1" fill="hold">
                                          <p:stCondLst>
                                            <p:cond delay="0"/>
                                          </p:stCondLst>
                                        </p:cTn>
                                        <p:tgtEl>
                                          <p:spTgt spid="283"/>
                                        </p:tgtEl>
                                        <p:attrNameLst>
                                          <p:attrName>style.visibility</p:attrName>
                                        </p:attrNameLst>
                                      </p:cBhvr>
                                      <p:to>
                                        <p:strVal val="visible"/>
                                      </p:to>
                                    </p:set>
                                  </p:childTnLst>
                                </p:cTn>
                              </p:par>
                              <p:par>
                                <p:cTn id="363" presetID="1" presetClass="entr" fill="hold" nodeType="withEffect">
                                  <p:stCondLst>
                                    <p:cond delay="0"/>
                                  </p:stCondLst>
                                  <p:childTnLst>
                                    <p:set>
                                      <p:cBhvr>
                                        <p:cTn id="364" dur="1" fill="hold">
                                          <p:stCondLst>
                                            <p:cond delay="0"/>
                                          </p:stCondLst>
                                        </p:cTn>
                                        <p:tgtEl>
                                          <p:spTgt spid="284"/>
                                        </p:tgtEl>
                                        <p:attrNameLst>
                                          <p:attrName>style.visibility</p:attrName>
                                        </p:attrNameLst>
                                      </p:cBhvr>
                                      <p:to>
                                        <p:strVal val="visible"/>
                                      </p:to>
                                    </p:set>
                                  </p:childTnLst>
                                </p:cTn>
                              </p:par>
                              <p:par>
                                <p:cTn id="365" presetID="1" presetClass="entr" fill="hold" nodeType="withEffect">
                                  <p:stCondLst>
                                    <p:cond delay="0"/>
                                  </p:stCondLst>
                                  <p:childTnLst>
                                    <p:set>
                                      <p:cBhvr>
                                        <p:cTn id="366" dur="1" fill="hold">
                                          <p:stCondLst>
                                            <p:cond delay="0"/>
                                          </p:stCondLst>
                                        </p:cTn>
                                        <p:tgtEl>
                                          <p:spTgt spid="285"/>
                                        </p:tgtEl>
                                        <p:attrNameLst>
                                          <p:attrName>style.visibility</p:attrName>
                                        </p:attrNameLst>
                                      </p:cBhvr>
                                      <p:to>
                                        <p:strVal val="visible"/>
                                      </p:to>
                                    </p:set>
                                  </p:childTnLst>
                                </p:cTn>
                              </p:par>
                              <p:par>
                                <p:cTn id="367" presetID="1" presetClass="entr" fill="hold" nodeType="withEffect">
                                  <p:stCondLst>
                                    <p:cond delay="0"/>
                                  </p:stCondLst>
                                  <p:childTnLst>
                                    <p:set>
                                      <p:cBhvr>
                                        <p:cTn id="368" dur="1" fill="hold">
                                          <p:stCondLst>
                                            <p:cond delay="0"/>
                                          </p:stCondLst>
                                        </p:cTn>
                                        <p:tgtEl>
                                          <p:spTgt spid="286"/>
                                        </p:tgtEl>
                                        <p:attrNameLst>
                                          <p:attrName>style.visibility</p:attrName>
                                        </p:attrNameLst>
                                      </p:cBhvr>
                                      <p:to>
                                        <p:strVal val="visible"/>
                                      </p:to>
                                    </p:set>
                                  </p:childTnLst>
                                </p:cTn>
                              </p:par>
                              <p:par>
                                <p:cTn id="369" presetID="1" presetClass="entr" fill="hold" nodeType="withEffect">
                                  <p:stCondLst>
                                    <p:cond delay="0"/>
                                  </p:stCondLst>
                                  <p:childTnLst>
                                    <p:set>
                                      <p:cBhvr>
                                        <p:cTn id="370" dur="1" fill="hold">
                                          <p:stCondLst>
                                            <p:cond delay="0"/>
                                          </p:stCondLst>
                                        </p:cTn>
                                        <p:tgtEl>
                                          <p:spTgt spid="287"/>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fill="hold" nodeType="clickEffect">
                                  <p:stCondLst>
                                    <p:cond delay="0"/>
                                  </p:stCondLst>
                                  <p:childTnLst>
                                    <p:set>
                                      <p:cBhvr>
                                        <p:cTn id="374" dur="1" fill="hold">
                                          <p:stCondLst>
                                            <p:cond delay="0"/>
                                          </p:stCondLst>
                                        </p:cTn>
                                        <p:tgtEl>
                                          <p:spTgt spid="288"/>
                                        </p:tgtEl>
                                        <p:attrNameLst>
                                          <p:attrName>style.visibility</p:attrName>
                                        </p:attrNameLst>
                                      </p:cBhvr>
                                      <p:to>
                                        <p:strVal val="visible"/>
                                      </p:to>
                                    </p:set>
                                  </p:childTnLst>
                                </p:cTn>
                              </p:par>
                              <p:par>
                                <p:cTn id="375" presetID="1" presetClass="entr" fill="hold" nodeType="withEffect">
                                  <p:stCondLst>
                                    <p:cond delay="0"/>
                                  </p:stCondLst>
                                  <p:childTnLst>
                                    <p:set>
                                      <p:cBhvr>
                                        <p:cTn id="376" dur="1" fill="hold">
                                          <p:stCondLst>
                                            <p:cond delay="0"/>
                                          </p:stCondLst>
                                        </p:cTn>
                                        <p:tgtEl>
                                          <p:spTgt spid="289"/>
                                        </p:tgtEl>
                                        <p:attrNameLst>
                                          <p:attrName>style.visibility</p:attrName>
                                        </p:attrNameLst>
                                      </p:cBhvr>
                                      <p:to>
                                        <p:strVal val="visible"/>
                                      </p:to>
                                    </p:set>
                                  </p:childTnLst>
                                </p:cTn>
                              </p:par>
                              <p:par>
                                <p:cTn id="377" presetID="1" presetClass="entr" fill="hold" nodeType="withEffect">
                                  <p:stCondLst>
                                    <p:cond delay="0"/>
                                  </p:stCondLst>
                                  <p:childTnLst>
                                    <p:set>
                                      <p:cBhvr>
                                        <p:cTn id="378" dur="1" fill="hold">
                                          <p:stCondLst>
                                            <p:cond delay="0"/>
                                          </p:stCondLst>
                                        </p:cTn>
                                        <p:tgtEl>
                                          <p:spTgt spid="290"/>
                                        </p:tgtEl>
                                        <p:attrNameLst>
                                          <p:attrName>style.visibility</p:attrName>
                                        </p:attrNameLst>
                                      </p:cBhvr>
                                      <p:to>
                                        <p:strVal val="visible"/>
                                      </p:to>
                                    </p:set>
                                  </p:childTnLst>
                                </p:cTn>
                              </p:par>
                              <p:par>
                                <p:cTn id="379" presetID="1" presetClass="entr" fill="hold" nodeType="withEffect">
                                  <p:stCondLst>
                                    <p:cond delay="0"/>
                                  </p:stCondLst>
                                  <p:childTnLst>
                                    <p:set>
                                      <p:cBhvr>
                                        <p:cTn id="380" dur="1" fill="hold">
                                          <p:stCondLst>
                                            <p:cond delay="0"/>
                                          </p:stCondLst>
                                        </p:cTn>
                                        <p:tgtEl>
                                          <p:spTgt spid="291"/>
                                        </p:tgtEl>
                                        <p:attrNameLst>
                                          <p:attrName>style.visibility</p:attrName>
                                        </p:attrNameLst>
                                      </p:cBhvr>
                                      <p:to>
                                        <p:strVal val="visible"/>
                                      </p:to>
                                    </p:set>
                                  </p:childTnLst>
                                </p:cTn>
                              </p:par>
                              <p:par>
                                <p:cTn id="381" presetID="1" presetClass="entr" fill="hold" nodeType="withEffect">
                                  <p:stCondLst>
                                    <p:cond delay="0"/>
                                  </p:stCondLst>
                                  <p:childTnLst>
                                    <p:set>
                                      <p:cBhvr>
                                        <p:cTn id="382" dur="1" fill="hold">
                                          <p:stCondLst>
                                            <p:cond delay="0"/>
                                          </p:stCondLst>
                                        </p:cTn>
                                        <p:tgtEl>
                                          <p:spTgt spid="292"/>
                                        </p:tgtEl>
                                        <p:attrNameLst>
                                          <p:attrName>style.visibility</p:attrName>
                                        </p:attrNameLst>
                                      </p:cBhvr>
                                      <p:to>
                                        <p:strVal val="visible"/>
                                      </p:to>
                                    </p:set>
                                  </p:childTnLst>
                                </p:cTn>
                              </p:par>
                              <p:par>
                                <p:cTn id="383" presetID="1" presetClass="entr" fill="hold" nodeType="withEffect">
                                  <p:stCondLst>
                                    <p:cond delay="0"/>
                                  </p:stCondLst>
                                  <p:childTnLst>
                                    <p:set>
                                      <p:cBhvr>
                                        <p:cTn id="384" dur="1" fill="hold">
                                          <p:stCondLst>
                                            <p:cond delay="0"/>
                                          </p:stCondLst>
                                        </p:cTn>
                                        <p:tgtEl>
                                          <p:spTgt spid="293"/>
                                        </p:tgtEl>
                                        <p:attrNameLst>
                                          <p:attrName>style.visibility</p:attrName>
                                        </p:attrNameLst>
                                      </p:cBhvr>
                                      <p:to>
                                        <p:strVal val="visible"/>
                                      </p:to>
                                    </p:set>
                                  </p:childTnLst>
                                </p:cTn>
                              </p:par>
                              <p:par>
                                <p:cTn id="385" presetID="1" presetClass="entr" fill="hold" nodeType="withEffect">
                                  <p:stCondLst>
                                    <p:cond delay="0"/>
                                  </p:stCondLst>
                                  <p:childTnLst>
                                    <p:set>
                                      <p:cBhvr>
                                        <p:cTn id="386" dur="1" fill="hold">
                                          <p:stCondLst>
                                            <p:cond delay="0"/>
                                          </p:stCondLst>
                                        </p:cTn>
                                        <p:tgtEl>
                                          <p:spTgt spid="294"/>
                                        </p:tgtEl>
                                        <p:attrNameLst>
                                          <p:attrName>style.visibility</p:attrName>
                                        </p:attrNameLst>
                                      </p:cBhvr>
                                      <p:to>
                                        <p:strVal val="visible"/>
                                      </p:to>
                                    </p:set>
                                  </p:childTnLst>
                                </p:cTn>
                              </p:par>
                              <p:par>
                                <p:cTn id="387" presetID="1" presetClass="entr" fill="hold" nodeType="withEffect">
                                  <p:stCondLst>
                                    <p:cond delay="0"/>
                                  </p:stCondLst>
                                  <p:childTnLst>
                                    <p:set>
                                      <p:cBhvr>
                                        <p:cTn id="388" dur="1" fill="hold">
                                          <p:stCondLst>
                                            <p:cond delay="0"/>
                                          </p:stCondLst>
                                        </p:cTn>
                                        <p:tgtEl>
                                          <p:spTgt spid="295"/>
                                        </p:tgtEl>
                                        <p:attrNameLst>
                                          <p:attrName>style.visibility</p:attrName>
                                        </p:attrNameLst>
                                      </p:cBhvr>
                                      <p:to>
                                        <p:strVal val="visible"/>
                                      </p:to>
                                    </p:set>
                                  </p:childTnLst>
                                </p:cTn>
                              </p:par>
                              <p:par>
                                <p:cTn id="389" presetID="1" presetClass="entr" fill="hold" nodeType="withEffect">
                                  <p:stCondLst>
                                    <p:cond delay="0"/>
                                  </p:stCondLst>
                                  <p:childTnLst>
                                    <p:set>
                                      <p:cBhvr>
                                        <p:cTn id="390" dur="1" fill="hold">
                                          <p:stCondLst>
                                            <p:cond delay="0"/>
                                          </p:stCondLst>
                                        </p:cTn>
                                        <p:tgtEl>
                                          <p:spTgt spid="296"/>
                                        </p:tgtEl>
                                        <p:attrNameLst>
                                          <p:attrName>style.visibility</p:attrName>
                                        </p:attrNameLst>
                                      </p:cBhvr>
                                      <p:to>
                                        <p:strVal val="visible"/>
                                      </p:to>
                                    </p:set>
                                  </p:childTnLst>
                                </p:cTn>
                              </p:par>
                              <p:par>
                                <p:cTn id="391" presetID="1" presetClass="entr" fill="hold" nodeType="withEffect">
                                  <p:stCondLst>
                                    <p:cond delay="0"/>
                                  </p:stCondLst>
                                  <p:childTnLst>
                                    <p:set>
                                      <p:cBhvr>
                                        <p:cTn id="392" dur="1" fill="hold">
                                          <p:stCondLst>
                                            <p:cond delay="0"/>
                                          </p:stCondLst>
                                        </p:cTn>
                                        <p:tgtEl>
                                          <p:spTgt spid="297"/>
                                        </p:tgtEl>
                                        <p:attrNameLst>
                                          <p:attrName>style.visibility</p:attrName>
                                        </p:attrNameLst>
                                      </p:cBhvr>
                                      <p:to>
                                        <p:strVal val="visible"/>
                                      </p:to>
                                    </p:set>
                                  </p:childTnLst>
                                </p:cTn>
                              </p:par>
                              <p:par>
                                <p:cTn id="393" presetID="1" presetClass="entr" fill="hold" nodeType="withEffect">
                                  <p:stCondLst>
                                    <p:cond delay="0"/>
                                  </p:stCondLst>
                                  <p:childTnLst>
                                    <p:set>
                                      <p:cBhvr>
                                        <p:cTn id="394" dur="1" fill="hold">
                                          <p:stCondLst>
                                            <p:cond delay="0"/>
                                          </p:stCondLst>
                                        </p:cTn>
                                        <p:tgtEl>
                                          <p:spTgt spid="29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01"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concrete next steps</a:t>
            </a:r>
            <a:endParaRPr lang="de-DE" sz="2400" b="0" u="none" strike="noStrike">
              <a:solidFill>
                <a:srgbClr val="FFFFFF"/>
              </a:solidFill>
              <a:effectLst/>
              <a:uFillTx/>
              <a:latin typeface="Arial"/>
            </a:endParaRPr>
          </a:p>
        </p:txBody>
      </p:sp>
      <p:sp>
        <p:nvSpPr>
          <p:cNvPr id="302" name="Shape 1"/>
          <p:cNvSpPr/>
          <p:nvPr/>
        </p:nvSpPr>
        <p:spPr>
          <a:xfrm>
            <a:off x="457200" y="1188720"/>
            <a:ext cx="817560" cy="90900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3" name="Text 2"/>
          <p:cNvSpPr/>
          <p:nvPr/>
        </p:nvSpPr>
        <p:spPr>
          <a:xfrm>
            <a:off x="457200" y="1188720"/>
            <a:ext cx="81756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01</a:t>
            </a:r>
            <a:endParaRPr lang="de-DE" sz="2800" b="0" u="none" strike="noStrike">
              <a:solidFill>
                <a:srgbClr val="FFFFFF"/>
              </a:solidFill>
              <a:effectLst/>
              <a:uFillTx/>
              <a:latin typeface="Arial"/>
            </a:endParaRPr>
          </a:p>
        </p:txBody>
      </p:sp>
      <p:sp>
        <p:nvSpPr>
          <p:cNvPr id="304" name="Shape 3"/>
          <p:cNvSpPr/>
          <p:nvPr/>
        </p:nvSpPr>
        <p:spPr>
          <a:xfrm>
            <a:off x="1371600" y="1188720"/>
            <a:ext cx="7309800" cy="90900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5" name="Text 4"/>
          <p:cNvSpPr/>
          <p:nvPr/>
        </p:nvSpPr>
        <p:spPr>
          <a:xfrm>
            <a:off x="1554480" y="1280160"/>
            <a:ext cx="694404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Scale up the local stack</a:t>
            </a:r>
            <a:endParaRPr lang="de-DE" sz="1600" b="0" u="none" strike="noStrike">
              <a:solidFill>
                <a:srgbClr val="FFFFFF"/>
              </a:solidFill>
              <a:effectLst/>
              <a:uFillTx/>
              <a:latin typeface="Arial"/>
            </a:endParaRPr>
          </a:p>
        </p:txBody>
      </p:sp>
      <p:sp>
        <p:nvSpPr>
          <p:cNvPr id="306" name="Text 5"/>
          <p:cNvSpPr/>
          <p:nvPr/>
        </p:nvSpPr>
        <p:spPr>
          <a:xfrm>
            <a:off x="1554480" y="1691640"/>
            <a:ext cx="694404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Close the cloud-vs-local quality gap</a:t>
            </a:r>
            <a:endParaRPr lang="de-DE" sz="1300" b="0" u="none" strike="noStrike">
              <a:solidFill>
                <a:srgbClr val="FFFFFF"/>
              </a:solidFill>
              <a:effectLst/>
              <a:uFillTx/>
              <a:latin typeface="Arial"/>
            </a:endParaRPr>
          </a:p>
        </p:txBody>
      </p:sp>
      <p:sp>
        <p:nvSpPr>
          <p:cNvPr id="307" name="Shape 6"/>
          <p:cNvSpPr/>
          <p:nvPr/>
        </p:nvSpPr>
        <p:spPr>
          <a:xfrm>
            <a:off x="457200" y="2331720"/>
            <a:ext cx="817560" cy="90900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8" name="Text 7"/>
          <p:cNvSpPr/>
          <p:nvPr/>
        </p:nvSpPr>
        <p:spPr>
          <a:xfrm>
            <a:off x="457200" y="2331720"/>
            <a:ext cx="81756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02</a:t>
            </a:r>
            <a:endParaRPr lang="de-DE" sz="2800" b="0" u="none" strike="noStrike">
              <a:solidFill>
                <a:srgbClr val="FFFFFF"/>
              </a:solidFill>
              <a:effectLst/>
              <a:uFillTx/>
              <a:latin typeface="Arial"/>
            </a:endParaRPr>
          </a:p>
        </p:txBody>
      </p:sp>
      <p:sp>
        <p:nvSpPr>
          <p:cNvPr id="309" name="Shape 8"/>
          <p:cNvSpPr/>
          <p:nvPr/>
        </p:nvSpPr>
        <p:spPr>
          <a:xfrm>
            <a:off x="1371600" y="2331720"/>
            <a:ext cx="7309800" cy="90900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0" name="Text 9"/>
          <p:cNvSpPr/>
          <p:nvPr/>
        </p:nvSpPr>
        <p:spPr>
          <a:xfrm>
            <a:off x="1554480" y="2423160"/>
            <a:ext cx="694404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Prompt engineering for better SOAP quality</a:t>
            </a:r>
            <a:endParaRPr lang="de-DE" sz="1600" b="0" u="none" strike="noStrike">
              <a:solidFill>
                <a:srgbClr val="FFFFFF"/>
              </a:solidFill>
              <a:effectLst/>
              <a:uFillTx/>
              <a:latin typeface="Arial"/>
            </a:endParaRPr>
          </a:p>
        </p:txBody>
      </p:sp>
      <p:sp>
        <p:nvSpPr>
          <p:cNvPr id="311" name="Text 10"/>
          <p:cNvSpPr/>
          <p:nvPr/>
        </p:nvSpPr>
        <p:spPr>
          <a:xfrm>
            <a:off x="1554480" y="2834640"/>
            <a:ext cx="694404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Lift average P-score from 0.1 to 1.0+</a:t>
            </a:r>
            <a:endParaRPr lang="de-DE" sz="1300" b="0" u="none" strike="noStrike">
              <a:solidFill>
                <a:srgbClr val="FFFFFF"/>
              </a:solidFill>
              <a:effectLst/>
              <a:uFillTx/>
              <a:latin typeface="Arial"/>
            </a:endParaRPr>
          </a:p>
        </p:txBody>
      </p:sp>
      <p:sp>
        <p:nvSpPr>
          <p:cNvPr id="312" name="Shape 11"/>
          <p:cNvSpPr/>
          <p:nvPr/>
        </p:nvSpPr>
        <p:spPr>
          <a:xfrm>
            <a:off x="457200" y="3474720"/>
            <a:ext cx="817560" cy="90900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3" name="Text 12"/>
          <p:cNvSpPr/>
          <p:nvPr/>
        </p:nvSpPr>
        <p:spPr>
          <a:xfrm>
            <a:off x="457200" y="3474720"/>
            <a:ext cx="81756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03</a:t>
            </a:r>
            <a:endParaRPr lang="de-DE" sz="2800" b="0" u="none" strike="noStrike">
              <a:solidFill>
                <a:srgbClr val="FFFFFF"/>
              </a:solidFill>
              <a:effectLst/>
              <a:uFillTx/>
              <a:latin typeface="Arial"/>
            </a:endParaRPr>
          </a:p>
        </p:txBody>
      </p:sp>
      <p:sp>
        <p:nvSpPr>
          <p:cNvPr id="314" name="Shape 13"/>
          <p:cNvSpPr/>
          <p:nvPr/>
        </p:nvSpPr>
        <p:spPr>
          <a:xfrm>
            <a:off x="1371600" y="3474720"/>
            <a:ext cx="7309800" cy="90900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5" name="Text 14"/>
          <p:cNvSpPr/>
          <p:nvPr/>
        </p:nvSpPr>
        <p:spPr>
          <a:xfrm>
            <a:off x="1554480" y="3566160"/>
            <a:ext cx="6944040" cy="360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Real-time streaming UX</a:t>
            </a:r>
            <a:endParaRPr lang="de-DE" sz="1600" b="0" u="none" strike="noStrike">
              <a:solidFill>
                <a:srgbClr val="FFFFFF"/>
              </a:solidFill>
              <a:effectLst/>
              <a:uFillTx/>
              <a:latin typeface="Arial"/>
            </a:endParaRPr>
          </a:p>
        </p:txBody>
      </p:sp>
      <p:sp>
        <p:nvSpPr>
          <p:cNvPr id="316" name="Text 15"/>
          <p:cNvSpPr/>
          <p:nvPr/>
        </p:nvSpPr>
        <p:spPr>
          <a:xfrm>
            <a:off x="1554480" y="3977640"/>
            <a:ext cx="6944040" cy="3146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Draft note ready before patient leaves the room</a:t>
            </a:r>
            <a:endParaRPr lang="de-DE" sz="1300" b="0" u="none" strike="noStrike">
              <a:solidFill>
                <a:srgbClr val="FFFFFF"/>
              </a:solidFill>
              <a:effectLst/>
              <a:uFillTx/>
              <a:latin typeface="Arial"/>
            </a:endParaRPr>
          </a:p>
        </p:txBody>
      </p:sp>
      <p:sp>
        <p:nvSpPr>
          <p:cNvPr id="317" name="Text 16"/>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18" name="Text 17"/>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95" dur="indefinite" restart="never" nodeType="tmRoot">
          <p:childTnLst>
            <p:seq>
              <p:cTn id="396" dur="indefinite" nodeType="mainSeq">
                <p:childTnLst>
                  <p:par>
                    <p:cTn id="397" fill="hold">
                      <p:stCondLst>
                        <p:cond delay="0"/>
                      </p:stCondLst>
                      <p:childTnLst>
                        <p:par>
                          <p:cTn id="398" fill="hold">
                            <p:stCondLst>
                              <p:cond delay="0"/>
                            </p:stCondLst>
                            <p:childTnLst>
                              <p:par>
                                <p:cTn id="399" presetID="1" presetClass="entr" fill="hold" nodeType="withEffect">
                                  <p:stCondLst>
                                    <p:cond delay="0"/>
                                  </p:stCondLst>
                                  <p:childTnLst>
                                    <p:set>
                                      <p:cBhvr>
                                        <p:cTn id="400" dur="1" fill="hold">
                                          <p:stCondLst>
                                            <p:cond delay="0"/>
                                          </p:stCondLst>
                                        </p:cTn>
                                        <p:tgtEl>
                                          <p:spTgt spid="302"/>
                                        </p:tgtEl>
                                        <p:attrNameLst>
                                          <p:attrName>style.visibility</p:attrName>
                                        </p:attrNameLst>
                                      </p:cBhvr>
                                      <p:to>
                                        <p:strVal val="visible"/>
                                      </p:to>
                                    </p:set>
                                  </p:childTnLst>
                                </p:cTn>
                              </p:par>
                              <p:par>
                                <p:cTn id="401" presetID="1" presetClass="entr" fill="hold" nodeType="withEffect">
                                  <p:stCondLst>
                                    <p:cond delay="0"/>
                                  </p:stCondLst>
                                  <p:childTnLst>
                                    <p:set>
                                      <p:cBhvr>
                                        <p:cTn id="402" dur="1" fill="hold">
                                          <p:stCondLst>
                                            <p:cond delay="0"/>
                                          </p:stCondLst>
                                        </p:cTn>
                                        <p:tgtEl>
                                          <p:spTgt spid="303"/>
                                        </p:tgtEl>
                                        <p:attrNameLst>
                                          <p:attrName>style.visibility</p:attrName>
                                        </p:attrNameLst>
                                      </p:cBhvr>
                                      <p:to>
                                        <p:strVal val="visible"/>
                                      </p:to>
                                    </p:set>
                                  </p:childTnLst>
                                </p:cTn>
                              </p:par>
                              <p:par>
                                <p:cTn id="403" presetID="1" presetClass="entr" fill="hold" nodeType="withEffect">
                                  <p:stCondLst>
                                    <p:cond delay="0"/>
                                  </p:stCondLst>
                                  <p:childTnLst>
                                    <p:set>
                                      <p:cBhvr>
                                        <p:cTn id="404" dur="1" fill="hold">
                                          <p:stCondLst>
                                            <p:cond delay="0"/>
                                          </p:stCondLst>
                                        </p:cTn>
                                        <p:tgtEl>
                                          <p:spTgt spid="304"/>
                                        </p:tgtEl>
                                        <p:attrNameLst>
                                          <p:attrName>style.visibility</p:attrName>
                                        </p:attrNameLst>
                                      </p:cBhvr>
                                      <p:to>
                                        <p:strVal val="visible"/>
                                      </p:to>
                                    </p:set>
                                  </p:childTnLst>
                                </p:cTn>
                              </p:par>
                              <p:par>
                                <p:cTn id="405" presetID="1" presetClass="entr" fill="hold" nodeType="withEffect">
                                  <p:stCondLst>
                                    <p:cond delay="0"/>
                                  </p:stCondLst>
                                  <p:childTnLst>
                                    <p:set>
                                      <p:cBhvr>
                                        <p:cTn id="406" dur="1" fill="hold">
                                          <p:stCondLst>
                                            <p:cond delay="0"/>
                                          </p:stCondLst>
                                        </p:cTn>
                                        <p:tgtEl>
                                          <p:spTgt spid="305"/>
                                        </p:tgtEl>
                                        <p:attrNameLst>
                                          <p:attrName>style.visibility</p:attrName>
                                        </p:attrNameLst>
                                      </p:cBhvr>
                                      <p:to>
                                        <p:strVal val="visible"/>
                                      </p:to>
                                    </p:set>
                                  </p:childTnLst>
                                </p:cTn>
                              </p:par>
                              <p:par>
                                <p:cTn id="407" presetID="1" presetClass="entr" fill="hold" nodeType="withEffect">
                                  <p:stCondLst>
                                    <p:cond delay="0"/>
                                  </p:stCondLst>
                                  <p:childTnLst>
                                    <p:set>
                                      <p:cBhvr>
                                        <p:cTn id="408" dur="1" fill="hold">
                                          <p:stCondLst>
                                            <p:cond delay="0"/>
                                          </p:stCondLst>
                                        </p:cTn>
                                        <p:tgtEl>
                                          <p:spTgt spid="306"/>
                                        </p:tgtEl>
                                        <p:attrNameLst>
                                          <p:attrName>style.visibility</p:attrName>
                                        </p:attrNameLst>
                                      </p:cBhvr>
                                      <p:to>
                                        <p:strVal val="visible"/>
                                      </p:to>
                                    </p:set>
                                  </p:childTnLst>
                                </p:cTn>
                              </p:par>
                            </p:childTnLst>
                          </p:cTn>
                        </p:par>
                      </p:childTnLst>
                    </p:cTn>
                  </p:par>
                  <p:par>
                    <p:cTn id="409" fill="hold">
                      <p:stCondLst>
                        <p:cond delay="indefinite"/>
                      </p:stCondLst>
                      <p:childTnLst>
                        <p:par>
                          <p:cTn id="410" fill="hold">
                            <p:stCondLst>
                              <p:cond delay="0"/>
                            </p:stCondLst>
                            <p:childTnLst>
                              <p:par>
                                <p:cTn id="411" presetID="1" presetClass="entr" fill="hold" nodeType="clickEffect">
                                  <p:stCondLst>
                                    <p:cond delay="0"/>
                                  </p:stCondLst>
                                  <p:childTnLst>
                                    <p:set>
                                      <p:cBhvr>
                                        <p:cTn id="412" dur="1" fill="hold">
                                          <p:stCondLst>
                                            <p:cond delay="0"/>
                                          </p:stCondLst>
                                        </p:cTn>
                                        <p:tgtEl>
                                          <p:spTgt spid="307"/>
                                        </p:tgtEl>
                                        <p:attrNameLst>
                                          <p:attrName>style.visibility</p:attrName>
                                        </p:attrNameLst>
                                      </p:cBhvr>
                                      <p:to>
                                        <p:strVal val="visible"/>
                                      </p:to>
                                    </p:set>
                                  </p:childTnLst>
                                </p:cTn>
                              </p:par>
                              <p:par>
                                <p:cTn id="413" presetID="1" presetClass="entr" fill="hold" nodeType="withEffect">
                                  <p:stCondLst>
                                    <p:cond delay="0"/>
                                  </p:stCondLst>
                                  <p:childTnLst>
                                    <p:set>
                                      <p:cBhvr>
                                        <p:cTn id="414" dur="1" fill="hold">
                                          <p:stCondLst>
                                            <p:cond delay="0"/>
                                          </p:stCondLst>
                                        </p:cTn>
                                        <p:tgtEl>
                                          <p:spTgt spid="308"/>
                                        </p:tgtEl>
                                        <p:attrNameLst>
                                          <p:attrName>style.visibility</p:attrName>
                                        </p:attrNameLst>
                                      </p:cBhvr>
                                      <p:to>
                                        <p:strVal val="visible"/>
                                      </p:to>
                                    </p:set>
                                  </p:childTnLst>
                                </p:cTn>
                              </p:par>
                              <p:par>
                                <p:cTn id="415" presetID="1" presetClass="entr" fill="hold" nodeType="withEffect">
                                  <p:stCondLst>
                                    <p:cond delay="0"/>
                                  </p:stCondLst>
                                  <p:childTnLst>
                                    <p:set>
                                      <p:cBhvr>
                                        <p:cTn id="416" dur="1" fill="hold">
                                          <p:stCondLst>
                                            <p:cond delay="0"/>
                                          </p:stCondLst>
                                        </p:cTn>
                                        <p:tgtEl>
                                          <p:spTgt spid="309"/>
                                        </p:tgtEl>
                                        <p:attrNameLst>
                                          <p:attrName>style.visibility</p:attrName>
                                        </p:attrNameLst>
                                      </p:cBhvr>
                                      <p:to>
                                        <p:strVal val="visible"/>
                                      </p:to>
                                    </p:set>
                                  </p:childTnLst>
                                </p:cTn>
                              </p:par>
                              <p:par>
                                <p:cTn id="417" presetID="1" presetClass="entr" fill="hold" nodeType="withEffect">
                                  <p:stCondLst>
                                    <p:cond delay="0"/>
                                  </p:stCondLst>
                                  <p:childTnLst>
                                    <p:set>
                                      <p:cBhvr>
                                        <p:cTn id="418" dur="1" fill="hold">
                                          <p:stCondLst>
                                            <p:cond delay="0"/>
                                          </p:stCondLst>
                                        </p:cTn>
                                        <p:tgtEl>
                                          <p:spTgt spid="310"/>
                                        </p:tgtEl>
                                        <p:attrNameLst>
                                          <p:attrName>style.visibility</p:attrName>
                                        </p:attrNameLst>
                                      </p:cBhvr>
                                      <p:to>
                                        <p:strVal val="visible"/>
                                      </p:to>
                                    </p:set>
                                  </p:childTnLst>
                                </p:cTn>
                              </p:par>
                              <p:par>
                                <p:cTn id="419" presetID="1" presetClass="entr" fill="hold" nodeType="withEffect">
                                  <p:stCondLst>
                                    <p:cond delay="0"/>
                                  </p:stCondLst>
                                  <p:childTnLst>
                                    <p:set>
                                      <p:cBhvr>
                                        <p:cTn id="420" dur="1" fill="hold">
                                          <p:stCondLst>
                                            <p:cond delay="0"/>
                                          </p:stCondLst>
                                        </p:cTn>
                                        <p:tgtEl>
                                          <p:spTgt spid="311"/>
                                        </p:tgtEl>
                                        <p:attrNameLst>
                                          <p:attrName>style.visibility</p:attrName>
                                        </p:attrNameLst>
                                      </p:cBhvr>
                                      <p:to>
                                        <p:strVal val="visible"/>
                                      </p:to>
                                    </p:set>
                                  </p:childTnLst>
                                </p:cTn>
                              </p:par>
                            </p:childTnLst>
                          </p:cTn>
                        </p:par>
                      </p:childTnLst>
                    </p:cTn>
                  </p:par>
                  <p:par>
                    <p:cTn id="421" fill="hold">
                      <p:stCondLst>
                        <p:cond delay="indefinite"/>
                      </p:stCondLst>
                      <p:childTnLst>
                        <p:par>
                          <p:cTn id="422" fill="hold">
                            <p:stCondLst>
                              <p:cond delay="0"/>
                            </p:stCondLst>
                            <p:childTnLst>
                              <p:par>
                                <p:cTn id="423" presetID="1" presetClass="entr" fill="hold" nodeType="clickEffect">
                                  <p:stCondLst>
                                    <p:cond delay="0"/>
                                  </p:stCondLst>
                                  <p:childTnLst>
                                    <p:set>
                                      <p:cBhvr>
                                        <p:cTn id="424" dur="1" fill="hold">
                                          <p:stCondLst>
                                            <p:cond delay="0"/>
                                          </p:stCondLst>
                                        </p:cTn>
                                        <p:tgtEl>
                                          <p:spTgt spid="312"/>
                                        </p:tgtEl>
                                        <p:attrNameLst>
                                          <p:attrName>style.visibility</p:attrName>
                                        </p:attrNameLst>
                                      </p:cBhvr>
                                      <p:to>
                                        <p:strVal val="visible"/>
                                      </p:to>
                                    </p:set>
                                  </p:childTnLst>
                                </p:cTn>
                              </p:par>
                              <p:par>
                                <p:cTn id="425" presetID="1" presetClass="entr" fill="hold" nodeType="withEffect">
                                  <p:stCondLst>
                                    <p:cond delay="0"/>
                                  </p:stCondLst>
                                  <p:childTnLst>
                                    <p:set>
                                      <p:cBhvr>
                                        <p:cTn id="426" dur="1" fill="hold">
                                          <p:stCondLst>
                                            <p:cond delay="0"/>
                                          </p:stCondLst>
                                        </p:cTn>
                                        <p:tgtEl>
                                          <p:spTgt spid="313"/>
                                        </p:tgtEl>
                                        <p:attrNameLst>
                                          <p:attrName>style.visibility</p:attrName>
                                        </p:attrNameLst>
                                      </p:cBhvr>
                                      <p:to>
                                        <p:strVal val="visible"/>
                                      </p:to>
                                    </p:set>
                                  </p:childTnLst>
                                </p:cTn>
                              </p:par>
                              <p:par>
                                <p:cTn id="427" presetID="1" presetClass="entr" fill="hold" nodeType="withEffect">
                                  <p:stCondLst>
                                    <p:cond delay="0"/>
                                  </p:stCondLst>
                                  <p:childTnLst>
                                    <p:set>
                                      <p:cBhvr>
                                        <p:cTn id="428" dur="1" fill="hold">
                                          <p:stCondLst>
                                            <p:cond delay="0"/>
                                          </p:stCondLst>
                                        </p:cTn>
                                        <p:tgtEl>
                                          <p:spTgt spid="314"/>
                                        </p:tgtEl>
                                        <p:attrNameLst>
                                          <p:attrName>style.visibility</p:attrName>
                                        </p:attrNameLst>
                                      </p:cBhvr>
                                      <p:to>
                                        <p:strVal val="visible"/>
                                      </p:to>
                                    </p:set>
                                  </p:childTnLst>
                                </p:cTn>
                              </p:par>
                              <p:par>
                                <p:cTn id="429" presetID="1" presetClass="entr" fill="hold" nodeType="withEffect">
                                  <p:stCondLst>
                                    <p:cond delay="0"/>
                                  </p:stCondLst>
                                  <p:childTnLst>
                                    <p:set>
                                      <p:cBhvr>
                                        <p:cTn id="430" dur="1" fill="hold">
                                          <p:stCondLst>
                                            <p:cond delay="0"/>
                                          </p:stCondLst>
                                        </p:cTn>
                                        <p:tgtEl>
                                          <p:spTgt spid="315"/>
                                        </p:tgtEl>
                                        <p:attrNameLst>
                                          <p:attrName>style.visibility</p:attrName>
                                        </p:attrNameLst>
                                      </p:cBhvr>
                                      <p:to>
                                        <p:strVal val="visible"/>
                                      </p:to>
                                    </p:set>
                                  </p:childTnLst>
                                </p:cTn>
                              </p:par>
                              <p:par>
                                <p:cTn id="431" presetID="1" presetClass="entr" fill="hold" nodeType="withEffect">
                                  <p:stCondLst>
                                    <p:cond delay="0"/>
                                  </p:stCondLst>
                                  <p:childTnLst>
                                    <p:set>
                                      <p:cBhvr>
                                        <p:cTn id="432" dur="1" fill="hold">
                                          <p:stCondLst>
                                            <p:cond delay="0"/>
                                          </p:stCondLst>
                                        </p:cTn>
                                        <p:tgtEl>
                                          <p:spTgt spid="31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19" name="Text 0"/>
          <p:cNvSpPr/>
          <p:nvPr/>
        </p:nvSpPr>
        <p:spPr>
          <a:xfrm>
            <a:off x="457200" y="274320"/>
            <a:ext cx="8224200" cy="634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If you remember only three things...</a:t>
            </a:r>
            <a:endParaRPr lang="de-DE" sz="2400" b="0" u="none" strike="noStrike">
              <a:solidFill>
                <a:srgbClr val="FFFFFF"/>
              </a:solidFill>
              <a:effectLst/>
              <a:uFillTx/>
              <a:latin typeface="Arial"/>
            </a:endParaRPr>
          </a:p>
        </p:txBody>
      </p:sp>
      <p:sp>
        <p:nvSpPr>
          <p:cNvPr id="320" name="Text 1"/>
          <p:cNvSpPr/>
          <p:nvPr/>
        </p:nvSpPr>
        <p:spPr>
          <a:xfrm>
            <a:off x="365760" y="1188720"/>
            <a:ext cx="90900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1</a:t>
            </a:r>
            <a:endParaRPr lang="de-DE" sz="6400" b="0" u="none" strike="noStrike">
              <a:solidFill>
                <a:srgbClr val="FFFFFF"/>
              </a:solidFill>
              <a:effectLst/>
              <a:uFillTx/>
              <a:latin typeface="Arial"/>
            </a:endParaRPr>
          </a:p>
        </p:txBody>
      </p:sp>
      <p:sp>
        <p:nvSpPr>
          <p:cNvPr id="321" name="Text 2"/>
          <p:cNvSpPr/>
          <p:nvPr/>
        </p:nvSpPr>
        <p:spPr>
          <a:xfrm>
            <a:off x="1371600" y="1188720"/>
            <a:ext cx="7309800" cy="90900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The pipeline works — the Plan section doesn't.</a:t>
            </a:r>
            <a:endParaRPr lang="de-DE" sz="1600" b="0" u="none" strike="noStrike">
              <a:solidFill>
                <a:srgbClr val="FFFFFF"/>
              </a:solidFill>
              <a:effectLst/>
              <a:uFillTx/>
              <a:latin typeface="Arial"/>
            </a:endParaRPr>
          </a:p>
        </p:txBody>
      </p:sp>
      <p:sp>
        <p:nvSpPr>
          <p:cNvPr id="322" name="Text 3"/>
          <p:cNvSpPr/>
          <p:nvPr/>
        </p:nvSpPr>
        <p:spPr>
          <a:xfrm>
            <a:off x="365760" y="2286000"/>
            <a:ext cx="90900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2</a:t>
            </a:r>
            <a:endParaRPr lang="de-DE" sz="6400" b="0" u="none" strike="noStrike">
              <a:solidFill>
                <a:srgbClr val="FFFFFF"/>
              </a:solidFill>
              <a:effectLst/>
              <a:uFillTx/>
              <a:latin typeface="Arial"/>
            </a:endParaRPr>
          </a:p>
        </p:txBody>
      </p:sp>
      <p:sp>
        <p:nvSpPr>
          <p:cNvPr id="323" name="Text 4"/>
          <p:cNvSpPr/>
          <p:nvPr/>
        </p:nvSpPr>
        <p:spPr>
          <a:xfrm>
            <a:off x="1371600" y="2286000"/>
            <a:ext cx="7309800" cy="90900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Hardware and model size are the bottleneck</a:t>
            </a:r>
            <a:r>
              <a:rPr lang="en-US" sz="1600" b="0" u="none" strike="noStrike">
                <a:solidFill>
                  <a:srgbClr val="333333"/>
                </a:solidFill>
                <a:effectLst/>
                <a:uFillTx/>
                <a:latin typeface="DejaVu Serif"/>
                <a:ea typeface="DejaVu Serif"/>
              </a:rPr>
              <a:t>.</a:t>
            </a:r>
            <a:endParaRPr lang="de-DE" sz="1600" b="0" u="none" strike="noStrike">
              <a:solidFill>
                <a:srgbClr val="FFFFFF"/>
              </a:solidFill>
              <a:effectLst/>
              <a:uFillTx/>
              <a:latin typeface="Arial"/>
            </a:endParaRPr>
          </a:p>
        </p:txBody>
      </p:sp>
      <p:sp>
        <p:nvSpPr>
          <p:cNvPr id="324" name="Text 5"/>
          <p:cNvSpPr/>
          <p:nvPr/>
        </p:nvSpPr>
        <p:spPr>
          <a:xfrm>
            <a:off x="365760" y="3383280"/>
            <a:ext cx="909000" cy="909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3</a:t>
            </a:r>
            <a:endParaRPr lang="de-DE" sz="6400" b="0" u="none" strike="noStrike">
              <a:solidFill>
                <a:srgbClr val="FFFFFF"/>
              </a:solidFill>
              <a:effectLst/>
              <a:uFillTx/>
              <a:latin typeface="Arial"/>
            </a:endParaRPr>
          </a:p>
        </p:txBody>
      </p:sp>
      <p:sp>
        <p:nvSpPr>
          <p:cNvPr id="325" name="Text 6"/>
          <p:cNvSpPr/>
          <p:nvPr/>
        </p:nvSpPr>
        <p:spPr>
          <a:xfrm>
            <a:off x="1371600" y="3383280"/>
            <a:ext cx="7309800" cy="90900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Assistive today. Autonomous tomorrow?</a:t>
            </a:r>
            <a:endParaRPr lang="de-DE" sz="1600" b="0" u="none" strike="noStrike">
              <a:solidFill>
                <a:srgbClr val="FFFFFF"/>
              </a:solidFill>
              <a:effectLst/>
              <a:uFillTx/>
              <a:latin typeface="Arial"/>
            </a:endParaRPr>
          </a:p>
        </p:txBody>
      </p:sp>
      <p:sp>
        <p:nvSpPr>
          <p:cNvPr id="326" name="Text 8"/>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27" name="Text 9"/>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433" dur="indefinite" restart="never" nodeType="tmRoot">
          <p:childTnLst>
            <p:seq>
              <p:cTn id="434" dur="indefinite" nodeType="mainSeq">
                <p:childTnLst>
                  <p:par>
                    <p:cTn id="435" fill="hold">
                      <p:stCondLst>
                        <p:cond delay="indefinite"/>
                      </p:stCondLst>
                      <p:childTnLst>
                        <p:par>
                          <p:cTn id="436" fill="hold">
                            <p:stCondLst>
                              <p:cond delay="0"/>
                            </p:stCondLst>
                            <p:childTnLst>
                              <p:par>
                                <p:cTn id="437" presetID="1" presetClass="entr" fill="hold" nodeType="clickEffect">
                                  <p:stCondLst>
                                    <p:cond delay="0"/>
                                  </p:stCondLst>
                                  <p:childTnLst>
                                    <p:set>
                                      <p:cBhvr>
                                        <p:cTn id="438" dur="1" fill="hold">
                                          <p:stCondLst>
                                            <p:cond delay="0"/>
                                          </p:stCondLst>
                                        </p:cTn>
                                        <p:tgtEl>
                                          <p:spTgt spid="320"/>
                                        </p:tgtEl>
                                        <p:attrNameLst>
                                          <p:attrName>style.visibility</p:attrName>
                                        </p:attrNameLst>
                                      </p:cBhvr>
                                      <p:to>
                                        <p:strVal val="visible"/>
                                      </p:to>
                                    </p:set>
                                  </p:childTnLst>
                                </p:cTn>
                              </p:par>
                              <p:par>
                                <p:cTn id="439" presetID="1" presetClass="entr" fill="hold" nodeType="withEffect">
                                  <p:stCondLst>
                                    <p:cond delay="0"/>
                                  </p:stCondLst>
                                  <p:childTnLst>
                                    <p:set>
                                      <p:cBhvr>
                                        <p:cTn id="440" dur="1" fill="hold">
                                          <p:stCondLst>
                                            <p:cond delay="0"/>
                                          </p:stCondLst>
                                        </p:cTn>
                                        <p:tgtEl>
                                          <p:spTgt spid="321"/>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fill="hold" nodeType="clickEffect">
                                  <p:stCondLst>
                                    <p:cond delay="0"/>
                                  </p:stCondLst>
                                  <p:childTnLst>
                                    <p:set>
                                      <p:cBhvr>
                                        <p:cTn id="444" dur="1" fill="hold">
                                          <p:stCondLst>
                                            <p:cond delay="0"/>
                                          </p:stCondLst>
                                        </p:cTn>
                                        <p:tgtEl>
                                          <p:spTgt spid="322"/>
                                        </p:tgtEl>
                                        <p:attrNameLst>
                                          <p:attrName>style.visibility</p:attrName>
                                        </p:attrNameLst>
                                      </p:cBhvr>
                                      <p:to>
                                        <p:strVal val="visible"/>
                                      </p:to>
                                    </p:set>
                                  </p:childTnLst>
                                </p:cTn>
                              </p:par>
                              <p:par>
                                <p:cTn id="445" presetID="1" presetClass="entr" fill="hold" nodeType="withEffect">
                                  <p:stCondLst>
                                    <p:cond delay="0"/>
                                  </p:stCondLst>
                                  <p:childTnLst>
                                    <p:set>
                                      <p:cBhvr>
                                        <p:cTn id="446" dur="1" fill="hold">
                                          <p:stCondLst>
                                            <p:cond delay="0"/>
                                          </p:stCondLst>
                                        </p:cTn>
                                        <p:tgtEl>
                                          <p:spTgt spid="32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fill="hold" nodeType="clickEffect">
                                  <p:stCondLst>
                                    <p:cond delay="0"/>
                                  </p:stCondLst>
                                  <p:childTnLst>
                                    <p:set>
                                      <p:cBhvr>
                                        <p:cTn id="450" dur="1" fill="hold">
                                          <p:stCondLst>
                                            <p:cond delay="0"/>
                                          </p:stCondLst>
                                        </p:cTn>
                                        <p:tgtEl>
                                          <p:spTgt spid="324"/>
                                        </p:tgtEl>
                                        <p:attrNameLst>
                                          <p:attrName>style.visibility</p:attrName>
                                        </p:attrNameLst>
                                      </p:cBhvr>
                                      <p:to>
                                        <p:strVal val="visible"/>
                                      </p:to>
                                    </p:set>
                                  </p:childTnLst>
                                </p:cTn>
                              </p:par>
                              <p:par>
                                <p:cTn id="451" presetID="1" presetClass="entr" fill="hold" nodeType="withEffect">
                                  <p:stCondLst>
                                    <p:cond delay="0"/>
                                  </p:stCondLst>
                                  <p:childTnLst>
                                    <p:set>
                                      <p:cBhvr>
                                        <p:cTn id="452" dur="1" fill="hold">
                                          <p:stCondLst>
                                            <p:cond delay="0"/>
                                          </p:stCondLst>
                                        </p:cTn>
                                        <p:tgtEl>
                                          <p:spTgt spid="3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28" name="Shape 0"/>
          <p:cNvSpPr/>
          <p:nvPr/>
        </p:nvSpPr>
        <p:spPr>
          <a:xfrm>
            <a:off x="6400800" y="548640"/>
            <a:ext cx="2372040" cy="31464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29" name="Shape 1"/>
          <p:cNvSpPr/>
          <p:nvPr/>
        </p:nvSpPr>
        <p:spPr>
          <a:xfrm>
            <a:off x="6583680" y="1005840"/>
            <a:ext cx="2189160" cy="250560"/>
          </a:xfrm>
          <a:prstGeom prst="parallelogram">
            <a:avLst>
              <a:gd name="adj" fmla="val 25000"/>
            </a:avLst>
          </a:prstGeom>
          <a:solidFill>
            <a:srgbClr val="D04A02">
              <a:alpha val="5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30" name="Text 2"/>
          <p:cNvSpPr/>
          <p:nvPr/>
        </p:nvSpPr>
        <p:spPr>
          <a:xfrm>
            <a:off x="457200" y="1645920"/>
            <a:ext cx="8224200" cy="1640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0" u="none" strike="noStrike">
                <a:solidFill>
                  <a:srgbClr val="FFFFFF"/>
                </a:solidFill>
                <a:effectLst/>
                <a:uFillTx/>
                <a:latin typeface="DejaVu Serif"/>
                <a:ea typeface="DejaVu Serif"/>
              </a:rPr>
              <a:t>Questions?</a:t>
            </a:r>
            <a:endParaRPr lang="de-DE" sz="7200" b="0" u="none" strike="noStrike">
              <a:solidFill>
                <a:srgbClr val="FFFFFF"/>
              </a:solidFill>
              <a:effectLst/>
              <a:uFillTx/>
              <a:latin typeface="Arial"/>
            </a:endParaRPr>
          </a:p>
        </p:txBody>
      </p:sp>
      <p:sp>
        <p:nvSpPr>
          <p:cNvPr id="331" name="Text 3"/>
          <p:cNvSpPr/>
          <p:nvPr/>
        </p:nvSpPr>
        <p:spPr>
          <a:xfrm>
            <a:off x="457200" y="3749040"/>
            <a:ext cx="8224200" cy="4060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5429"/>
                </a:solidFill>
                <a:effectLst/>
                <a:uFillTx/>
                <a:latin typeface="DejaVu Serif"/>
                <a:ea typeface="DejaVu Serif"/>
              </a:rPr>
              <a:t>Thank you.</a:t>
            </a:r>
            <a:endParaRPr lang="de-DE" sz="1600" b="0" u="none" strike="noStrike">
              <a:solidFill>
                <a:srgbClr val="FFFFFF"/>
              </a:solidFill>
              <a:effectLst/>
              <a:uFillTx/>
              <a:latin typeface="Arial"/>
            </a:endParaRPr>
          </a:p>
        </p:txBody>
      </p:sp>
      <p:sp>
        <p:nvSpPr>
          <p:cNvPr id="332" name="Text 4"/>
          <p:cNvSpPr/>
          <p:nvPr/>
        </p:nvSpPr>
        <p:spPr>
          <a:xfrm>
            <a:off x="365760" y="4864680"/>
            <a:ext cx="6852600" cy="223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33" name="Text 5"/>
          <p:cNvSpPr/>
          <p:nvPr/>
        </p:nvSpPr>
        <p:spPr>
          <a:xfrm>
            <a:off x="7772400" y="4864680"/>
            <a:ext cx="1000440" cy="2232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3391</TotalTime>
  <Application>LibreOffice/26.2.1.2$Linux_X86_64 LibreOffice_project/620$Build-2</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2026-05-15T07:25:02Z</dcterms:created>
  <dc:creator>Anton Reinhard &amp; Leonard Niedens</dc:creator>
  <dc:description/>
  <dc:language>de-DE</dc:language>
  <cp:lastModifiedBy/>
  <dcterms:modified xsi:type="dcterms:W3CDTF">2026-05-27T19:26:29Z</dcterms:modified>
  <cp:revision>65</cp:revision>
  <dc:subject>PptxGenJS Presentation</dc:subject>
  <dc:title>AI-Anamnesis of Patients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0x01010009ABEE73BF99044B8E88242258EF819B</vt:lpwstr>
  </property>
  <property fmtid="{D5CDD505-2E9C-101B-9397-08002B2CF9AE}" pid="3" name="Notes">
    <vt:r8>19</vt:r8>
  </property>
  <property fmtid="{D5CDD505-2E9C-101B-9397-08002B2CF9AE}" pid="4" name="PresentationFormat">
    <vt:lpwstr>Bildschirmpräsentation (16:9)</vt:lpwstr>
  </property>
  <property fmtid="{D5CDD505-2E9C-101B-9397-08002B2CF9AE}" pid="5" name="Slides">
    <vt:r8>19</vt:r8>
  </property>
</Properties>
</file>