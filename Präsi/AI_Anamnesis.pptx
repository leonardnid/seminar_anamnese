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5.xml" ContentType="application/vnd.openxmlformats-officedocument.drawingml.chart+xml"/>
  <Override PartName="/ppt/charts/colors5.xml" ContentType="application/vnd.ms-office.chartcolorstyle+xml"/>
  <Override PartName="/ppt/charts/style5.xml" ContentType="application/vnd.ms-office.chartstyle+xml"/>
  <Override PartName="/ppt/charts/colors3.xml" ContentType="application/vnd.ms-office.chartcolorstyle+xml"/>
  <Override PartName="/ppt/charts/style1.xml" ContentType="application/vnd.ms-office.chartstyle+xml"/>
  <Override PartName="/ppt/charts/chart1.xml" ContentType="application/vnd.openxmlformats-officedocument.drawingml.chart+xml"/>
  <Override PartName="/ppt/charts/style4.xml" ContentType="application/vnd.ms-office.chartstyle+xml"/>
  <Override PartName="/ppt/charts/colors4.xml" ContentType="application/vnd.ms-office.chartcolorstyle+xml"/>
  <Override PartName="/ppt/charts/chart3.xml" ContentType="application/vnd.openxmlformats-officedocument.drawingml.chart+xml"/>
  <Override PartName="/ppt/charts/chart2.xml" ContentType="application/vnd.openxmlformats-officedocument.drawingml.chart+xml"/>
  <Override PartName="/ppt/charts/colors2.xml" ContentType="application/vnd.ms-office.chartcolorstyle+xml"/>
  <Override PartName="/ppt/charts/style3.xml" ContentType="application/vnd.ms-office.chartstyle+xml"/>
  <Override PartName="/ppt/charts/colors1.xml" ContentType="application/vnd.ms-office.chartcolorstyle+xml"/>
  <Override PartName="/ppt/charts/style2.xml" ContentType="application/vnd.ms-office.chartstyle+xml"/>
  <Override PartName="/ppt/charts/chart4.xml" ContentType="application/vnd.openxmlformats-officedocument.drawingml.chart+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5.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9144000" cy="51435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_rels/chart2.xml.rels><?xml version="1.0" encoding="UTF-8"?>
<Relationships xmlns="http://schemas.openxmlformats.org/package/2006/relationships"><Relationship Id="rId1" Type="http://schemas.microsoft.com/office/2011/relationships/chartStyle" Target="style2.xml"/><Relationship Id="rId2" Type="http://schemas.microsoft.com/office/2011/relationships/chartColorStyle" Target="colors2.xml"/>
</Relationships>
</file>

<file path=ppt/charts/_rels/chart3.xml.rels><?xml version="1.0" encoding="UTF-8"?>
<Relationships xmlns="http://schemas.openxmlformats.org/package/2006/relationships"><Relationship Id="rId1" Type="http://schemas.microsoft.com/office/2011/relationships/chartStyle" Target="style3.xml"/><Relationship Id="rId2" Type="http://schemas.microsoft.com/office/2011/relationships/chartColorStyle" Target="colors3.xml"/>
</Relationships>
</file>

<file path=ppt/charts/_rels/chart4.xml.rels><?xml version="1.0" encoding="UTF-8"?>
<Relationships xmlns="http://schemas.openxmlformats.org/package/2006/relationships"><Relationship Id="rId1" Type="http://schemas.microsoft.com/office/2011/relationships/chartStyle" Target="style4.xml"/><Relationship Id="rId2" Type="http://schemas.microsoft.com/office/2011/relationships/chartColorStyle" Target="colors4.xml"/>
</Relationships>
</file>

<file path=ppt/charts/_rels/chart5.xml.rels><?xml version="1.0" encoding="UTF-8"?>
<Relationships xmlns="http://schemas.openxmlformats.org/package/2006/relationships"><Relationship Id="rId1" Type="http://schemas.microsoft.com/office/2011/relationships/chartStyle" Target="style5.xml"/><Relationship Id="rId2" Type="http://schemas.microsoft.com/office/2011/relationships/chartColorStyle" Target="colors5.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WER (%)</c:v>
                </c:pt>
              </c:strCache>
            </c:strRef>
          </c:tx>
          <c:spPr>
            <a:solidFill>
              <a:srgbClr val="D04A02"/>
            </a:solidFill>
            <a:ln w="0">
              <a:noFill/>
            </a:ln>
          </c:spPr>
          <c:invertIfNegative val="0"/>
          <c:dPt>
            <c:idx val="0"/>
            <c:invertIfNegative val="0"/>
            <c:spPr>
              <a:solidFill>
                <a:srgbClr val="D04A02"/>
              </a:solidFill>
              <a:ln w="0">
                <a:noFill/>
              </a:ln>
            </c:spPr>
          </c:dPt>
          <c:dPt>
            <c:idx val="1"/>
            <c:invertIfNegative val="0"/>
            <c:spPr>
              <a:solidFill>
                <a:srgbClr val="D04A02"/>
              </a:solidFill>
              <a:ln w="0">
                <a:noFill/>
              </a:ln>
            </c:spPr>
          </c:dPt>
          <c:dPt>
            <c:idx val="2"/>
            <c:invertIfNegative val="0"/>
            <c:spPr>
              <a:solidFill>
                <a:srgbClr val="8A95A0"/>
              </a:solidFill>
              <a:ln w="0">
                <a:noFill/>
              </a:ln>
            </c:spPr>
          </c:dPt>
          <c:dLbls>
            <c:dLbl>
              <c:idx val="0"/>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1"/>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2"/>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3"/>
                <c:pt idx="0">
                  <c:v>☁ Assembly</c:v>
                </c:pt>
                <c:pt idx="1">
                  <c:v>☁ Speechmatics</c:v>
                </c:pt>
                <c:pt idx="2">
                  <c:v>▣ Whisper (avg)</c:v>
                </c:pt>
              </c:strCache>
            </c:strRef>
          </c:cat>
          <c:val>
            <c:numRef>
              <c:f>0</c:f>
              <c:numCache>
                <c:formatCode>General</c:formatCode>
                <c:ptCount val="3"/>
                <c:pt idx="0">
                  <c:v>8.9</c:v>
                </c:pt>
                <c:pt idx="1">
                  <c:v>11.4</c:v>
                </c:pt>
                <c:pt idx="2">
                  <c:v>13.5</c:v>
                </c:pt>
              </c:numCache>
            </c:numRef>
          </c:val>
        </c:ser>
        <c:gapWidth val="60"/>
        <c:overlap val="0"/>
        <c:axId val="92052642"/>
        <c:axId val="67452830"/>
      </c:barChart>
      <c:catAx>
        <c:axId val="92052642"/>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300" b="0" u="none" strike="noStrike">
                <a:solidFill>
                  <a:srgbClr val="E8E8E8"/>
                </a:solidFill>
                <a:uFillTx/>
                <a:latin typeface="DejaVu Serif"/>
                <a:ea typeface="DejaVu Sans"/>
              </a:defRPr>
            </a:pPr>
          </a:p>
        </c:txPr>
        <c:crossAx val="67452830"/>
        <c:crosses val="autoZero"/>
        <c:auto val="1"/>
        <c:lblAlgn val="ctr"/>
        <c:lblOffset val="100"/>
        <c:noMultiLvlLbl val="0"/>
      </c:catAx>
      <c:valAx>
        <c:axId val="67452830"/>
        <c:scaling>
          <c:orientation val="minMax"/>
          <c:max val="16"/>
        </c:scaling>
        <c:delete val="0"/>
        <c:axPos val="l"/>
        <c:majorGridlines>
          <c:spPr>
            <a:ln w="6480">
              <a:solidFill>
                <a:srgbClr val="3A3D42"/>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8A95A0"/>
                </a:solidFill>
                <a:uFillTx/>
                <a:latin typeface="Arial"/>
                <a:ea typeface="DejaVu Sans"/>
              </a:defRPr>
            </a:pPr>
          </a:p>
        </c:txPr>
        <c:crossAx val="92052642"/>
        <c:crosses val="autoZero"/>
        <c:crossBetween val="between"/>
      </c:valAx>
      <c:spPr>
        <a:noFill/>
        <a:ln w="0">
          <a:noFill/>
        </a:ln>
      </c:spPr>
    </c:plotArea>
    <c:plotVisOnly val="1"/>
    <c:dispBlanksAs val="span"/>
  </c:chart>
  <c:spPr>
    <a:solidFill>
      <a:srgbClr val="1A1A1A"/>
    </a:solid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Avg LLM error rate (%)</c:v>
                </c:pt>
              </c:strCache>
            </c:strRef>
          </c:tx>
          <c:spPr>
            <a:solidFill>
              <a:srgbClr val="D04A02"/>
            </a:solidFill>
            <a:ln w="0">
              <a:noFill/>
            </a:ln>
          </c:spPr>
          <c:invertIfNegative val="0"/>
          <c:dPt>
            <c:idx val="0"/>
            <c:invertIfNegative val="0"/>
            <c:spPr>
              <a:solidFill>
                <a:srgbClr val="D04A02"/>
              </a:solidFill>
              <a:ln w="0">
                <a:noFill/>
              </a:ln>
            </c:spPr>
          </c:dPt>
          <c:dPt>
            <c:idx val="1"/>
            <c:invertIfNegative val="0"/>
            <c:spPr>
              <a:solidFill>
                <a:srgbClr val="8A95A0"/>
              </a:solidFill>
              <a:ln w="0">
                <a:noFill/>
              </a:ln>
            </c:spPr>
          </c:dPt>
          <c:dPt>
            <c:idx val="2"/>
            <c:invertIfNegative val="0"/>
            <c:spPr>
              <a:solidFill>
                <a:srgbClr val="8A95A0"/>
              </a:solidFill>
              <a:ln w="0">
                <a:noFill/>
              </a:ln>
            </c:spPr>
          </c:dPt>
          <c:dPt>
            <c:idx val="3"/>
            <c:invertIfNegative val="0"/>
            <c:spPr>
              <a:solidFill>
                <a:srgbClr val="8A95A0"/>
              </a:solidFill>
              <a:ln w="0">
                <a:noFill/>
              </a:ln>
            </c:spPr>
          </c:dPt>
          <c:dLbls>
            <c:dLbl>
              <c:idx val="0"/>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1"/>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2"/>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3"/>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 GPT-4o (cloud avg)</c:v>
                </c:pt>
                <c:pt idx="1">
                  <c:v>▣ Gemma</c:v>
                </c:pt>
                <c:pt idx="2">
                  <c:v>▣ Llama 3.2</c:v>
                </c:pt>
                <c:pt idx="3">
                  <c:v>▣ Sauerkraut</c:v>
                </c:pt>
              </c:strCache>
            </c:strRef>
          </c:cat>
          <c:val>
            <c:numRef>
              <c:f>0</c:f>
              <c:numCache>
                <c:formatCode>General</c:formatCode>
                <c:ptCount val="4"/>
                <c:pt idx="0">
                  <c:v>0</c:v>
                </c:pt>
                <c:pt idx="1">
                  <c:v>13.3</c:v>
                </c:pt>
                <c:pt idx="2">
                  <c:v>15.1</c:v>
                </c:pt>
                <c:pt idx="3">
                  <c:v>19.7</c:v>
                </c:pt>
              </c:numCache>
            </c:numRef>
          </c:val>
        </c:ser>
        <c:gapWidth val="60"/>
        <c:overlap val="0"/>
        <c:axId val="50777322"/>
        <c:axId val="26724966"/>
      </c:barChart>
      <c:catAx>
        <c:axId val="50777322"/>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300" b="0" u="none" strike="noStrike">
                <a:solidFill>
                  <a:srgbClr val="E8E8E8"/>
                </a:solidFill>
                <a:uFillTx/>
                <a:latin typeface="DejaVu Serif"/>
                <a:ea typeface="DejaVu Sans"/>
              </a:defRPr>
            </a:pPr>
          </a:p>
        </c:txPr>
        <c:crossAx val="26724966"/>
        <c:crosses val="autoZero"/>
        <c:auto val="1"/>
        <c:lblAlgn val="ctr"/>
        <c:lblOffset val="100"/>
        <c:noMultiLvlLbl val="0"/>
      </c:catAx>
      <c:valAx>
        <c:axId val="26724966"/>
        <c:scaling>
          <c:orientation val="minMax"/>
        </c:scaling>
        <c:delete val="0"/>
        <c:axPos val="l"/>
        <c:majorGridlines>
          <c:spPr>
            <a:ln w="6480">
              <a:solidFill>
                <a:srgbClr val="3A3D42"/>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8A95A0"/>
                </a:solidFill>
                <a:uFillTx/>
                <a:latin typeface="Arial"/>
                <a:ea typeface="DejaVu Sans"/>
              </a:defRPr>
            </a:pPr>
          </a:p>
        </c:txPr>
        <c:crossAx val="50777322"/>
        <c:crosses val="autoZero"/>
        <c:crossBetween val="between"/>
      </c:valAx>
      <c:spPr>
        <a:noFill/>
        <a:ln w="0">
          <a:noFill/>
        </a:ln>
      </c:spPr>
    </c:plotArea>
    <c:plotVisOnly val="1"/>
    <c:dispBlanksAs val="span"/>
  </c:chart>
  <c:spPr>
    <a:solidFill>
      <a:srgbClr val="1A1A1A"/>
    </a:solid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Avg LLM error rate (%)</c:v>
                </c:pt>
              </c:strCache>
            </c:strRef>
          </c:tx>
          <c:spPr>
            <a:solidFill>
              <a:srgbClr val="D04A02"/>
            </a:solidFill>
            <a:ln w="0">
              <a:noFill/>
            </a:ln>
          </c:spPr>
          <c:invertIfNegative val="0"/>
          <c:dPt>
            <c:idx val="0"/>
            <c:invertIfNegative val="0"/>
            <c:spPr>
              <a:solidFill>
                <a:srgbClr val="D04A02"/>
              </a:solidFill>
              <a:ln w="0">
                <a:noFill/>
              </a:ln>
            </c:spPr>
          </c:dPt>
          <c:dPt>
            <c:idx val="1"/>
            <c:invertIfNegative val="0"/>
            <c:spPr>
              <a:solidFill>
                <a:srgbClr val="8A95A0"/>
              </a:solidFill>
              <a:ln w="0">
                <a:noFill/>
              </a:ln>
            </c:spPr>
          </c:dPt>
          <c:dPt>
            <c:idx val="2"/>
            <c:invertIfNegative val="0"/>
            <c:spPr>
              <a:solidFill>
                <a:srgbClr val="8A95A0"/>
              </a:solidFill>
              <a:ln w="0">
                <a:noFill/>
              </a:ln>
            </c:spPr>
          </c:dPt>
          <c:dPt>
            <c:idx val="3"/>
            <c:invertIfNegative val="0"/>
            <c:spPr>
              <a:solidFill>
                <a:srgbClr val="8A95A0"/>
              </a:solidFill>
              <a:ln w="0">
                <a:noFill/>
              </a:ln>
            </c:spPr>
          </c:dPt>
          <c:dLbls>
            <c:dLbl>
              <c:idx val="0"/>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1"/>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2"/>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3"/>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 GPT-4o (avg)</c:v>
                </c:pt>
                <c:pt idx="1">
                  <c:v>▣ Gemma</c:v>
                </c:pt>
                <c:pt idx="2">
                  <c:v>▣ Llama 3.2</c:v>
                </c:pt>
                <c:pt idx="3">
                  <c:v>▣ Sauerkraut</c:v>
                </c:pt>
              </c:strCache>
            </c:strRef>
          </c:cat>
          <c:val>
            <c:numRef>
              <c:f>0</c:f>
              <c:numCache>
                <c:formatCode>General</c:formatCode>
                <c:ptCount val="4"/>
                <c:pt idx="0">
                  <c:v>0</c:v>
                </c:pt>
                <c:pt idx="1">
                  <c:v>13.3</c:v>
                </c:pt>
                <c:pt idx="2">
                  <c:v>15.1</c:v>
                </c:pt>
                <c:pt idx="3">
                  <c:v>19.7</c:v>
                </c:pt>
              </c:numCache>
            </c:numRef>
          </c:val>
        </c:ser>
        <c:gapWidth val="60"/>
        <c:overlap val="0"/>
        <c:axId val="6752323"/>
        <c:axId val="20618085"/>
      </c:barChart>
      <c:catAx>
        <c:axId val="6752323"/>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300" b="0" u="none" strike="noStrike">
                <a:solidFill>
                  <a:srgbClr val="E8E8E8"/>
                </a:solidFill>
                <a:uFillTx/>
                <a:latin typeface="DejaVu Serif"/>
                <a:ea typeface="DejaVu Sans"/>
              </a:defRPr>
            </a:pPr>
          </a:p>
        </c:txPr>
        <c:crossAx val="20618085"/>
        <c:crosses val="autoZero"/>
        <c:auto val="1"/>
        <c:lblAlgn val="ctr"/>
        <c:lblOffset val="100"/>
        <c:noMultiLvlLbl val="0"/>
      </c:catAx>
      <c:valAx>
        <c:axId val="20618085"/>
        <c:scaling>
          <c:orientation val="minMax"/>
        </c:scaling>
        <c:delete val="0"/>
        <c:axPos val="l"/>
        <c:majorGridlines>
          <c:spPr>
            <a:ln w="6480">
              <a:solidFill>
                <a:srgbClr val="3A3D42"/>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8A95A0"/>
                </a:solidFill>
                <a:uFillTx/>
                <a:latin typeface="Arial"/>
                <a:ea typeface="DejaVu Sans"/>
              </a:defRPr>
            </a:pPr>
          </a:p>
        </c:txPr>
        <c:crossAx val="6752323"/>
        <c:crosses val="autoZero"/>
        <c:crossBetween val="between"/>
      </c:valAx>
      <c:spPr>
        <a:noFill/>
        <a:ln w="0">
          <a:noFill/>
        </a:ln>
      </c:spPr>
    </c:plotArea>
    <c:plotVisOnly val="1"/>
    <c:dispBlanksAs val="span"/>
  </c:chart>
  <c:spPr>
    <a:solidFill>
      <a:srgbClr val="1A1A1A"/>
    </a:solid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Word count</c:v>
                </c:pt>
              </c:strCache>
            </c:strRef>
          </c:tx>
          <c:spPr>
            <a:solidFill>
              <a:srgbClr val="D04A02"/>
            </a:solidFill>
            <a:ln w="0">
              <a:noFill/>
            </a:ln>
          </c:spPr>
          <c:invertIfNegative val="0"/>
          <c:dPt>
            <c:idx val="0"/>
            <c:invertIfNegative val="0"/>
            <c:spPr>
              <a:solidFill>
                <a:srgbClr val="D04A02"/>
              </a:solidFill>
              <a:ln w="0">
                <a:noFill/>
              </a:ln>
            </c:spPr>
          </c:dPt>
          <c:dPt>
            <c:idx val="1"/>
            <c:invertIfNegative val="0"/>
            <c:spPr>
              <a:solidFill>
                <a:srgbClr val="8A95A0"/>
              </a:solidFill>
              <a:ln w="0">
                <a:noFill/>
              </a:ln>
            </c:spPr>
          </c:dPt>
          <c:dLbls>
            <c:dLbl>
              <c:idx val="0"/>
              <c:numFmt formatCode="#,##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1"/>
              <c:numFmt formatCode="#,##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numFmt formatCode="#,##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2"/>
                <c:pt idx="0">
                  <c:v>After SauerkrautLM</c:v>
                </c:pt>
                <c:pt idx="1">
                  <c:v>Ground Truth</c:v>
                </c:pt>
              </c:strCache>
            </c:strRef>
          </c:cat>
          <c:val>
            <c:numRef>
              <c:f>0</c:f>
              <c:numCache>
                <c:formatCode>General</c:formatCode>
                <c:ptCount val="2"/>
                <c:pt idx="0">
                  <c:v>152</c:v>
                </c:pt>
                <c:pt idx="1">
                  <c:v>2269</c:v>
                </c:pt>
              </c:numCache>
            </c:numRef>
          </c:val>
        </c:ser>
        <c:gapWidth val="60"/>
        <c:overlap val="0"/>
        <c:axId val="82943013"/>
        <c:axId val="74107850"/>
      </c:barChart>
      <c:catAx>
        <c:axId val="82943013"/>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300" b="0" u="none" strike="noStrike">
                <a:solidFill>
                  <a:srgbClr val="E8E8E8"/>
                </a:solidFill>
                <a:uFillTx/>
                <a:latin typeface="DejaVu Serif"/>
                <a:ea typeface="DejaVu Sans"/>
              </a:defRPr>
            </a:pPr>
          </a:p>
        </c:txPr>
        <c:crossAx val="74107850"/>
        <c:crosses val="autoZero"/>
        <c:auto val="1"/>
        <c:lblAlgn val="ctr"/>
        <c:lblOffset val="100"/>
        <c:noMultiLvlLbl val="0"/>
      </c:catAx>
      <c:valAx>
        <c:axId val="74107850"/>
        <c:scaling>
          <c:orientation val="minMax"/>
        </c:scaling>
        <c:delete val="0"/>
        <c:axPos val="l"/>
        <c:majorGridlines>
          <c:spPr>
            <a:ln w="6480">
              <a:solidFill>
                <a:srgbClr val="3A3D42"/>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8A95A0"/>
                </a:solidFill>
                <a:uFillTx/>
                <a:latin typeface="Arial"/>
                <a:ea typeface="DejaVu Sans"/>
              </a:defRPr>
            </a:pPr>
          </a:p>
        </c:txPr>
        <c:crossAx val="82943013"/>
        <c:crosses val="autoZero"/>
        <c:crossBetween val="between"/>
      </c:valAx>
      <c:spPr>
        <a:noFill/>
        <a:ln w="0">
          <a:noFill/>
        </a:ln>
      </c:spPr>
    </c:plotArea>
    <c:plotVisOnly val="1"/>
    <c:dispBlanksAs val="span"/>
  </c:chart>
  <c:spPr>
    <a:solidFill>
      <a:srgbClr val="1A1A1A"/>
    </a:solid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Ø SOAP Score</c:v>
                </c:pt>
              </c:strCache>
            </c:strRef>
          </c:tx>
          <c:spPr>
            <a:solidFill>
              <a:srgbClr val="D04A3A"/>
            </a:solidFill>
            <a:ln w="0">
              <a:noFill/>
            </a:ln>
          </c:spPr>
          <c:invertIfNegative val="0"/>
          <c:dPt>
            <c:idx val="0"/>
            <c:invertIfNegative val="0"/>
            <c:spPr>
              <a:solidFill>
                <a:srgbClr val="D04A3A"/>
              </a:solidFill>
              <a:ln w="0">
                <a:noFill/>
              </a:ln>
            </c:spPr>
          </c:dPt>
          <c:dPt>
            <c:idx val="1"/>
            <c:invertIfNegative val="0"/>
            <c:spPr>
              <a:solidFill>
                <a:srgbClr val="D89614"/>
              </a:solidFill>
              <a:ln w="0">
                <a:noFill/>
              </a:ln>
            </c:spPr>
          </c:dPt>
          <c:dPt>
            <c:idx val="2"/>
            <c:invertIfNegative val="0"/>
            <c:spPr>
              <a:solidFill>
                <a:srgbClr val="D89614"/>
              </a:solidFill>
              <a:ln w="0">
                <a:noFill/>
              </a:ln>
            </c:spPr>
          </c:dPt>
          <c:dPt>
            <c:idx val="3"/>
            <c:invertIfNegative val="0"/>
            <c:spPr>
              <a:solidFill>
                <a:srgbClr val="D89614"/>
              </a:solidFill>
              <a:ln w="0">
                <a:noFill/>
              </a:ln>
            </c:spPr>
          </c:dPt>
          <c:dLbls>
            <c:dLbl>
              <c:idx val="0"/>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1"/>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2"/>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dLbl>
              <c:idx val="3"/>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dLbl>
            <c:numFmt formatCode="0.0" sourceLinked="0"/>
            <c:txPr>
              <a:bodyPr wrap="square"/>
              <a:lstStyle/>
              <a:p>
                <a:pPr>
                  <a:defRPr sz="1300" b="0" u="none" strike="noStrike">
                    <a:solidFill>
                      <a:srgbClr val="E8E8E8"/>
                    </a:solidFill>
                    <a:uFillTx/>
                    <a:latin typeface="DejaVu Serif"/>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 Llama 3.2</c:v>
                </c:pt>
                <c:pt idx="1">
                  <c:v>▣ Sauerkraut</c:v>
                </c:pt>
                <c:pt idx="2">
                  <c:v>▣ Gemma</c:v>
                </c:pt>
                <c:pt idx="3">
                  <c:v>☁ GPT-4o (avg)</c:v>
                </c:pt>
              </c:strCache>
            </c:strRef>
          </c:cat>
          <c:val>
            <c:numRef>
              <c:f>0</c:f>
              <c:numCache>
                <c:formatCode>General</c:formatCode>
                <c:ptCount val="4"/>
                <c:pt idx="0">
                  <c:v>2.1</c:v>
                </c:pt>
                <c:pt idx="1">
                  <c:v>3.2</c:v>
                </c:pt>
                <c:pt idx="2">
                  <c:v>3.4</c:v>
                </c:pt>
                <c:pt idx="3">
                  <c:v>4.4</c:v>
                </c:pt>
              </c:numCache>
            </c:numRef>
          </c:val>
        </c:ser>
        <c:gapWidth val="60"/>
        <c:overlap val="0"/>
        <c:axId val="84577344"/>
        <c:axId val="25559439"/>
      </c:barChart>
      <c:catAx>
        <c:axId val="84577344"/>
        <c:scaling>
          <c:orientation val="minMax"/>
        </c:scaling>
        <c:delete val="0"/>
        <c:axPos val="b"/>
        <c:numFmt formatCode="General" sourceLinked="0"/>
        <c:majorTickMark val="out"/>
        <c:minorTickMark val="none"/>
        <c:tickLblPos val="nextTo"/>
        <c:spPr>
          <a:ln w="12600">
            <a:solidFill>
              <a:srgbClr val="888888"/>
            </a:solidFill>
            <a:round/>
          </a:ln>
        </c:spPr>
        <c:txPr>
          <a:bodyPr/>
          <a:lstStyle/>
          <a:p>
            <a:pPr>
              <a:defRPr sz="1300" b="0" u="none" strike="noStrike">
                <a:solidFill>
                  <a:srgbClr val="E8E8E8"/>
                </a:solidFill>
                <a:uFillTx/>
                <a:latin typeface="DejaVu Serif"/>
                <a:ea typeface="DejaVu Sans"/>
              </a:defRPr>
            </a:pPr>
          </a:p>
        </c:txPr>
        <c:crossAx val="25559439"/>
        <c:crosses val="autoZero"/>
        <c:auto val="1"/>
        <c:lblAlgn val="ctr"/>
        <c:lblOffset val="100"/>
        <c:noMultiLvlLbl val="0"/>
      </c:catAx>
      <c:valAx>
        <c:axId val="25559439"/>
        <c:scaling>
          <c:orientation val="minMax"/>
          <c:max val="8"/>
          <c:min val="0"/>
        </c:scaling>
        <c:delete val="0"/>
        <c:axPos val="l"/>
        <c:majorGridlines>
          <c:spPr>
            <a:ln w="6480">
              <a:solidFill>
                <a:srgbClr val="3A3D42"/>
              </a:solidFill>
              <a:round/>
            </a:ln>
          </c:spPr>
        </c:majorGridlines>
        <c:numFmt formatCode="General" sourceLinked="0"/>
        <c:majorTickMark val="out"/>
        <c:minorTickMark val="none"/>
        <c:tickLblPos val="low"/>
        <c:spPr>
          <a:ln w="12600">
            <a:solidFill>
              <a:srgbClr val="888888"/>
            </a:solidFill>
            <a:round/>
          </a:ln>
        </c:spPr>
        <c:txPr>
          <a:bodyPr/>
          <a:lstStyle/>
          <a:p>
            <a:pPr>
              <a:defRPr sz="900" b="0" u="none" strike="noStrike">
                <a:solidFill>
                  <a:srgbClr val="8A95A0"/>
                </a:solidFill>
                <a:uFillTx/>
                <a:latin typeface="Arial"/>
                <a:ea typeface="DejaVu Sans"/>
              </a:defRPr>
            </a:pPr>
          </a:p>
        </c:txPr>
        <c:crossAx val="84577344"/>
        <c:crosses val="autoZero"/>
        <c:crossBetween val="between"/>
        <c:majorUnit val="2"/>
      </c:valAx>
      <c:spPr>
        <a:noFill/>
        <a:ln w="0">
          <a:noFill/>
        </a:ln>
      </c:spPr>
    </c:plotArea>
    <c:plotVisOnly val="1"/>
    <c:dispBlanksAs val="span"/>
  </c:chart>
  <c:spPr>
    <a:solidFill>
      <a:srgbClr val="1A1A1A"/>
    </a:solid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colors2.xml><?xml version="1.0" encoding="utf-8"?>
<cs:colorStyle xmlns:cs="http://schemas.microsoft.com/office/drawing/2012/chartStyle" xmlns:a="http://schemas.openxmlformats.org/drawingml/2006/main" meth="cycle" id="10">
  <a:schemeClr val="accent1"/>
</cs:colorStyle>
</file>

<file path=ppt/charts/colors3.xml><?xml version="1.0" encoding="utf-8"?>
<cs:colorStyle xmlns:cs="http://schemas.microsoft.com/office/drawing/2012/chartStyle" xmlns:a="http://schemas.openxmlformats.org/drawingml/2006/main" meth="cycle" id="10">
  <a:schemeClr val="accent1"/>
</cs:colorStyle>
</file>

<file path=ppt/charts/colors4.xml><?xml version="1.0" encoding="utf-8"?>
<cs:colorStyle xmlns:cs="http://schemas.microsoft.com/office/drawing/2012/chartStyle" xmlns:a="http://schemas.openxmlformats.org/drawingml/2006/main" meth="cycle" id="10">
  <a:schemeClr val="accent1"/>
</cs:colorStyle>
</file>

<file path=ppt/charts/colors5.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2.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3.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4.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charts/style5.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a:r>
              <a:rPr lang="de-DE" sz="4400" b="0" u="none" strike="noStrike">
                <a:solidFill>
                  <a:srgbClr val="000000"/>
                </a:solidFill>
                <a:effectLst/>
                <a:uFillTx/>
                <a:latin typeface="Arial"/>
              </a:rPr>
              <a:t>Folie mittels Klicken verschieben</a:t>
            </a:r>
            <a:endParaRPr lang="de-DE" sz="4400" b="0" u="none" strike="noStrike">
              <a:solidFill>
                <a:srgbClr val="000000"/>
              </a:solidFill>
              <a:effectLst/>
              <a:uFillTx/>
              <a:latin typeface="Arial"/>
            </a:endParaRPr>
          </a:p>
        </p:txBody>
      </p:sp>
      <p:sp>
        <p:nvSpPr>
          <p:cNvPr id="1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de-DE" sz="2000" b="0" u="none" strike="noStrike">
                <a:solidFill>
                  <a:srgbClr val="000000"/>
                </a:solidFill>
                <a:effectLst/>
                <a:uFillTx/>
                <a:latin typeface="Arial"/>
              </a:rPr>
              <a:t>Format der Notizen mittels Klicken bearbeiten</a:t>
            </a:r>
            <a:endParaRPr lang="de-DE" sz="2000" b="0" u="none" strike="noStrike">
              <a:solidFill>
                <a:srgbClr val="000000"/>
              </a:solidFill>
              <a:effectLst/>
              <a:uFillTx/>
              <a:latin typeface="Arial"/>
            </a:endParaRPr>
          </a:p>
        </p:txBody>
      </p:sp>
      <p:sp>
        <p:nvSpPr>
          <p:cNvPr id="1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14"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15"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 </a:t>
            </a:r>
            <a:endParaRPr lang="de-DE" sz="1400" b="0" u="none" strike="noStrike">
              <a:solidFill>
                <a:srgbClr val="000000"/>
              </a:solidFill>
              <a:effectLst/>
              <a:uFillTx/>
              <a:latin typeface="Times New Roman"/>
            </a:endParaRPr>
          </a:p>
        </p:txBody>
      </p:sp>
      <p:sp>
        <p:nvSpPr>
          <p:cNvPr id="16"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AEE6B445-880A-40EF-BDC5-46BE8E26EA38}" type="slidenum">
              <a:rPr lang="de-DE" sz="1400" b="0" u="none" strike="noStrike">
                <a:solidFill>
                  <a:srgbClr val="000000"/>
                </a:solidFill>
                <a:effectLst/>
                <a:uFillTx/>
                <a:latin typeface="Times New Roman"/>
              </a:rPr>
              <a:t>1</a:t>
            </a:fld>
            <a:endParaRPr lang="de-DE"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720000" y="900000"/>
            <a:ext cx="6118920" cy="3440520"/>
          </a:xfrm>
          <a:prstGeom prst="rect">
            <a:avLst/>
          </a:prstGeom>
          <a:ln w="0">
            <a:noFill/>
          </a:ln>
        </p:spPr>
      </p:sp>
      <p:sp>
        <p:nvSpPr>
          <p:cNvPr id="336"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indent="0" algn="l">
              <a:lnSpc>
                <a:spcPct val="100000"/>
              </a:lnSpc>
              <a:buNone/>
              <a:tabLst>
                <a:tab pos="0" algn="l"/>
              </a:tabLst>
            </a:pPr>
            <a:r>
              <a:rPr lang="de-DE" sz="1800" b="0" u="none" strike="noStrike">
                <a:solidFill>
                  <a:srgbClr val="000000"/>
                </a:solidFill>
                <a:effectLst/>
                <a:uFillTx/>
                <a:latin typeface="Arial"/>
              </a:rPr>
              <a:t>Test das sind meine notizer.</a:t>
            </a:r>
            <a:endParaRPr lang="de-DE" sz="1800" b="0" u="none" strike="noStrike">
              <a:solidFill>
                <a:srgbClr val="000000"/>
              </a:solidFill>
              <a:effectLst/>
              <a:uFillTx/>
              <a:latin typeface="Arial"/>
            </a:endParaRPr>
          </a:p>
          <a:p>
            <a:pPr indent="0" algn="l">
              <a:lnSpc>
                <a:spcPct val="100000"/>
              </a:lnSpc>
              <a:buNone/>
              <a:tabLst>
                <a:tab pos="0" algn="l"/>
              </a:tabLst>
            </a:pPr>
            <a:r>
              <a:rPr lang="de-DE" sz="1800" b="0" u="none" strike="noStrike">
                <a:solidFill>
                  <a:srgbClr val="000000"/>
                </a:solidFill>
                <a:effectLst/>
                <a:uFillTx/>
                <a:latin typeface="Arial"/>
              </a:rPr>
              <a:t>Nächste zeile.</a:t>
            </a:r>
            <a:endParaRPr lang="de-DE" sz="1800" b="0" u="none" strike="noStrike">
              <a:solidFill>
                <a:srgbClr val="000000"/>
              </a:solidFill>
              <a:effectLst/>
              <a:uFillTx/>
              <a:latin typeface="Arial"/>
            </a:endParaRPr>
          </a:p>
          <a:p>
            <a:pPr indent="0" algn="l">
              <a:lnSpc>
                <a:spcPct val="100000"/>
              </a:lnSpc>
              <a:buNone/>
              <a:tabLst>
                <a:tab pos="0" algn="l"/>
              </a:tabLst>
            </a:pPr>
            <a:endParaRPr lang="de-DE" sz="1800" b="0" u="none" strike="noStrike">
              <a:solidFill>
                <a:srgbClr val="000000"/>
              </a:solidFill>
              <a:effectLst/>
              <a:uFillTx/>
              <a:latin typeface="Arial"/>
            </a:endParaRPr>
          </a:p>
          <a:p>
            <a:pPr indent="0" algn="l">
              <a:lnSpc>
                <a:spcPct val="100000"/>
              </a:lnSpc>
              <a:buNone/>
              <a:tabLst>
                <a:tab pos="0" algn="l"/>
              </a:tabLst>
            </a:pPr>
            <a:r>
              <a:rPr lang="de-DE" sz="1800" b="0" u="none" strike="noStrike">
                <a:solidFill>
                  <a:srgbClr val="000000"/>
                </a:solidFill>
                <a:effectLst/>
                <a:uFillTx/>
                <a:latin typeface="Arial"/>
              </a:rPr>
              <a:t>HALLOO</a:t>
            </a:r>
            <a:endParaRPr lang="de-DE" sz="1800" b="0" u="none" strike="noStrike">
              <a:solidFill>
                <a:srgbClr val="000000"/>
              </a:solidFill>
              <a:effectLst/>
              <a:uFillTx/>
              <a:latin typeface="Arial"/>
            </a:endParaRPr>
          </a:p>
        </p:txBody>
      </p:sp>
      <p:sp>
        <p:nvSpPr>
          <p:cNvPr id="337" name="PlaceHolder 3"/>
          <p:cNvSpPr>
            <a:spLocks noGrp="1"/>
          </p:cNvSpPr>
          <p:nvPr>
            <p:ph type="sldNum" idx="4"/>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51FEA63E-21E5-43A4-ABEA-EA015914484B}" type="slidenum">
              <a:rPr lang="en-US" sz="1800" b="0" u="none" strike="noStrike">
                <a:solidFill>
                  <a:schemeClr val="dk1"/>
                </a:solidFill>
                <a:effectLst/>
                <a:uFillTx/>
                <a:latin typeface="+mn-lt"/>
                <a:ea typeface="+mn-ea"/>
              </a:rPr>
              <a:t>1</a:t>
            </a:fld>
            <a:endParaRPr lang="de-DE"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720000" y="900000"/>
            <a:ext cx="6118920" cy="3440520"/>
          </a:xfrm>
          <a:prstGeom prst="rect">
            <a:avLst/>
          </a:prstGeom>
          <a:ln w="0">
            <a:noFill/>
          </a:ln>
        </p:spPr>
      </p:sp>
      <p:sp>
        <p:nvSpPr>
          <p:cNvPr id="339" name="PlaceHolder 2"/>
          <p:cNvSpPr>
            <a:spLocks noGrp="1"/>
          </p:cNvSpPr>
          <p:nvPr>
            <p:ph type="sldNum" idx="5"/>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11390EF3-7F4C-4CE9-89DB-D46C742CC31E}" type="slidenum">
              <a:rPr lang="en-US" sz="1800" b="0" u="none" strike="noStrike">
                <a:solidFill>
                  <a:schemeClr val="dk1"/>
                </a:solidFill>
                <a:effectLst/>
                <a:uFillTx/>
                <a:latin typeface="+mn-lt"/>
                <a:ea typeface="+mn-ea"/>
              </a:rPr>
              <a:t>1</a:t>
            </a:fld>
            <a:endParaRPr lang="de-DE" sz="1800" b="0" u="none" strike="noStrike">
              <a:solidFill>
                <a:srgbClr val="000000"/>
              </a:solidFill>
              <a:effectLst/>
              <a:uFillTx/>
              <a:latin typeface="Times New Roman"/>
            </a:endParaRPr>
          </a:p>
        </p:txBody>
      </p:sp>
      <p:sp>
        <p:nvSpPr>
          <p:cNvPr id="340"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Stellt euch vor, ihr sitzt beim Arzt.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Ihr erzählt von eurem Problem — aber der Arzt schaut euch gar nicht an.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Er tippt. Ihr erzählt weiter — er tippt. Ihr seid fertig — er tippt noch.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Das Gespräch dauert zehn Minuten, die Dokumentation danach zwanzig.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Und weil er so beschäftigt ist, hat er euch nicht mal gefragt, seit wann die Beschwerden schon da sind.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Genau hier setzt unser Projekt an.</a:t>
            </a:r>
            <a:endParaRPr lang="de-DE" sz="1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720000" y="900000"/>
            <a:ext cx="6118920" cy="3440520"/>
          </a:xfrm>
          <a:prstGeom prst="rect">
            <a:avLst/>
          </a:prstGeom>
          <a:ln w="0">
            <a:noFill/>
          </a:ln>
        </p:spPr>
      </p:sp>
      <p:sp>
        <p:nvSpPr>
          <p:cNvPr id="342" name="PlaceHolder 2"/>
          <p:cNvSpPr>
            <a:spLocks noGrp="1"/>
          </p:cNvSpPr>
          <p:nvPr>
            <p:ph type="sldNum" idx="6"/>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5EA94B83-3CD9-4602-BBE7-C7070A2AF624}" type="slidenum">
              <a:rPr lang="en-US" sz="1800" b="0" u="none" strike="noStrike">
                <a:solidFill>
                  <a:schemeClr val="dk1"/>
                </a:solidFill>
                <a:effectLst/>
                <a:uFillTx/>
                <a:latin typeface="+mn-lt"/>
                <a:ea typeface="+mn-ea"/>
              </a:rPr>
              <a:t>1</a:t>
            </a:fld>
            <a:endParaRPr lang="de-DE" sz="1800" b="0" u="none" strike="noStrike">
              <a:solidFill>
                <a:srgbClr val="000000"/>
              </a:solidFill>
              <a:effectLst/>
              <a:uFillTx/>
              <a:latin typeface="Times New Roman"/>
            </a:endParaRPr>
          </a:p>
        </p:txBody>
      </p:sp>
      <p:sp>
        <p:nvSpPr>
          <p:cNvPr id="343"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Zwei Stunden. Jeden Tag. Pro Arzt.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Das ist mehr Zeit am Bildschirm als am Patienten.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Laut einer Studie aus den Annals of Internal Medicine verbringen Ärzte für jede Stunde direkte Patientenzeit etwa zwei Stunden mit Dokumentation in der elektronischen Patientenakte.</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Und das hat Folgen: 49 Prozent der Ärzte berichten von Burnout-Symptomen — und die Nummer eins unter den Ursachen ist nicht etwa der Patientenkontakt, sondern die administrative Last die damit einhergeht.</a:t>
            </a:r>
            <a:endParaRPr lang="de-DE" sz="10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720000" y="900000"/>
            <a:ext cx="6118920" cy="3440520"/>
          </a:xfrm>
          <a:prstGeom prst="rect">
            <a:avLst/>
          </a:prstGeom>
          <a:ln w="0">
            <a:noFill/>
          </a:ln>
        </p:spPr>
      </p:sp>
      <p:sp>
        <p:nvSpPr>
          <p:cNvPr id="345" name="PlaceHolder 2"/>
          <p:cNvSpPr>
            <a:spLocks noGrp="1"/>
          </p:cNvSpPr>
          <p:nvPr>
            <p:ph type="sldNum" idx="7"/>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354B1202-FF57-45C2-BE00-313390055F5A}" type="slidenum">
              <a:rPr lang="en-US" sz="1800" b="0" u="none" strike="noStrike">
                <a:solidFill>
                  <a:schemeClr val="dk1"/>
                </a:solidFill>
                <a:effectLst/>
                <a:uFillTx/>
                <a:latin typeface="+mn-lt"/>
                <a:ea typeface="+mn-ea"/>
              </a:rPr>
              <a:t>1</a:t>
            </a:fld>
            <a:endParaRPr lang="de-DE" sz="1800" b="0" u="none" strike="noStrike">
              <a:solidFill>
                <a:srgbClr val="000000"/>
              </a:solidFill>
              <a:effectLst/>
              <a:uFillTx/>
              <a:latin typeface="Times New Roman"/>
            </a:endParaRPr>
          </a:p>
        </p:txBody>
      </p:sp>
      <p:sp>
        <p:nvSpPr>
          <p:cNvPr id="346"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Unsere Forschungsfrage war: Kann eine KI ein Arzt-Patienten-Gespräch mithören und daraus automatisch eine brauchbare medizinische Dokumentation erzeugen?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Brauchbar klingt dabei einfach — aber dahinter stecken im Kern drei Anforderungen, die sich gegenseitig in die Quere kommen können.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Die Fakten müssen stimmen.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Das Format muss passen.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Und das System darf sich nichts ausdenken, was nie gesagt wurde. Alle drei gleichzeitig zu erfüllen — das ist die eigentliche Herausforderung.</a:t>
            </a:r>
            <a:endParaRPr lang="de-DE" sz="10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720000" y="900000"/>
            <a:ext cx="6118920" cy="3440520"/>
          </a:xfrm>
          <a:prstGeom prst="rect">
            <a:avLst/>
          </a:prstGeom>
          <a:ln w="0">
            <a:noFill/>
          </a:ln>
        </p:spPr>
      </p:sp>
      <p:sp>
        <p:nvSpPr>
          <p:cNvPr id="348" name="PlaceHolder 2"/>
          <p:cNvSpPr>
            <a:spLocks noGrp="1"/>
          </p:cNvSpPr>
          <p:nvPr>
            <p:ph type="sldNum" idx="8"/>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03C58D09-9BF8-4138-90AE-9533A85C3F9C}" type="slidenum">
              <a:rPr lang="en-US" sz="1800" b="0" u="none" strike="noStrike">
                <a:solidFill>
                  <a:schemeClr val="dk1"/>
                </a:solidFill>
                <a:effectLst/>
                <a:uFillTx/>
                <a:latin typeface="+mn-lt"/>
                <a:ea typeface="+mn-ea"/>
              </a:rPr>
              <a:t>1</a:t>
            </a:fld>
            <a:endParaRPr lang="de-DE" sz="1800" b="0" u="none" strike="noStrike">
              <a:solidFill>
                <a:srgbClr val="000000"/>
              </a:solidFill>
              <a:effectLst/>
              <a:uFillTx/>
              <a:latin typeface="Times New Roman"/>
            </a:endParaRPr>
          </a:p>
        </p:txBody>
      </p:sp>
      <p:sp>
        <p:nvSpPr>
          <p:cNvPr id="349"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Unsere Pipeline, um das ganze umzusetzen, hat vier Stufen.</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Erstens: Audio Capture. Das Gespräch wird aufgenommen — ganz klassisch als Audiodatei.</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Zweitens: STT. Also Speech-to-Text, das ist die Technologie, die gesprochene Sprache in geschriebenen Text umwandelt.</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Hier passiert auch die Diarisierung, also die Zuordnung, welcher Sprecher im Gespräch was gesagt hat.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Das STT-Modell gibt uns so etwas wie „SPEAKER_A sagt dies, SPEAKER_B sagt das".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Drittens: Format LLM. Ein LLM — ein Large Language Model — ersetzt diese anonymen Speaker-Labels durch echte Bezeichnungen: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Bspw. wird SPEAKER_A durch "Arzt" ersetzt und SPEAKER_B durch "Frau Klein".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Ansonsten ändert es nichts am Text.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Viertens: SOAP LLM. SOAP LLM. Dasselbe LLM generiert aus dem formatierten Transkript die strukturierte SOAP-Zusammenfassung. Auf SOAP gehen wir später noch genauer ein.</a:t>
            </a:r>
            <a:endParaRPr lang="de-DE" sz="1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720000" y="900000"/>
            <a:ext cx="6118920" cy="3440520"/>
          </a:xfrm>
          <a:prstGeom prst="rect">
            <a:avLst/>
          </a:prstGeom>
          <a:ln w="0">
            <a:noFill/>
          </a:ln>
        </p:spPr>
      </p:sp>
      <p:sp>
        <p:nvSpPr>
          <p:cNvPr id="351" name="PlaceHolder 2"/>
          <p:cNvSpPr>
            <a:spLocks noGrp="1"/>
          </p:cNvSpPr>
          <p:nvPr>
            <p:ph type="sldNum" idx="9"/>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C2073457-D7EE-4C1E-982B-CD91601EE5E7}"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
        <p:nvSpPr>
          <p:cNvPr id="352"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Welche Modelle haben wir getestet?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Bei Speech-to-Text haben wir drei verschiedene Modelle gewählt: AssemblyAI und Speechmatics als Cloud-Dienste, und Whisper turbo von OpenAI als lokales Modell.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Whisper ist Open Source und läuft auf eigener Hardware.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1" u="none" strike="noStrike">
                <a:solidFill>
                  <a:srgbClr val="000000"/>
                </a:solidFill>
                <a:effectLst/>
                <a:uFillTx/>
                <a:latin typeface="Arial"/>
              </a:rPr>
              <a:t>- </a:t>
            </a:r>
            <a:r>
              <a:rPr lang="en-US" sz="1000" b="0" u="none" strike="noStrike">
                <a:solidFill>
                  <a:srgbClr val="000000"/>
                </a:solidFill>
                <a:effectLst/>
                <a:uFillTx/>
                <a:latin typeface="Arial"/>
              </a:rPr>
              <a:t>Es gibt auch Whisper large-v3, das größere Modell — aber das war für uns nicht nur wegen der Hardware unrealistisch, sondern auch wegen der Geschwindigkeit. Whisper turbo ist ein optimierter Kompromiss aus Qualität und Geschwindigkeit.</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Bei den LLMs haben wir uns für GPT-4o als Cloud-Variante entschieden, und folgende drei lokale Modelle — SauerkrautLM, Llama und Gemma, alle haben zwischen 3 und 8 Milliarden Parametern.</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SauerkrautLM ist ein auf Deutsch feingetuntes Modell, was für medizinische Gespräche auf Deutsch besonders relevant ist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Daraus ergeben sich die folgenden fünf Kombinationen.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Da stellt man sich natürlich direkt die Frage: Warum nicht Cloud-STT mit lokalem LLM oder umgekehrt kombinieren?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Wenn die Audiodaten eh schon in der Cloud sind, macht es wenig Sinn, das LLM dann lokal laufen zu lassen. Und wenn man lokal bleiben will wegen Datenschutz, dann muss logischerweise die ganze Pipeline lokal sein.</a:t>
            </a:r>
            <a:endParaRPr lang="de-DE" sz="10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720000" y="900000"/>
            <a:ext cx="6118920" cy="3440520"/>
          </a:xfrm>
          <a:prstGeom prst="rect">
            <a:avLst/>
          </a:prstGeom>
          <a:ln w="0">
            <a:noFill/>
          </a:ln>
        </p:spPr>
      </p:sp>
      <p:sp>
        <p:nvSpPr>
          <p:cNvPr id="354" name="PlaceHolder 2"/>
          <p:cNvSpPr>
            <a:spLocks noGrp="1"/>
          </p:cNvSpPr>
          <p:nvPr>
            <p:ph type="sldNum" idx="10"/>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A839A3FE-1CA9-463D-8315-7AE197259FE2}"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
        <p:nvSpPr>
          <p:cNvPr id="355"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Links seht ihr unser Setup: Ein AMD-Laptop mit 16 GB RAM.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Bewusst kein High-End, sondern das, was realistisch auf jedem Arztschreibtisch stehen könnte.</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Für Whisper turbo und lokale KI-Modelle reicht das – knapp, aber es läuft.</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Rechts seht ihr, was wir gerne getestet hätten: Whisper large-v3 und zb SauerkrautLM 70B.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Bessere Hardware würde höchstwahrscheinlich zu deutlich besseren vollkommen lokalen Ergebnissen führen.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Wir haben tatsächlich versucht in Kooperation mit PwC eine AWS-Instanz mit entsprechend starker GPU zu bekommen, um bessere lokale Varianten zu evaluieren — zunächst haben uns technische Probleme aufgehalten, und als die gelöst waren, war der Zeitrahmen zu knapp.</a:t>
            </a:r>
            <a:endParaRPr lang="de-DE" sz="10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720000" y="900000"/>
            <a:ext cx="6118920" cy="3440520"/>
          </a:xfrm>
          <a:prstGeom prst="rect">
            <a:avLst/>
          </a:prstGeom>
          <a:ln w="0">
            <a:noFill/>
          </a:ln>
        </p:spPr>
      </p:sp>
      <p:sp>
        <p:nvSpPr>
          <p:cNvPr id="357" name="PlaceHolder 2"/>
          <p:cNvSpPr>
            <a:spLocks noGrp="1"/>
          </p:cNvSpPr>
          <p:nvPr>
            <p:ph type="sldNum" idx="11"/>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F19E5432-694C-426C-94A9-DAD9E4AD9DA1}"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
        <p:nvSpPr>
          <p:cNvPr id="358"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Wir haben elf Szenarien entworfen und diese bewusst in vier Schwierigkeitsstufen aufgeteilt.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Die Standardszenarien sind saubere Aufnahmen — einmal mit guter Mikrofon Hardware das Original und zweimal mit dem Laptop als Mikrofon — einmal mittig zwischen Arzt und Patient und einmal direkt vor dem Arzt.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Ab der zweiten Stufe wird es schwieriger: Einmal mit starken Hintergrundgeräuschen, dann mit Patienten die sich selbst korrigieren und noch mit häufigen Unterbrechungen zwischen Arzt und Patient.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In den komplexen Szenarien springt der Patient zwischen Themen hin und her, der Arzt revidiert seine Einschätzung mitten im Gespräch, und im Chaos-Szenario kommt alles zusammen.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Die letzte Stufe sind echte Aufnahmen — ein 19-minütiges Anamnesegespräch und eine Physiotherapie-Sitzung bereitgestellt von PwC.</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Alle Ground Truths haben wir manuell erstellt, mit Versprechern, Füllwörtern und Wiederholungen. Denn echtes Sprechen ist nicht sauber — und genau das wollten wir testen.</a:t>
            </a:r>
            <a:endParaRPr lang="de-DE" sz="1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720000" y="900000"/>
            <a:ext cx="6118920" cy="3440520"/>
          </a:xfrm>
          <a:prstGeom prst="rect">
            <a:avLst/>
          </a:prstGeom>
          <a:ln w="0">
            <a:noFill/>
          </a:ln>
        </p:spPr>
      </p:sp>
      <p:sp>
        <p:nvSpPr>
          <p:cNvPr id="360" name="PlaceHolder 2"/>
          <p:cNvSpPr>
            <a:spLocks noGrp="1"/>
          </p:cNvSpPr>
          <p:nvPr>
            <p:ph type="sldNum" idx="12"/>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80C23B1A-0CA9-4163-8E9C-3F2F624DC116}"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
        <p:nvSpPr>
          <p:cNvPr id="361"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Wir bewerten die Outputs der verschiedenen Kombinationen auf drei Achsen, unabhängig voneinander.</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Die erste ist die Word Error Rate — wie genau ist die Transkription? Dafür vergleichen wir den STT-Output mit unserer manuell erstellten Ground Truth und zählen Einfügungen, Löschungen und Ersetzungen.</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Die zweite Achse ist LLM Fidelity: Hat das Modell beim Formatieren etwas verändert, das es nicht hätte verändern sollen? Wir vergleichen den rohen STT-Output mit dem formatierten Ergebnis der LLM — alles, was sich über die Speaker-Label-Änderungen hinaus verändert hat, zählt als Fehler.</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Die dritte Achse ist die SOAP Qualität, also ob die fertige Zusammenfassung medizinisch brauchbar ist. Hier haben wir Claude als automatisierten Bewerter eingesetzt.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Per Skript wäre das nicht möglich gewesen — wir prüfen nämlich nicht Wort für Wort, sondern ob der Inhalt des Transkripts sinngemäß in der SOAP-Zusammenfassung landet. Das ist eine semantische Aufgabe, keine regelbasierte.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Und manuell? Das wären bei 11 Gesprächen und 5 getesteter Modell-Kombinationen 55 Durchläufe, mit vier SOAP-Sektionen jeweils — das wären 220 Einzelbewertungen, im Zeitrahmen den wir haben schlicht nicht realistisch.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Claude bewertet konsistent mit einem dokumentierten und detaillierten Prompt. Und ein weiterer Grund, warum Claude gut geeignet ist: Claude war kein Teil unserer Pipeline — damit gibt es keinen Self-Evaluation-Bias. Hätten wir z.B. GPT-4o als Bewerter genutzt, hätte es möglicherweise seine eigenen Outputs bevorzugt.</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rPr>
              <a:t>- Eine Regel gilt dabei absolut: Jede halluzinierte Diagnose oder Therapie gibt null Punkte. Wenn der Plan nicht im Gespräch stand, darf er nicht in der SOAP-Zusammenfassung stehen.</a:t>
            </a:r>
            <a:endParaRPr lang="de-DE" sz="10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720000" y="900000"/>
            <a:ext cx="6118920" cy="3440520"/>
          </a:xfrm>
          <a:prstGeom prst="rect">
            <a:avLst/>
          </a:prstGeom>
          <a:ln w="0">
            <a:noFill/>
          </a:ln>
        </p:spPr>
      </p:sp>
      <p:sp>
        <p:nvSpPr>
          <p:cNvPr id="363" name="PlaceHolder 2"/>
          <p:cNvSpPr>
            <a:spLocks noGrp="1"/>
          </p:cNvSpPr>
          <p:nvPr>
            <p:ph type="sldNum" idx="13"/>
          </p:nvPr>
        </p:nvSpPr>
        <p:spPr>
          <a:xfrm>
            <a:off x="5940000" y="10080000"/>
            <a:ext cx="898920" cy="358920"/>
          </a:xfrm>
          <a:prstGeom prst="rect">
            <a:avLst/>
          </a:prstGeom>
          <a:noFill/>
          <a:ln w="0">
            <a:noFill/>
          </a:ln>
        </p:spPr>
        <p:txBody>
          <a:bodyPr lIns="90000" tIns="45000" rIns="90000" bIns="45000" anchor="t">
            <a:noAutofit/>
          </a:bodyPr>
          <a:lstStyle>
            <a:lvl1pPr indent="0" algn="r">
              <a:lnSpc>
                <a:spcPct val="100000"/>
              </a:lnSpc>
              <a:buNone/>
              <a:tabLst>
                <a:tab pos="0" algn="l"/>
              </a:tabLst>
              <a:defRPr lang="de-DE" sz="1200" b="0" u="none" strike="noStrike">
                <a:solidFill>
                  <a:srgbClr val="000000"/>
                </a:solidFill>
                <a:effectLst/>
                <a:uFillTx/>
                <a:latin typeface="Times New Roman"/>
              </a:defRPr>
            </a:lvl1pPr>
          </a:lstStyle>
          <a:p>
            <a:pPr indent="0" algn="r">
              <a:lnSpc>
                <a:spcPct val="100000"/>
              </a:lnSpc>
              <a:buNone/>
              <a:tabLst>
                <a:tab pos="0" algn="l"/>
              </a:tabLst>
            </a:pPr>
            <a:fld id="{98E7DA4E-DDBC-49BF-B3AD-1CF1C11C53FE}" type="slidenum">
              <a:rPr lang="de-DE" sz="1200" b="0" u="none" strike="noStrike">
                <a:solidFill>
                  <a:srgbClr val="000000"/>
                </a:solidFill>
                <a:effectLst/>
                <a:uFillTx/>
                <a:latin typeface="Times New Roman"/>
              </a:rPr>
              <a:t>&lt;Foliennummer&gt;</a:t>
            </a:fld>
            <a:endParaRPr lang="de-DE" sz="1200" b="0" u="none" strike="noStrike">
              <a:solidFill>
                <a:srgbClr val="000000"/>
              </a:solidFill>
              <a:effectLst/>
              <a:uFillTx/>
              <a:latin typeface="Times New Roman"/>
            </a:endParaRPr>
          </a:p>
        </p:txBody>
      </p:sp>
      <p:sp>
        <p:nvSpPr>
          <p:cNvPr id="364" name="PlaceHolder 3"/>
          <p:cNvSpPr>
            <a:spLocks noGrp="1"/>
          </p:cNvSpPr>
          <p:nvPr>
            <p:ph type="body"/>
          </p:nvPr>
        </p:nvSpPr>
        <p:spPr>
          <a:xfrm>
            <a:off x="720000" y="4680000"/>
            <a:ext cx="6118920" cy="5038920"/>
          </a:xfrm>
          <a:prstGeom prst="rect">
            <a:avLst/>
          </a:prstGeom>
          <a:noFill/>
          <a:ln w="0">
            <a:noFill/>
          </a:ln>
        </p:spPr>
        <p:txBody>
          <a:bodyPr lIns="0" tIns="0" rIns="0" bIns="0" anchor="t">
            <a:noAutofit/>
          </a:bodyPr>
          <a:p>
            <a:pPr indent="0" algn="l">
              <a:lnSpc>
                <a:spcPct val="100000"/>
              </a:lnSpc>
              <a:buNone/>
              <a:tabLst>
                <a:tab pos="0" algn="l"/>
              </a:tabLst>
            </a:pPr>
            <a:r>
              <a:rPr lang="en-US" sz="1000" b="0" u="none" strike="noStrike">
                <a:solidFill>
                  <a:srgbClr val="000000"/>
                </a:solidFill>
                <a:effectLst/>
                <a:uFillTx/>
                <a:latin typeface="Arial"/>
              </a:rPr>
              <a:t>- SOAP steht für vier Sektionen.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ea typeface="Noto Sans CJK SC"/>
              </a:rPr>
              <a:t>- Subjective erfasst, was der Patient selbst schildert — Beschwerden, Symptome, eigene Worte.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ea typeface="Noto Sans CJK SC"/>
              </a:rPr>
              <a:t>- Objective ist das, was der Arzt beobachtet, also Befunde und Vitalwerte.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ea typeface="Noto Sans CJK SC"/>
              </a:rPr>
              <a:t>- Assessment ist die Diagnose des Arztes, und</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ea typeface="Noto Sans CJK SC"/>
              </a:rPr>
              <a:t>- Plan beschreibt die nächsten Schritte — Therapie, Überweisung, Medikation. </a:t>
            </a:r>
            <a:endParaRPr lang="de-DE" sz="1000" b="0" u="none" strike="noStrike">
              <a:solidFill>
                <a:srgbClr val="000000"/>
              </a:solidFill>
              <a:effectLst/>
              <a:uFillTx/>
              <a:latin typeface="Arial"/>
            </a:endParaRPr>
          </a:p>
          <a:p>
            <a:pPr indent="0" algn="l">
              <a:lnSpc>
                <a:spcPct val="100000"/>
              </a:lnSpc>
              <a:buNone/>
              <a:tabLst>
                <a:tab pos="0" algn="l"/>
              </a:tabLst>
            </a:pPr>
            <a:r>
              <a:rPr lang="en-US" sz="1000" b="0" u="none" strike="noStrike">
                <a:solidFill>
                  <a:srgbClr val="000000"/>
                </a:solidFill>
                <a:effectLst/>
                <a:uFillTx/>
                <a:latin typeface="Arial"/>
                <a:ea typeface="Noto Sans CJK SC"/>
              </a:rPr>
              <a:t>- Jede dieser vier Sektionen haben wir auf einer Skala von null bis zwei bewertet, insgesamt also maximal acht Punkte.</a:t>
            </a:r>
            <a:endParaRPr lang="de-DE" sz="1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720000" y="900000"/>
            <a:ext cx="6118920" cy="3440520"/>
          </a:xfrm>
          <a:prstGeom prst="rect">
            <a:avLst/>
          </a:prstGeom>
          <a:ln w="0">
            <a:noFill/>
          </a:ln>
        </p:spPr>
      </p:sp>
      <p:sp>
        <p:nvSpPr>
          <p:cNvPr id="366"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Bevor wir die Zahlen anschauen — sehen wir uns einmal die Pipeline live an und das anhand des Szenarios: Mind-change, bei dem Frau Hoffmann mit Brustschmerzen in die Praxis kommt und der Arzt zunächst ein Herzproblem vermutet. Erst im weiteren Gespräch erkennt er, dass es sich doch nur um ein einfaches Sodbrennen handelt.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Wir lassen das Szenario mit AssemblyAI und GPT-4o laufen und die Aufnahme ist zwar mit 70 Sekunden sehr kurz aber für unseren Proof of Concept reicht das vollkommen.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Wir werden nicht genauer auf die Texte eingehen.</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Wie wir sehen können, hat das STT den Text für die Audio erstellt und auch die Sprecher korrekt erkannt.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Die LLM hat dann die Speaker-Labels korrekt durch „Arzt" und „Frau Hoffmann" ersetzt — sonst nichts verändert.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Und jetzt zum eigentlich spannenden Teil, die SOAP-Zusammenfassung.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Im Subjective sehen wir die Beschwerden der Patientin: (Beschwerden kurz vorlesen)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Im Objective steht — korrekt — dass keine Befunde dokumentiert wurden, das Gespräch hat keine Untersuchung beinhaltet.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Im Assessment steht Reflux (Sodbrennen), nicht Angina.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Das Modell hat den Meinungswechsel korrekt nachvollzogen.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Und jetzt der Plan. (einige Stichpunkte vorlesen).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Das klingt alles medizinisch plausibel — und genau das ist das Problem. Nichts davon wurde im Gespräch erwähnt. Das Modell hat sich das alles ausgedacht. Und weil es so plausibel klingt, fällt es möglicherweise im Alltag gar nicht auf.</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Und ich denke, keiner von uns will, dass wir wegen einem halluzinierten Therapievorschlag Auf einmal Antibiotika nehmen sollen,</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obwohl wir nur eine leichte Erkältung haben.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Ob das ein Einzelfall war oder öfter passiert schauen wir uns jetzt an. </a:t>
            </a:r>
            <a:endParaRPr lang="de-DE" sz="1800" b="0" u="none" strike="noStrike">
              <a:solidFill>
                <a:srgbClr val="000000"/>
              </a:solidFill>
              <a:effectLst/>
              <a:uFillTx/>
              <a:latin typeface="Arial"/>
            </a:endParaRPr>
          </a:p>
        </p:txBody>
      </p:sp>
      <p:sp>
        <p:nvSpPr>
          <p:cNvPr id="367" name="PlaceHolder 3"/>
          <p:cNvSpPr>
            <a:spLocks noGrp="1"/>
          </p:cNvSpPr>
          <p:nvPr>
            <p:ph type="sldNum" idx="14"/>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B1146076-C9F1-4774-89F2-25DCBF83DFD6}"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720000" y="900000"/>
            <a:ext cx="6118920" cy="3440520"/>
          </a:xfrm>
          <a:prstGeom prst="rect">
            <a:avLst/>
          </a:prstGeom>
          <a:ln w="0">
            <a:noFill/>
          </a:ln>
        </p:spPr>
      </p:sp>
      <p:sp>
        <p:nvSpPr>
          <p:cNvPr id="369"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Schauen wir uns zuerst die erste Stufe der Pipeline an, also das STT und die Transkriptionsqualität. Whisper hat im Schnitt 13,5 Prozent aller Wörter falsch transkribiert, Speechmatics bei 11,4 und Assembly bei 8,9. Der Unterschied zwischen lokal und Cloud ist ehrlich gesagt kleiner als man erwarten würde — wir reden von ein paar Prozentpunkten, nicht von einer anderen Größenordnung.</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Ein weiterer spannender Befund steht rechts: Im White-Noise-Szenario brechen </a:t>
            </a:r>
            <a:r>
              <a:rPr lang="de-DE" sz="1800" b="0" i="1" u="none" strike="noStrike">
                <a:solidFill>
                  <a:srgbClr val="000000"/>
                </a:solidFill>
                <a:effectLst/>
                <a:uFillTx/>
                <a:latin typeface="Arial"/>
              </a:rPr>
              <a:t>alle</a:t>
            </a:r>
            <a:r>
              <a:rPr lang="de-DE" sz="1800" b="0" u="none" strike="noStrike">
                <a:solidFill>
                  <a:srgbClr val="000000"/>
                </a:solidFill>
                <a:effectLst/>
                <a:uFillTx/>
                <a:latin typeface="Arial"/>
              </a:rPr>
              <a:t> Modelle ein. Die Cloud Modelle wachsen auf über 30 Prozent, Whisper sogar auf 41 Prozent. Die Lektion: Die Mikrofonqualität setzt die Untergrenze dessen, was die KI überhaupt erreichen kann. Das beste Modell hilft nichts, wenn die Audio schlecht ist.</a:t>
            </a:r>
            <a:endParaRPr lang="de-DE" sz="1800" b="0" u="none" strike="noStrike">
              <a:solidFill>
                <a:srgbClr val="000000"/>
              </a:solidFill>
              <a:effectLst/>
              <a:uFillTx/>
              <a:latin typeface="Arial"/>
            </a:endParaRPr>
          </a:p>
        </p:txBody>
      </p:sp>
      <p:sp>
        <p:nvSpPr>
          <p:cNvPr id="370" name="PlaceHolder 3"/>
          <p:cNvSpPr>
            <a:spLocks noGrp="1"/>
          </p:cNvSpPr>
          <p:nvPr>
            <p:ph type="sldNum" idx="15"/>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8FF466DC-B16C-4439-8FAA-1D56D5EA7421}"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720000" y="900000"/>
            <a:ext cx="6118920" cy="3440520"/>
          </a:xfrm>
          <a:prstGeom prst="rect">
            <a:avLst/>
          </a:prstGeom>
          <a:ln w="0">
            <a:noFill/>
          </a:ln>
        </p:spPr>
      </p:sp>
      <p:sp>
        <p:nvSpPr>
          <p:cNvPr id="372"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Jetzt zur zweiten Stufe der Pipeline.</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Die LLM sollte nur die Lable der Speaker korrekt setzen und mehr nicht. Alle weiteren Änderungen zählen also als fehler welche wir gezählt und gemessen haben.</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Sauerkraut kommt auf fast 20 Prozent Fehlerrate, Llama und Gemma kommen auf circa 14 Prozent. Die lokalen Modelle schreiben um, kürzen, fügen hinzu und im extremfall, fassen sie das gesamte Gespräch zusammen. Sie folgen der Anweisung also nur eingeschränkt.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GPT-4o macht dagegen praktisch keine Fehler. Und was besonders bemerkenswert ist: In einigen Szenarien hat das STT nur einen einzigen Sprecher erkannt, also gar keine Diarisierung geliefert. GPT-4o hat trotzdem beide Sprecher durchgehend korrekt gelabelt — allein aus dem Kontext des Textes heraus.</a:t>
            </a:r>
            <a:endParaRPr lang="de-DE" sz="1800" b="0" u="none" strike="noStrike">
              <a:solidFill>
                <a:srgbClr val="000000"/>
              </a:solidFill>
              <a:effectLst/>
              <a:uFillTx/>
              <a:latin typeface="Arial"/>
            </a:endParaRPr>
          </a:p>
        </p:txBody>
      </p:sp>
      <p:sp>
        <p:nvSpPr>
          <p:cNvPr id="373" name="PlaceHolder 3"/>
          <p:cNvSpPr>
            <a:spLocks noGrp="1"/>
          </p:cNvSpPr>
          <p:nvPr>
            <p:ph type="sldNum" idx="16"/>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08BB0D4D-CF7D-4F76-B219-F9EEB564A54A}"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720000" y="900000"/>
            <a:ext cx="6118920" cy="3440520"/>
          </a:xfrm>
          <a:prstGeom prst="rect">
            <a:avLst/>
          </a:prstGeom>
          <a:ln w="0">
            <a:noFill/>
          </a:ln>
        </p:spPr>
      </p:sp>
      <p:sp>
        <p:nvSpPr>
          <p:cNvPr id="375"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Schauen wir uns einmal eine dieser Zusammenfassungen an, nämlich Das 19-Minuten-Anamnesegespräch. Der Raw STT Output enthält 2.269 Wörter. Nach dem Formatieren durch SauerkrautLM sind nur noch 152 Wörter übrig. Hier wurde also </a:t>
            </a:r>
            <a:r>
              <a:rPr lang="de-DE" sz="1800" b="1" u="none" strike="noStrike">
                <a:solidFill>
                  <a:srgbClr val="000000"/>
                </a:solidFill>
                <a:effectLst/>
                <a:uFillTx/>
                <a:latin typeface="Arial"/>
              </a:rPr>
              <a:t>93 Prozent</a:t>
            </a:r>
            <a:r>
              <a:rPr lang="de-DE" sz="1800" b="0" u="none" strike="noStrike">
                <a:solidFill>
                  <a:srgbClr val="000000"/>
                </a:solidFill>
                <a:effectLst/>
                <a:uFillTx/>
                <a:latin typeface="Arial"/>
              </a:rPr>
              <a:t> des Inhalts still und leise gelöscht.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Und das ist kein Einzelfall. Alle lokalen Modelle haben massive Probleme mit längeren Gesprächen.</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Und 19 Minuten ist wahrscheinlich das Absolute minimum von einem Arzt-Gespräch, in echt sind sie wahrscheilich sogar noch länger.</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Interesanterweise haben alle Modelle, auch GPT, das gleiche Kontextwindow, und dennoch versagen nur die lokalen Modelle.</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Der Graund warum das so ein großes Problem ist, ist dass in der Medizin still gelöschte Information gefährlicher sind als sichtbar falsche.</a:t>
            </a:r>
            <a:endParaRPr lang="de-DE" sz="1800" b="0" u="none" strike="noStrike">
              <a:solidFill>
                <a:srgbClr val="000000"/>
              </a:solidFill>
              <a:effectLst/>
              <a:uFillTx/>
              <a:latin typeface="Arial"/>
            </a:endParaRPr>
          </a:p>
        </p:txBody>
      </p:sp>
      <p:sp>
        <p:nvSpPr>
          <p:cNvPr id="376" name="PlaceHolder 3"/>
          <p:cNvSpPr>
            <a:spLocks noGrp="1"/>
          </p:cNvSpPr>
          <p:nvPr>
            <p:ph type="sldNum" idx="17"/>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8BF6272A-423C-43B1-8ABA-456B9D1A5762}"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720000" y="900000"/>
            <a:ext cx="6118920" cy="3440520"/>
          </a:xfrm>
          <a:prstGeom prst="rect">
            <a:avLst/>
          </a:prstGeom>
          <a:ln w="0">
            <a:noFill/>
          </a:ln>
        </p:spPr>
      </p:sp>
      <p:sp>
        <p:nvSpPr>
          <p:cNvPr id="378"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Am Ende der Pipeline steht die entscheidende Frage — und zwar, ob die  SOAP-Zusammenfassung medizinisch brauchbar ist? Zur Einordnung: Rot liegt bei 0 bis inklusieve 3 Punkten und damit nicht brauchbar, Gelb zwischen 3 und 6 bedeutet überarbeitungsbedürftig, und mehr als 6 wäre akzeptabel.</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Die GPT-4o-Kombinationen landen im gelben Bereich. Gemma und Sauerkraut liegen ebenfalls im gelben Bereich, aber am unteren Ende. Llama fällt als einziges in den roten Bereich.</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Zusätlich kann man rechts in der Tabelle sehen, dass kein einziges der 55 Ergebnisse die Schwelle akzeptabel erreicht — null von 55. Der Plan-Teil ist bei jedem Modell halluziniert. Überall stehen Therapievorschläge, die nie im Gespräch vorkamen.</a:t>
            </a:r>
            <a:endParaRPr lang="de-DE" sz="1800" b="0" u="none" strike="noStrike">
              <a:solidFill>
                <a:srgbClr val="000000"/>
              </a:solidFill>
              <a:effectLst/>
              <a:uFillTx/>
              <a:latin typeface="Arial"/>
            </a:endParaRPr>
          </a:p>
        </p:txBody>
      </p:sp>
      <p:sp>
        <p:nvSpPr>
          <p:cNvPr id="379" name="PlaceHolder 3"/>
          <p:cNvSpPr>
            <a:spLocks noGrp="1"/>
          </p:cNvSpPr>
          <p:nvPr>
            <p:ph type="sldNum" idx="18"/>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9257F1CF-45B8-4E2A-9C71-DCEB28D777ED}"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720000" y="900000"/>
            <a:ext cx="6118920" cy="3440520"/>
          </a:xfrm>
          <a:prstGeom prst="rect">
            <a:avLst/>
          </a:prstGeom>
          <a:ln w="0">
            <a:noFill/>
          </a:ln>
        </p:spPr>
      </p:sp>
      <p:sp>
        <p:nvSpPr>
          <p:cNvPr id="381"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Wenn wir uns auf Gewinner festlegen müssten, wären es einmal AssemblyAI und einmal GPT-4o. AssemblyAI, da sie die niedrigste Fehlerrate bei der Transkription hat und GPT-4o hat null Halluzination beim Formatieren und den beste SOAP-Score.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Aber — und das ist der entscheidende Punkt: „Bester von fünf" heißt nicht unbedingt „gut". Bei SOAP haben null Runs „akzeptabel" erreicht, wie eben erwähnt. Der Plan-Teil liegt im Schnitt bei 0,1 von 2 Punkten. Und bei einer schlechten Audio bricht nach wie vor alles zusammen. Wir würden also heute keinem Arzt empfehlen, eine dieser Notizen ungeprüft zu übernehmen.</a:t>
            </a:r>
            <a:endParaRPr lang="de-DE" sz="1800" b="0" u="none" strike="noStrike">
              <a:solidFill>
                <a:srgbClr val="000000"/>
              </a:solidFill>
              <a:effectLst/>
              <a:uFillTx/>
              <a:latin typeface="Arial"/>
            </a:endParaRPr>
          </a:p>
        </p:txBody>
      </p:sp>
      <p:sp>
        <p:nvSpPr>
          <p:cNvPr id="382" name="PlaceHolder 3"/>
          <p:cNvSpPr>
            <a:spLocks noGrp="1"/>
          </p:cNvSpPr>
          <p:nvPr>
            <p:ph type="sldNum" idx="19"/>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675908A2-8E1F-4A26-A4DC-5F0C348B6351}"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720000" y="900000"/>
            <a:ext cx="6118920" cy="3440520"/>
          </a:xfrm>
          <a:prstGeom prst="rect">
            <a:avLst/>
          </a:prstGeom>
          <a:ln w="0">
            <a:noFill/>
          </a:ln>
        </p:spPr>
      </p:sp>
      <p:sp>
        <p:nvSpPr>
          <p:cNvPr id="384"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Drei Dinge haben wir bewusst ausgelassen.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Wir haben bewusst auf Real-time verzichtet — nicht weil es nicht geht, sondern weil wir zuerst die maximale Qualität im Batch-Betrieb testen wollten. Also was die Pipeline leisten kann, wenn sie das vollständige Gespräch hat.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Außerdem haben wir den Prompt nicht für die Modelle optimiert, sondern für alle denselben einfachen Prompt verwendet. Das macht den Vergleich fair — lässt aber enormes Potenzial liegen, vor allem beim Plan-Teil von SOAP.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Und alle Szenarien waren auf Deutsch. Ob die Ergebnisse auf andere Sprachen übertragbar sind, bleibt offen.</a:t>
            </a:r>
            <a:endParaRPr lang="de-DE" sz="1800" b="0" u="none" strike="noStrike">
              <a:solidFill>
                <a:srgbClr val="000000"/>
              </a:solidFill>
              <a:effectLst/>
              <a:uFillTx/>
              <a:latin typeface="Arial"/>
            </a:endParaRPr>
          </a:p>
        </p:txBody>
      </p:sp>
      <p:sp>
        <p:nvSpPr>
          <p:cNvPr id="385" name="PlaceHolder 3"/>
          <p:cNvSpPr>
            <a:spLocks noGrp="1"/>
          </p:cNvSpPr>
          <p:nvPr>
            <p:ph type="sldNum" idx="20"/>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07D35EC2-E3F6-4732-A2D7-2A12CC028D3E}"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720000" y="900000"/>
            <a:ext cx="6118920" cy="3440520"/>
          </a:xfrm>
          <a:prstGeom prst="rect">
            <a:avLst/>
          </a:prstGeom>
          <a:ln w="0">
            <a:noFill/>
          </a:ln>
        </p:spPr>
      </p:sp>
      <p:sp>
        <p:nvSpPr>
          <p:cNvPr id="387" name="PlaceHolder 2"/>
          <p:cNvSpPr>
            <a:spLocks noGrp="1"/>
          </p:cNvSpPr>
          <p:nvPr>
            <p:ph type="body"/>
          </p:nvPr>
        </p:nvSpPr>
        <p:spPr>
          <a:xfrm>
            <a:off x="720000" y="4680000"/>
            <a:ext cx="6118920" cy="5038920"/>
          </a:xfrm>
          <a:prstGeom prst="rect">
            <a:avLst/>
          </a:prstGeom>
          <a:noFill/>
          <a:ln w="0">
            <a:noFill/>
          </a:ln>
        </p:spPr>
        <p:txBody>
          <a:bodyPr lIns="91440" tIns="45720" rIns="91440" bIns="4572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Datenschutz ist in der Medizin sehr wichtig, und wir sind schon sehr nah darn, aber leider noch nicht ganz.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Die lokalen Modelle laufen vollständig auf eigener Hardware, wodurch leider die Qualität etwas leidet -- Aber dadurch haben wir die vollständige Kontrolle über die Daten und brauchen kein Drittanbieter.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Die Cloud Modelle lassen sich alle in der EU Hosten. Dadurch sind Sie DSGVO konform, jedoch müssen wir immernoch beachten, dass personenbezogene Daten immer noch durch fremden Servern laufen, was viele wahrscheinlich nicht akzeptieren werden.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Wir sind also weder mit den lokal noch mit den Cloud Modellen an unserem Ziel von hoher Qualität und voller Datensowierinität. Was die nächsten Schritte sind, um an den Ort zu kommen, an den wir eigentlich hin wollen, schauen wir uns jetzt an.</a:t>
            </a:r>
            <a:endParaRPr lang="de-DE" sz="1800" b="0" u="none" strike="noStrike">
              <a:solidFill>
                <a:srgbClr val="000000"/>
              </a:solidFill>
              <a:effectLst/>
              <a:uFillTx/>
              <a:latin typeface="Arial"/>
            </a:endParaRPr>
          </a:p>
        </p:txBody>
      </p:sp>
      <p:sp>
        <p:nvSpPr>
          <p:cNvPr id="388" name="PlaceHolder 3"/>
          <p:cNvSpPr>
            <a:spLocks noGrp="1"/>
          </p:cNvSpPr>
          <p:nvPr>
            <p:ph type="sldNum" idx="21"/>
          </p:nvPr>
        </p:nvSpPr>
        <p:spPr>
          <a:xfrm>
            <a:off x="5940000" y="10080000"/>
            <a:ext cx="898920" cy="358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BB2E0AA-62EE-4E8A-8C38-A6DB12DE806A}"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720000" y="900000"/>
            <a:ext cx="6118920" cy="3440520"/>
          </a:xfrm>
          <a:prstGeom prst="rect">
            <a:avLst/>
          </a:prstGeom>
          <a:ln w="0">
            <a:noFill/>
          </a:ln>
        </p:spPr>
      </p:sp>
      <p:sp>
        <p:nvSpPr>
          <p:cNvPr id="390"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Der erste Schritt sind größere lokale Modelle — wir haben die Analyse hier auf meinem kleinen Laptop durchgeführt, aber mit besserer Hardware könnten wir sicherlich die Lücke zwischen Cloud und Lokal etwas schließen.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Der zweite Schritt ist Prompt Engineering. Zum Beispiel eine klare Regel: Wenn eine Therapie im Gespräch nicht erwähnt wurde, darf das Modell sie nicht vorschlagen. </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Und drittens Real-time Streaming — das STT läuft dann während des Gesprächs. Ziel ist dann, dass der Arzt den Entwurf fertig hat, bevor der Patient den Raum verlässt.</a:t>
            </a:r>
            <a:endParaRPr lang="de-DE" sz="1800" b="0" u="none" strike="noStrike">
              <a:solidFill>
                <a:srgbClr val="000000"/>
              </a:solidFill>
              <a:effectLst/>
              <a:uFillTx/>
              <a:latin typeface="Arial"/>
            </a:endParaRPr>
          </a:p>
        </p:txBody>
      </p:sp>
      <p:sp>
        <p:nvSpPr>
          <p:cNvPr id="391" name="PlaceHolder 3"/>
          <p:cNvSpPr>
            <a:spLocks noGrp="1"/>
          </p:cNvSpPr>
          <p:nvPr>
            <p:ph type="sldNum" idx="22"/>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C6717F3B-82F2-40E2-98E2-9FF72F144566}"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720000" y="900000"/>
            <a:ext cx="6118920" cy="3440520"/>
          </a:xfrm>
          <a:prstGeom prst="rect">
            <a:avLst/>
          </a:prstGeom>
          <a:ln w="0">
            <a:noFill/>
          </a:ln>
        </p:spPr>
      </p:sp>
      <p:sp>
        <p:nvSpPr>
          <p:cNvPr id="393"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Zum Abschluss noch einmal drei Sätze, die wir euch mitgeben wollen. </a:t>
            </a:r>
            <a:r>
              <a:rPr lang="de-DE" sz="1800" b="0" i="1" u="none" strike="noStrike">
                <a:solidFill>
                  <a:srgbClr val="000000"/>
                </a:solidFill>
                <a:effectLst/>
                <a:uFillTx/>
                <a:latin typeface="Arial"/>
              </a:rPr>
              <a:t>(nacheinander einblenden)</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1" u="none" strike="noStrike">
                <a:solidFill>
                  <a:srgbClr val="000000"/>
                </a:solidFill>
                <a:effectLst/>
                <a:uFillTx/>
                <a:latin typeface="Arial"/>
              </a:rPr>
              <a:t>Erstens:</a:t>
            </a:r>
            <a:r>
              <a:rPr lang="de-DE" sz="1800" b="0" u="none" strike="noStrike">
                <a:solidFill>
                  <a:srgbClr val="000000"/>
                </a:solidFill>
                <a:effectLst/>
                <a:uFillTx/>
                <a:latin typeface="Arial"/>
              </a:rPr>
              <a:t> Die Pipeline funktioniert — jedoch wird bei jedem einzelnen Durchlauf der Planteil halluziniert.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1" u="none" strike="noStrike">
                <a:solidFill>
                  <a:srgbClr val="000000"/>
                </a:solidFill>
                <a:effectLst/>
                <a:uFillTx/>
                <a:latin typeface="Arial"/>
              </a:rPr>
              <a:t>Zweitens:</a:t>
            </a:r>
            <a:r>
              <a:rPr lang="de-DE" sz="1800" b="0" u="none" strike="noStrike">
                <a:solidFill>
                  <a:srgbClr val="000000"/>
                </a:solidFill>
                <a:effectLst/>
                <a:uFillTx/>
                <a:latin typeface="Arial"/>
              </a:rPr>
              <a:t> Entscheidend sind die Hardware und die Modellgröße — die Cloud-Lücke könnte sich schließen, sobald die lokale Modelle wachsen.</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0" u="none" strike="noStrike">
                <a:solidFill>
                  <a:srgbClr val="000000"/>
                </a:solidFill>
                <a:effectLst/>
                <a:uFillTx/>
                <a:latin typeface="Arial"/>
              </a:rPr>
              <a:t>-</a:t>
            </a:r>
            <a:endParaRPr lang="de-DE" sz="1800" b="0" u="none" strike="noStrike">
              <a:solidFill>
                <a:srgbClr val="000000"/>
              </a:solidFill>
              <a:effectLst/>
              <a:uFillTx/>
              <a:latin typeface="Arial"/>
            </a:endParaRPr>
          </a:p>
          <a:p>
            <a:pPr marL="216000" indent="-216000" algn="l">
              <a:lnSpc>
                <a:spcPct val="100000"/>
              </a:lnSpc>
              <a:buNone/>
              <a:tabLst>
                <a:tab pos="0" algn="l"/>
              </a:tabLst>
            </a:pPr>
            <a:r>
              <a:rPr lang="de-DE" sz="1800" b="1" u="none" strike="noStrike">
                <a:solidFill>
                  <a:srgbClr val="000000"/>
                </a:solidFill>
                <a:effectLst/>
                <a:uFillTx/>
                <a:latin typeface="Arial"/>
              </a:rPr>
              <a:t>Drittens:</a:t>
            </a:r>
            <a:r>
              <a:rPr lang="de-DE" sz="1800" b="0" u="none" strike="noStrike">
                <a:solidFill>
                  <a:srgbClr val="000000"/>
                </a:solidFill>
                <a:effectLst/>
                <a:uFillTx/>
                <a:latin typeface="Arial"/>
              </a:rPr>
              <a:t> KI assistiert heute bei der medizinischen Dokumentation. Ersetzen tut sie es noch nicht.</a:t>
            </a:r>
            <a:endParaRPr lang="de-DE" sz="1800" b="0" u="none" strike="noStrike">
              <a:solidFill>
                <a:srgbClr val="000000"/>
              </a:solidFill>
              <a:effectLst/>
              <a:uFillTx/>
              <a:latin typeface="Arial"/>
            </a:endParaRPr>
          </a:p>
        </p:txBody>
      </p:sp>
      <p:sp>
        <p:nvSpPr>
          <p:cNvPr id="394" name="PlaceHolder 3"/>
          <p:cNvSpPr>
            <a:spLocks noGrp="1"/>
          </p:cNvSpPr>
          <p:nvPr>
            <p:ph type="sldNum" idx="23"/>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BDE3312E-056A-4805-A3C1-10428D7A90AC}"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720000" y="900000"/>
            <a:ext cx="6118920" cy="3440520"/>
          </a:xfrm>
          <a:prstGeom prst="rect">
            <a:avLst/>
          </a:prstGeom>
          <a:ln w="0">
            <a:noFill/>
          </a:ln>
        </p:spPr>
      </p:sp>
      <p:sp>
        <p:nvSpPr>
          <p:cNvPr id="396" name="PlaceHolder 2"/>
          <p:cNvSpPr>
            <a:spLocks noGrp="1"/>
          </p:cNvSpPr>
          <p:nvPr>
            <p:ph type="body"/>
          </p:nvPr>
        </p:nvSpPr>
        <p:spPr>
          <a:xfrm>
            <a:off x="720000" y="4680000"/>
            <a:ext cx="6118920" cy="5038920"/>
          </a:xfrm>
          <a:prstGeom prst="rect">
            <a:avLst/>
          </a:prstGeom>
          <a:noFill/>
          <a:ln w="0">
            <a:noFill/>
          </a:ln>
        </p:spPr>
        <p:txBody>
          <a:bodyPr lIns="90000" tIns="-45000" rIns="90000" bIns="-45000" anchor="t">
            <a:noAutofit/>
          </a:bodyPr>
          <a:p>
            <a:pPr marL="216000" indent="-216000" algn="l">
              <a:lnSpc>
                <a:spcPct val="100000"/>
              </a:lnSpc>
              <a:buNone/>
              <a:tabLst>
                <a:tab pos="0" algn="l"/>
              </a:tabLst>
            </a:pPr>
            <a:r>
              <a:rPr lang="de-DE" sz="1800" b="0" u="none" strike="noStrike">
                <a:solidFill>
                  <a:srgbClr val="000000"/>
                </a:solidFill>
                <a:effectLst/>
                <a:uFillTx/>
                <a:latin typeface="Arial"/>
              </a:rPr>
              <a:t>Vielen Dank für eure Aufmerksamkeit, gibt es noch irgendwlche Fragen?</a:t>
            </a:r>
            <a:endParaRPr lang="de-DE" sz="1800" b="0" u="none" strike="noStrike">
              <a:solidFill>
                <a:srgbClr val="000000"/>
              </a:solidFill>
              <a:effectLst/>
              <a:uFillTx/>
              <a:latin typeface="Arial"/>
            </a:endParaRPr>
          </a:p>
        </p:txBody>
      </p:sp>
      <p:sp>
        <p:nvSpPr>
          <p:cNvPr id="397" name="PlaceHolder 3"/>
          <p:cNvSpPr>
            <a:spLocks noGrp="1"/>
          </p:cNvSpPr>
          <p:nvPr>
            <p:ph type="sldNum" idx="24"/>
          </p:nvPr>
        </p:nvSpPr>
        <p:spPr>
          <a:xfrm>
            <a:off x="5940000" y="10080000"/>
            <a:ext cx="898920" cy="35892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800" b="0" u="none" strike="noStrike">
                <a:solidFill>
                  <a:schemeClr val="dk1"/>
                </a:solidFill>
                <a:effectLst/>
                <a:uFillTx/>
                <a:latin typeface="+mn-lt"/>
                <a:ea typeface="+mn-ea"/>
              </a:defRPr>
            </a:lvl1pPr>
          </a:lstStyle>
          <a:p>
            <a:pPr indent="0" algn="r" defTabSz="914400">
              <a:lnSpc>
                <a:spcPct val="100000"/>
              </a:lnSpc>
              <a:buNone/>
              <a:tabLst>
                <a:tab pos="0" algn="l"/>
              </a:tabLst>
            </a:pPr>
            <a:fld id="{071C4572-B3FC-44D7-B1A4-D351C09E5816}" type="slidenum">
              <a:rPr lang="en-US" sz="1800" b="0" u="none" strike="noStrike">
                <a:solidFill>
                  <a:schemeClr val="dk1"/>
                </a:solidFill>
                <a:effectLst/>
                <a:uFillTx/>
                <a:latin typeface="+mn-lt"/>
                <a:ea typeface="+mn-ea"/>
              </a:rPr>
              <a:t>&lt;Foliennummer&gt;</a:t>
            </a:fld>
            <a:endParaRPr lang="de-DE"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36000"/>
            <a:ext cx="8228520" cy="1341000"/>
          </a:xfrm>
          <a:prstGeom prst="rect">
            <a:avLst/>
          </a:prstGeom>
          <a:noFill/>
          <a:ln w="0">
            <a:noFill/>
          </a:ln>
        </p:spPr>
        <p:txBody>
          <a:bodyPr lIns="0" tIns="0" rIns="0" bIns="0" anchor="ctr">
            <a:spAutoFit/>
          </a:bodyPr>
          <a:lstStyle>
            <a:lvl1pPr indent="0" algn="l">
              <a:lnSpc>
                <a:spcPct val="100000"/>
              </a:lnSpc>
              <a:buNone/>
              <a:tabLst>
                <a:tab pos="0" algn="l"/>
              </a:tabLst>
              <a:defRPr lang="de-DE" sz="4400" b="0" u="none" strike="noStrike">
                <a:solidFill>
                  <a:srgbClr val="000000"/>
                </a:solidFill>
                <a:effectLst/>
                <a:uFillTx/>
                <a:latin typeface="Arial"/>
              </a:defRPr>
            </a:lvl1pPr>
          </a:lstStyle>
          <a:p>
            <a:pPr indent="0" algn="l">
              <a:lnSpc>
                <a:spcPct val="100000"/>
              </a:lnSpc>
              <a:buNone/>
              <a:tabLst>
                <a:tab pos="0" algn="l"/>
              </a:tabLst>
            </a:pPr>
            <a:r>
              <a:rPr lang="de-DE" sz="4400" b="0" u="none" strike="noStrike">
                <a:solidFill>
                  <a:srgbClr val="000000"/>
                </a:solidFill>
                <a:effectLst/>
                <a:uFillTx/>
                <a:latin typeface="Arial"/>
              </a:rPr>
              <a:t>Format des Titeltextes durch Klicken bearbeiten</a:t>
            </a:r>
            <a:endParaRPr lang="de-DE" sz="44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1">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de-DE" sz="4400" b="0" u="none" strike="noStrike">
                <a:solidFill>
                  <a:srgbClr val="000000"/>
                </a:solidFill>
                <a:effectLst/>
                <a:uFillTx/>
                <a:latin typeface="Arial"/>
              </a:defRPr>
            </a:lvl1pPr>
          </a:lstStyle>
          <a:p>
            <a:pPr indent="0" algn="ctr">
              <a:lnSpc>
                <a:spcPct val="100000"/>
              </a:lnSpc>
              <a:buNone/>
              <a:tabLst>
                <a:tab pos="0" algn="l"/>
              </a:tabLst>
            </a:pPr>
            <a:r>
              <a:rPr lang="de-DE" sz="4400" b="0" u="none" strike="noStrike">
                <a:solidFill>
                  <a:srgbClr val="000000"/>
                </a:solidFill>
                <a:effectLst/>
                <a:uFillTx/>
                <a:latin typeface="Arial"/>
              </a:rPr>
              <a:t>Format des Titeltextes durch Klicken bearbeiten</a:t>
            </a:r>
            <a:endParaRPr lang="de-DE" sz="4400" b="0" u="none" strike="noStrike">
              <a:solidFill>
                <a:srgbClr val="000000"/>
              </a:solidFill>
              <a:effectLst/>
              <a:uFillTx/>
              <a:latin typeface="Arial"/>
            </a:endParaRPr>
          </a:p>
        </p:txBody>
      </p:sp>
      <p:sp>
        <p:nvSpPr>
          <p:cNvPr id="4"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fontScale="92500" lnSpcReduction="9999"/>
          </a:bodyPr>
          <a:lstStyle>
            <a:lvl1pPr algn="l">
              <a:lnSpc>
                <a:spcPct val="100000"/>
              </a:lnSpc>
              <a:spcBef>
                <a:spcPts val="1417"/>
              </a:spcBef>
              <a:buClr>
                <a:srgbClr val="000000"/>
              </a:buClr>
              <a:buSzPct val="45000"/>
              <a:buFont typeface="Wingdings" charset="2"/>
              <a:buChar char=""/>
              <a:defRPr lang="de-DE"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de-DE"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de-DE"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de-DE"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de-DE"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de-DE"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de-DE"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de-DE" sz="3200" b="0" u="none" strike="noStrike">
                <a:solidFill>
                  <a:srgbClr val="000000"/>
                </a:solidFill>
                <a:effectLst/>
                <a:uFillTx/>
                <a:latin typeface="Arial"/>
              </a:rPr>
              <a:t>Format des Gliederungstextes durch Klicken bearbeiten</a:t>
            </a:r>
            <a:endParaRPr lang="de-DE"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de-DE" sz="2800" b="0" u="none" strike="noStrike">
                <a:solidFill>
                  <a:srgbClr val="000000"/>
                </a:solidFill>
                <a:effectLst/>
                <a:uFillTx/>
                <a:latin typeface="Arial"/>
              </a:rPr>
              <a:t>Zweite Gliederungsebene</a:t>
            </a:r>
            <a:endParaRPr lang="de-DE"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de-DE" sz="2400" b="0" u="none" strike="noStrike">
                <a:solidFill>
                  <a:srgbClr val="000000"/>
                </a:solidFill>
                <a:effectLst/>
                <a:uFillTx/>
                <a:latin typeface="Arial"/>
              </a:rPr>
              <a:t>Dritte Gliederungsebene</a:t>
            </a:r>
            <a:endParaRPr lang="de-DE"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de-DE" sz="2000" b="0" u="none" strike="noStrike">
                <a:solidFill>
                  <a:srgbClr val="000000"/>
                </a:solidFill>
                <a:effectLst/>
                <a:uFillTx/>
                <a:latin typeface="Arial"/>
              </a:rPr>
              <a:t>Vierte Gliederungsebene</a:t>
            </a:r>
            <a:endParaRPr lang="de-DE"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de-DE" sz="2000" b="0" u="none" strike="noStrike">
                <a:solidFill>
                  <a:srgbClr val="000000"/>
                </a:solidFill>
                <a:effectLst/>
                <a:uFillTx/>
                <a:latin typeface="Arial"/>
              </a:rPr>
              <a:t>Fünfte Gliederungsebene</a:t>
            </a:r>
            <a:endParaRPr lang="de-DE"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de-DE" sz="2000" b="0" u="none" strike="noStrike">
                <a:solidFill>
                  <a:srgbClr val="000000"/>
                </a:solidFill>
                <a:effectLst/>
                <a:uFillTx/>
                <a:latin typeface="Arial"/>
              </a:rPr>
              <a:t>Sechste Gliederungsebene</a:t>
            </a:r>
            <a:endParaRPr lang="de-DE"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de-DE" sz="2000" b="0" u="none" strike="noStrike">
                <a:solidFill>
                  <a:srgbClr val="000000"/>
                </a:solidFill>
                <a:effectLst/>
                <a:uFillTx/>
                <a:latin typeface="Arial"/>
              </a:rPr>
              <a:t>Siebte Gliederungsebene</a:t>
            </a:r>
            <a:endParaRPr lang="de-DE"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1">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lvl1pPr indent="0" algn="ctr">
              <a:lnSpc>
                <a:spcPct val="100000"/>
              </a:lnSpc>
              <a:buNone/>
              <a:tabLst>
                <a:tab pos="0" algn="l"/>
              </a:tabLst>
              <a:defRPr lang="de-DE" sz="4400" b="0" u="none" strike="noStrike">
                <a:solidFill>
                  <a:srgbClr val="000000"/>
                </a:solidFill>
                <a:effectLst/>
                <a:uFillTx/>
                <a:latin typeface="Arial"/>
              </a:defRPr>
            </a:lvl1pPr>
          </a:lstStyle>
          <a:p>
            <a:pPr indent="0" algn="ctr">
              <a:lnSpc>
                <a:spcPct val="100000"/>
              </a:lnSpc>
              <a:buNone/>
              <a:tabLst>
                <a:tab pos="0" algn="l"/>
              </a:tabLst>
            </a:pPr>
            <a:r>
              <a:rPr lang="de-DE" sz="4400" b="0" u="none" strike="noStrike">
                <a:solidFill>
                  <a:srgbClr val="000000"/>
                </a:solidFill>
                <a:effectLst/>
                <a:uFillTx/>
                <a:latin typeface="Arial"/>
              </a:rPr>
              <a:t>Format des Titeltextes durch Klicken bearbeiten</a:t>
            </a:r>
            <a:endParaRPr lang="de-DE" sz="4400" b="0" u="none" strike="noStrike">
              <a:solidFill>
                <a:srgbClr val="000000"/>
              </a:solidFill>
              <a:effectLst/>
              <a:uFillTx/>
              <a:latin typeface="Arial"/>
            </a:endParaRPr>
          </a:p>
        </p:txBody>
      </p:sp>
      <p:sp>
        <p:nvSpPr>
          <p:cNvPr id="6"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fontScale="92500" lnSpcReduction="9999"/>
          </a:bodyPr>
          <a:lstStyle>
            <a:lvl1pPr algn="l">
              <a:lnSpc>
                <a:spcPct val="100000"/>
              </a:lnSpc>
              <a:spcBef>
                <a:spcPts val="1417"/>
              </a:spcBef>
              <a:buClr>
                <a:srgbClr val="000000"/>
              </a:buClr>
              <a:buSzPct val="45000"/>
              <a:buFont typeface="Wingdings" charset="2"/>
              <a:buChar char=""/>
              <a:defRPr lang="de-DE"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de-DE"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de-DE"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de-DE"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de-DE"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de-DE"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de-DE"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de-DE" sz="3200" b="0" u="none" strike="noStrike">
                <a:solidFill>
                  <a:srgbClr val="000000"/>
                </a:solidFill>
                <a:effectLst/>
                <a:uFillTx/>
                <a:latin typeface="Arial"/>
              </a:rPr>
              <a:t>Format des Gliederungstextes durch Klicken bearbeiten</a:t>
            </a:r>
            <a:endParaRPr lang="de-DE"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de-DE" sz="2800" b="0" u="none" strike="noStrike">
                <a:solidFill>
                  <a:srgbClr val="000000"/>
                </a:solidFill>
                <a:effectLst/>
                <a:uFillTx/>
                <a:latin typeface="Arial"/>
              </a:rPr>
              <a:t>Zweite Gliederungsebene</a:t>
            </a:r>
            <a:endParaRPr lang="de-DE"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de-DE" sz="2400" b="0" u="none" strike="noStrike">
                <a:solidFill>
                  <a:srgbClr val="000000"/>
                </a:solidFill>
                <a:effectLst/>
                <a:uFillTx/>
                <a:latin typeface="Arial"/>
              </a:rPr>
              <a:t>Dritte Gliederungsebene</a:t>
            </a:r>
            <a:endParaRPr lang="de-DE"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de-DE" sz="2000" b="0" u="none" strike="noStrike">
                <a:solidFill>
                  <a:srgbClr val="000000"/>
                </a:solidFill>
                <a:effectLst/>
                <a:uFillTx/>
                <a:latin typeface="Arial"/>
              </a:rPr>
              <a:t>Vierte Gliederungsebene</a:t>
            </a:r>
            <a:endParaRPr lang="de-DE"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de-DE" sz="2000" b="0" u="none" strike="noStrike">
                <a:solidFill>
                  <a:srgbClr val="000000"/>
                </a:solidFill>
                <a:effectLst/>
                <a:uFillTx/>
                <a:latin typeface="Arial"/>
              </a:rPr>
              <a:t>Fünfte Gliederungsebene</a:t>
            </a:r>
            <a:endParaRPr lang="de-DE"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de-DE" sz="2000" b="0" u="none" strike="noStrike">
                <a:solidFill>
                  <a:srgbClr val="000000"/>
                </a:solidFill>
                <a:effectLst/>
                <a:uFillTx/>
                <a:latin typeface="Arial"/>
              </a:rPr>
              <a:t>Sechste Gliederungsebene</a:t>
            </a:r>
            <a:endParaRPr lang="de-DE"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de-DE" sz="2000" b="0" u="none" strike="noStrike">
                <a:solidFill>
                  <a:srgbClr val="000000"/>
                </a:solidFill>
                <a:effectLst/>
                <a:uFillTx/>
                <a:latin typeface="Arial"/>
              </a:rPr>
              <a:t>Siebte Gliederungsebene</a:t>
            </a:r>
            <a:endParaRPr lang="de-DE"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2">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8880" cy="858240"/>
          </a:xfrm>
          <a:prstGeom prst="rect">
            <a:avLst/>
          </a:prstGeom>
          <a:noFill/>
          <a:ln w="0">
            <a:noFill/>
          </a:ln>
        </p:spPr>
        <p:txBody>
          <a:bodyPr lIns="0" tIns="0" rIns="0" bIns="0" anchor="ctr">
            <a:spAutoFit/>
          </a:bodyPr>
          <a:p>
            <a:pPr indent="0" algn="ctr">
              <a:buNone/>
              <a:tabLst>
                <a:tab pos="0" algn="l"/>
              </a:tabLst>
            </a:pPr>
            <a:endParaRPr lang="de-DE" sz="4400" b="0" u="none" strike="noStrike">
              <a:solidFill>
                <a:srgbClr val="000000"/>
              </a:solidFill>
              <a:effectLst/>
              <a:uFillTx/>
              <a:latin typeface="Arial"/>
            </a:endParaRPr>
          </a:p>
        </p:txBody>
      </p:sp>
      <p:sp>
        <p:nvSpPr>
          <p:cNvPr id="10" name="PlaceHolder 2"/>
          <p:cNvSpPr>
            <a:spLocks noGrp="1"/>
          </p:cNvSpPr>
          <p:nvPr>
            <p:ph type="subTitle"/>
          </p:nvPr>
        </p:nvSpPr>
        <p:spPr>
          <a:xfrm>
            <a:off x="457200" y="1203480"/>
            <a:ext cx="8228880" cy="2982600"/>
          </a:xfrm>
          <a:prstGeom prst="rect">
            <a:avLst/>
          </a:prstGeom>
          <a:noFill/>
          <a:ln w="0">
            <a:noFill/>
          </a:ln>
        </p:spPr>
        <p:txBody>
          <a:bodyPr lIns="0" tIns="0" rIns="0" bIns="0" anchor="ctr">
            <a:spAutoFit/>
          </a:bodyPr>
          <a:p>
            <a:pPr indent="0" algn="ctr">
              <a:buNone/>
            </a:pPr>
            <a:endParaRPr lang="de-DE"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496800"/>
            <a:ext cx="8228880" cy="274680"/>
          </a:xfrm>
          <a:prstGeom prst="rect">
            <a:avLst/>
          </a:prstGeom>
          <a:noFill/>
          <a:ln w="0">
            <a:noFill/>
          </a:ln>
        </p:spPr>
        <p:txBody>
          <a:bodyPr lIns="0" tIns="0" rIns="0" bIns="0" anchor="ctr">
            <a:spAutoFit/>
          </a:bodyPr>
          <a:lstStyle>
            <a:lvl1pPr indent="0" algn="l">
              <a:buNone/>
              <a:defRPr lang="de-DE" sz="1800" b="0" u="none" strike="noStrike">
                <a:solidFill>
                  <a:srgbClr val="000000"/>
                </a:solidFill>
                <a:effectLst/>
                <a:uFillTx/>
                <a:latin typeface="Arial"/>
              </a:defRPr>
            </a:lvl1pPr>
          </a:lstStyle>
          <a:p>
            <a:pPr indent="0" algn="l">
              <a:buNone/>
            </a:pPr>
            <a:r>
              <a:rPr lang="de-DE" sz="1800" b="0" u="none" strike="noStrike">
                <a:solidFill>
                  <a:srgbClr val="000000"/>
                </a:solidFill>
                <a:effectLst/>
                <a:uFillTx/>
                <a:latin typeface="Arial"/>
              </a:rPr>
              <a:t>Format des Titeltextes durch Klicken bearbeiten</a:t>
            </a:r>
            <a:endParaRPr lang="de-DE" sz="1800" b="0" u="none" strike="noStrike">
              <a:solidFill>
                <a:srgbClr val="000000"/>
              </a:solidFill>
              <a:effectLst/>
              <a:uFillTx/>
              <a:latin typeface="Arial"/>
            </a:endParaRP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de-DE"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de-DE"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de-DE"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de-DE"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de-DE"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de-DE"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de-DE"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de-DE" sz="3200" b="0" u="none" strike="noStrike">
                <a:solidFill>
                  <a:srgbClr val="000000"/>
                </a:solidFill>
                <a:effectLst/>
                <a:uFillTx/>
                <a:latin typeface="Arial"/>
              </a:rPr>
              <a:t>Format des Gliederungstextes durch Klicken bearbeiten</a:t>
            </a:r>
            <a:endParaRPr lang="de-DE"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de-DE" sz="2800" b="0" u="none" strike="noStrike">
                <a:solidFill>
                  <a:srgbClr val="000000"/>
                </a:solidFill>
                <a:effectLst/>
                <a:uFillTx/>
                <a:latin typeface="Arial"/>
              </a:rPr>
              <a:t>Zweite Gliederungsebene</a:t>
            </a:r>
            <a:endParaRPr lang="de-DE"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de-DE" sz="2400" b="0" u="none" strike="noStrike">
                <a:solidFill>
                  <a:srgbClr val="000000"/>
                </a:solidFill>
                <a:effectLst/>
                <a:uFillTx/>
                <a:latin typeface="Arial"/>
              </a:rPr>
              <a:t>Dritte Gliederungsebene</a:t>
            </a:r>
            <a:endParaRPr lang="de-DE"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de-DE" sz="2000" b="0" u="none" strike="noStrike">
                <a:solidFill>
                  <a:srgbClr val="000000"/>
                </a:solidFill>
                <a:effectLst/>
                <a:uFillTx/>
                <a:latin typeface="Arial"/>
              </a:rPr>
              <a:t>Vierte Gliederungsebene</a:t>
            </a:r>
            <a:endParaRPr lang="de-DE"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de-DE" sz="2000" b="0" u="none" strike="noStrike">
                <a:solidFill>
                  <a:srgbClr val="000000"/>
                </a:solidFill>
                <a:effectLst/>
                <a:uFillTx/>
                <a:latin typeface="Arial"/>
              </a:rPr>
              <a:t>Fünfte Gliederungsebene</a:t>
            </a:r>
            <a:endParaRPr lang="de-DE"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de-DE" sz="2000" b="0" u="none" strike="noStrike">
                <a:solidFill>
                  <a:srgbClr val="000000"/>
                </a:solidFill>
                <a:effectLst/>
                <a:uFillTx/>
                <a:latin typeface="Arial"/>
              </a:rPr>
              <a:t>Sechste Gliederungsebene</a:t>
            </a:r>
            <a:endParaRPr lang="de-DE"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de-DE" sz="2000" b="0" u="none" strike="noStrike">
                <a:solidFill>
                  <a:srgbClr val="000000"/>
                </a:solidFill>
                <a:effectLst/>
                <a:uFillTx/>
                <a:latin typeface="Arial"/>
              </a:rPr>
              <a:t>Siebte Gliederungsebene</a:t>
            </a:r>
            <a:endParaRPr lang="de-DE"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3.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image" Target="../media/image5.png"/><Relationship Id="rId4" Type="http://schemas.openxmlformats.org/officeDocument/2006/relationships/slideLayout" Target="../slideLayouts/slideLayout3.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chart" Target="../charts/chart1.xml"/><Relationship Id="rId4" Type="http://schemas.openxmlformats.org/officeDocument/2006/relationships/image" Target="../media/image5.png"/><Relationship Id="rId5" Type="http://schemas.openxmlformats.org/officeDocument/2006/relationships/image" Target="../media/image5.png"/><Relationship Id="rId6" Type="http://schemas.openxmlformats.org/officeDocument/2006/relationships/slideLayout" Target="../slideLayouts/slideLayout3.xml"/><Relationship Id="rId7"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5.png"/><Relationship Id="rId3" Type="http://schemas.openxmlformats.org/officeDocument/2006/relationships/chart" Target="../charts/chart3.xml"/><Relationship Id="rId4" Type="http://schemas.openxmlformats.org/officeDocument/2006/relationships/image" Target="../media/image5.png"/><Relationship Id="rId5" Type="http://schemas.openxmlformats.org/officeDocument/2006/relationships/slideLayout" Target="../slideLayouts/slideLayout3.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chart" Target="../charts/chart5.xml"/><Relationship Id="rId2" Type="http://schemas.openxmlformats.org/officeDocument/2006/relationships/image" Target="../media/image5.png"/><Relationship Id="rId3" Type="http://schemas.openxmlformats.org/officeDocument/2006/relationships/slideLayout" Target="../slideLayouts/slideLayout3.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17" name="Shape 0"/>
          <p:cNvSpPr/>
          <p:nvPr/>
        </p:nvSpPr>
        <p:spPr>
          <a:xfrm>
            <a:off x="6949440" y="2011680"/>
            <a:ext cx="2371320" cy="359640"/>
          </a:xfrm>
          <a:prstGeom prst="parallelogram">
            <a:avLst>
              <a:gd name="adj" fmla="val 25000"/>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18" name="Shape 1"/>
          <p:cNvSpPr/>
          <p:nvPr/>
        </p:nvSpPr>
        <p:spPr>
          <a:xfrm>
            <a:off x="6400800" y="2560320"/>
            <a:ext cx="2919960" cy="405360"/>
          </a:xfrm>
          <a:prstGeom prst="parallelogram">
            <a:avLst>
              <a:gd name="adj" fmla="val 25000"/>
            </a:avLst>
          </a:prstGeom>
          <a:solidFill>
            <a:srgbClr val="D04A02">
              <a:alpha val="60000"/>
            </a:srgbClr>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19" name="Text 2"/>
          <p:cNvSpPr/>
          <p:nvPr/>
        </p:nvSpPr>
        <p:spPr>
          <a:xfrm>
            <a:off x="180000" y="1260000"/>
            <a:ext cx="3956760" cy="90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200" b="0" u="none" strike="noStrike">
                <a:solidFill>
                  <a:srgbClr val="FFFFFF"/>
                </a:solidFill>
                <a:effectLst/>
                <a:uFillTx/>
                <a:latin typeface="DejaVu Serif"/>
                <a:ea typeface="DejaVu Serif"/>
              </a:rPr>
              <a:t>Handout</a:t>
            </a:r>
            <a:endParaRPr lang="de-DE" sz="4200" b="0" u="none" strike="noStrike">
              <a:solidFill>
                <a:srgbClr val="FFFFFF"/>
              </a:solidFill>
              <a:effectLst/>
              <a:uFillTx/>
              <a:latin typeface="Arial"/>
            </a:endParaRPr>
          </a:p>
          <a:p>
            <a:pPr defTabSz="914400">
              <a:lnSpc>
                <a:spcPct val="100000"/>
              </a:lnSpc>
              <a:tabLst>
                <a:tab pos="0" algn="l"/>
              </a:tabLst>
            </a:pPr>
            <a:r>
              <a:rPr lang="en-US" sz="4200" b="0" u="none" strike="noStrike">
                <a:solidFill>
                  <a:srgbClr val="FFFFFF"/>
                </a:solidFill>
                <a:effectLst/>
                <a:uFillTx/>
                <a:latin typeface="DejaVu Serif"/>
                <a:ea typeface="DejaVu Serif"/>
              </a:rPr>
              <a:t>zum</a:t>
            </a:r>
            <a:endParaRPr lang="de-DE" sz="4200" b="0" u="none" strike="noStrike">
              <a:solidFill>
                <a:srgbClr val="FFFFFF"/>
              </a:solidFill>
              <a:effectLst/>
              <a:uFillTx/>
              <a:latin typeface="Arial"/>
            </a:endParaRPr>
          </a:p>
          <a:p>
            <a:pPr defTabSz="914400">
              <a:lnSpc>
                <a:spcPct val="100000"/>
              </a:lnSpc>
              <a:tabLst>
                <a:tab pos="0" algn="l"/>
              </a:tabLst>
            </a:pPr>
            <a:r>
              <a:rPr lang="en-US" sz="4200" b="0" u="none" strike="noStrike">
                <a:solidFill>
                  <a:srgbClr val="FFFFFF"/>
                </a:solidFill>
                <a:effectLst/>
                <a:uFillTx/>
                <a:latin typeface="DejaVu Serif"/>
                <a:ea typeface="DejaVu Serif"/>
              </a:rPr>
              <a:t>herunterladen</a:t>
            </a:r>
            <a:endParaRPr lang="de-DE" sz="4200" b="0" u="none" strike="noStrike">
              <a:solidFill>
                <a:srgbClr val="FFFFFF"/>
              </a:solidFill>
              <a:effectLst/>
              <a:uFillTx/>
              <a:latin typeface="Arial"/>
            </a:endParaRPr>
          </a:p>
        </p:txBody>
      </p:sp>
      <p:pic>
        <p:nvPicPr>
          <p:cNvPr id="20" name=""/>
          <p:cNvPicPr/>
          <p:nvPr/>
        </p:nvPicPr>
        <p:blipFill>
          <a:blip r:embed="rId1"/>
          <a:stretch/>
        </p:blipFill>
        <p:spPr>
          <a:xfrm>
            <a:off x="4176000" y="144000"/>
            <a:ext cx="4856760" cy="48567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21" name="Shape 25"/>
          <p:cNvSpPr/>
          <p:nvPr/>
        </p:nvSpPr>
        <p:spPr>
          <a:xfrm>
            <a:off x="6949440" y="2011680"/>
            <a:ext cx="2371320" cy="359640"/>
          </a:xfrm>
          <a:prstGeom prst="parallelogram">
            <a:avLst>
              <a:gd name="adj" fmla="val 25000"/>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22" name="Shape 27"/>
          <p:cNvSpPr/>
          <p:nvPr/>
        </p:nvSpPr>
        <p:spPr>
          <a:xfrm>
            <a:off x="6400800" y="2560320"/>
            <a:ext cx="2919960" cy="405360"/>
          </a:xfrm>
          <a:prstGeom prst="parallelogram">
            <a:avLst>
              <a:gd name="adj" fmla="val 25000"/>
            </a:avLst>
          </a:prstGeom>
          <a:solidFill>
            <a:srgbClr val="D04A02">
              <a:alpha val="60000"/>
            </a:srgbClr>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23" name="Text 29"/>
          <p:cNvSpPr/>
          <p:nvPr/>
        </p:nvSpPr>
        <p:spPr>
          <a:xfrm>
            <a:off x="457200" y="1371600"/>
            <a:ext cx="7309080" cy="90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0" u="none" strike="noStrike">
                <a:solidFill>
                  <a:srgbClr val="FFFFFF"/>
                </a:solidFill>
                <a:effectLst/>
                <a:uFillTx/>
                <a:latin typeface="DejaVu Serif"/>
                <a:ea typeface="DejaVu Serif"/>
              </a:rPr>
              <a:t>AI-Anamnesis of Patients</a:t>
            </a:r>
            <a:endParaRPr lang="de-DE" sz="4400" b="0" u="none" strike="noStrike">
              <a:solidFill>
                <a:srgbClr val="FFFFFF"/>
              </a:solidFill>
              <a:effectLst/>
              <a:uFillTx/>
              <a:latin typeface="Arial"/>
            </a:endParaRPr>
          </a:p>
        </p:txBody>
      </p:sp>
      <p:sp>
        <p:nvSpPr>
          <p:cNvPr id="24" name="Text 47"/>
          <p:cNvSpPr/>
          <p:nvPr/>
        </p:nvSpPr>
        <p:spPr>
          <a:xfrm>
            <a:off x="457200" y="2286000"/>
            <a:ext cx="73090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FF5429"/>
                </a:solidFill>
                <a:effectLst/>
                <a:uFillTx/>
                <a:latin typeface="DejaVu Serif"/>
                <a:ea typeface="DejaVu Serif"/>
              </a:rPr>
              <a:t>Evaluating End-to-End STT</a:t>
            </a:r>
            <a:r>
              <a:rPr lang="en-US" sz="1600" b="0" u="none" strike="noStrike">
                <a:solidFill>
                  <a:srgbClr val="D04A01"/>
                </a:solidFill>
                <a:effectLst/>
                <a:uFillTx/>
                <a:latin typeface="DejaVu Serif"/>
                <a:ea typeface="DejaVu Serif"/>
              </a:rPr>
              <a:t> </a:t>
            </a:r>
            <a:r>
              <a:rPr lang="en-US" sz="1600" b="0" u="none" strike="noStrike">
                <a:solidFill>
                  <a:srgbClr val="FF5429"/>
                </a:solidFill>
                <a:effectLst/>
                <a:uFillTx/>
                <a:latin typeface="DejaVu Serif"/>
                <a:ea typeface="DejaVu Serif"/>
              </a:rPr>
              <a:t>+ LLM Pipelines</a:t>
            </a:r>
            <a:endParaRPr lang="de-DE"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FF5429"/>
                </a:solidFill>
                <a:effectLst/>
                <a:uFillTx/>
                <a:latin typeface="DejaVu Serif"/>
                <a:ea typeface="DejaVu Serif"/>
              </a:rPr>
              <a:t>for Medical Documentation</a:t>
            </a:r>
            <a:endParaRPr lang="de-DE" sz="1600" b="0" u="none" strike="noStrike">
              <a:solidFill>
                <a:srgbClr val="FFFFFF"/>
              </a:solidFill>
              <a:effectLst/>
              <a:uFillTx/>
              <a:latin typeface="Arial"/>
            </a:endParaRPr>
          </a:p>
        </p:txBody>
      </p:sp>
      <p:sp>
        <p:nvSpPr>
          <p:cNvPr id="25" name="Text 50"/>
          <p:cNvSpPr/>
          <p:nvPr/>
        </p:nvSpPr>
        <p:spPr>
          <a:xfrm>
            <a:off x="457200" y="3931920"/>
            <a:ext cx="5480280" cy="268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FFFF"/>
                </a:solidFill>
                <a:effectLst/>
                <a:uFillTx/>
                <a:latin typeface="DejaVu Serif"/>
                <a:ea typeface="DejaVu Serif"/>
              </a:rPr>
              <a:t>Anton Reinhard  ·  Leonard Niedens</a:t>
            </a:r>
            <a:endParaRPr lang="de-DE" sz="1300" b="0" u="none" strike="noStrike">
              <a:solidFill>
                <a:srgbClr val="FFFFFF"/>
              </a:solidFill>
              <a:effectLst/>
              <a:uFillTx/>
              <a:latin typeface="Arial"/>
            </a:endParaRPr>
          </a:p>
        </p:txBody>
      </p:sp>
      <p:sp>
        <p:nvSpPr>
          <p:cNvPr id="26" name="Text 51"/>
          <p:cNvSpPr/>
          <p:nvPr/>
        </p:nvSpPr>
        <p:spPr>
          <a:xfrm>
            <a:off x="457200" y="4251960"/>
            <a:ext cx="6394680" cy="268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8A95A0"/>
                </a:solidFill>
                <a:effectLst/>
                <a:uFillTx/>
                <a:latin typeface="DejaVu Serif"/>
                <a:ea typeface="DejaVu Serif"/>
              </a:rPr>
              <a:t>Master Seminar  ·  PwC Cloud &amp; AI  ×  Hochschule Hannover  ·  2026</a:t>
            </a:r>
            <a:endParaRPr lang="de-DE"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27" name="Text 1"/>
          <p:cNvSpPr/>
          <p:nvPr/>
        </p:nvSpPr>
        <p:spPr>
          <a:xfrm>
            <a:off x="457200" y="925920"/>
            <a:ext cx="6851880" cy="163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0" b="1" u="none" strike="noStrike">
                <a:solidFill>
                  <a:srgbClr val="FF5429"/>
                </a:solidFill>
                <a:effectLst/>
                <a:uFillTx/>
                <a:latin typeface="DejaVu Serif"/>
                <a:ea typeface="DejaVu Serif"/>
              </a:rPr>
              <a:t>2 hours</a:t>
            </a:r>
            <a:endParaRPr lang="de-DE" sz="12000" b="0" u="none" strike="noStrike">
              <a:solidFill>
                <a:srgbClr val="FFFFFF"/>
              </a:solidFill>
              <a:effectLst/>
              <a:uFillTx/>
              <a:latin typeface="Arial"/>
            </a:endParaRPr>
          </a:p>
        </p:txBody>
      </p:sp>
      <p:sp>
        <p:nvSpPr>
          <p:cNvPr id="28" name="Text 2"/>
          <p:cNvSpPr/>
          <p:nvPr/>
        </p:nvSpPr>
        <p:spPr>
          <a:xfrm>
            <a:off x="457200" y="2571840"/>
            <a:ext cx="6851880" cy="359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E8E8E8"/>
                </a:solidFill>
                <a:effectLst/>
                <a:uFillTx/>
                <a:latin typeface="DejaVu Serif"/>
                <a:ea typeface="DejaVu Serif"/>
              </a:rPr>
              <a:t>per day spent by physicians on documentation — not patient care</a:t>
            </a:r>
            <a:endParaRPr lang="de-DE" sz="1600" b="0" u="none" strike="noStrike">
              <a:solidFill>
                <a:srgbClr val="FFFFFF"/>
              </a:solidFill>
              <a:effectLst/>
              <a:uFillTx/>
              <a:latin typeface="Arial"/>
            </a:endParaRPr>
          </a:p>
        </p:txBody>
      </p:sp>
      <p:sp>
        <p:nvSpPr>
          <p:cNvPr id="29" name="Text 3"/>
          <p:cNvSpPr/>
          <p:nvPr/>
        </p:nvSpPr>
        <p:spPr>
          <a:xfrm>
            <a:off x="457200" y="3303360"/>
            <a:ext cx="8223480" cy="45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FF5429"/>
                </a:solidFill>
                <a:effectLst/>
                <a:uFillTx/>
                <a:latin typeface="DejaVu Serif"/>
                <a:ea typeface="DejaVu Serif"/>
              </a:rPr>
              <a:t>49%</a:t>
            </a:r>
            <a:r>
              <a:rPr lang="en-US" sz="2400" b="1" u="none" strike="noStrike">
                <a:solidFill>
                  <a:srgbClr val="D04A02"/>
                </a:solidFill>
                <a:effectLst/>
                <a:uFillTx/>
                <a:latin typeface="DejaVu Serif"/>
                <a:ea typeface="DejaVu Serif"/>
              </a:rPr>
              <a:t> </a:t>
            </a:r>
            <a:r>
              <a:rPr lang="en-US" sz="1600" b="0" u="none" strike="noStrike">
                <a:solidFill>
                  <a:srgbClr val="E8E8E8"/>
                </a:solidFill>
                <a:effectLst/>
                <a:uFillTx/>
                <a:latin typeface="DejaVu Serif"/>
                <a:ea typeface="DejaVu Serif"/>
              </a:rPr>
              <a:t>of physicians report burnout — administrative load is the #1 cited driver</a:t>
            </a:r>
            <a:endParaRPr lang="de-DE" sz="1600" b="0" u="none" strike="noStrike">
              <a:solidFill>
                <a:srgbClr val="FFFFFF"/>
              </a:solidFill>
              <a:effectLst/>
              <a:uFillTx/>
              <a:latin typeface="Arial"/>
            </a:endParaRPr>
          </a:p>
        </p:txBody>
      </p:sp>
      <p:sp>
        <p:nvSpPr>
          <p:cNvPr id="30" name="Text 4"/>
          <p:cNvSpPr/>
          <p:nvPr/>
        </p:nvSpPr>
        <p:spPr>
          <a:xfrm>
            <a:off x="457200" y="4526280"/>
            <a:ext cx="82234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i="1" u="none" strike="noStrike">
                <a:solidFill>
                  <a:srgbClr val="8A95A0"/>
                </a:solidFill>
                <a:effectLst/>
                <a:uFillTx/>
                <a:latin typeface="DejaVu Serif"/>
                <a:ea typeface="DejaVu Serif"/>
              </a:rPr>
              <a:t>Sources: Annals of Internal Medicine, 2016 · Medscape Physician Burnout Report 2024</a:t>
            </a:r>
            <a:endParaRPr lang="de-DE" sz="900" b="0" u="none" strike="noStrike">
              <a:solidFill>
                <a:srgbClr val="FFFFFF"/>
              </a:solidFill>
              <a:effectLst/>
              <a:uFillTx/>
              <a:latin typeface="Arial"/>
            </a:endParaRPr>
          </a:p>
        </p:txBody>
      </p:sp>
      <p:sp>
        <p:nvSpPr>
          <p:cNvPr id="31" name="Text 5"/>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32" name="Text 6"/>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2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33" name="Text 0"/>
          <p:cNvSpPr/>
          <p:nvPr/>
        </p:nvSpPr>
        <p:spPr>
          <a:xfrm>
            <a:off x="457200" y="274320"/>
            <a:ext cx="822348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FFFF"/>
                </a:solidFill>
                <a:effectLst/>
                <a:uFillTx/>
                <a:latin typeface="DejaVu Serif"/>
                <a:ea typeface="DejaVu Serif"/>
              </a:rPr>
              <a:t>So we asked ourselves...</a:t>
            </a:r>
            <a:endParaRPr lang="de-DE" sz="1300" b="0" u="none" strike="noStrike">
              <a:solidFill>
                <a:srgbClr val="FFFFFF"/>
              </a:solidFill>
              <a:effectLst/>
              <a:uFillTx/>
              <a:latin typeface="Arial"/>
            </a:endParaRPr>
          </a:p>
        </p:txBody>
      </p:sp>
      <p:sp>
        <p:nvSpPr>
          <p:cNvPr id="34" name="Text 1"/>
          <p:cNvSpPr/>
          <p:nvPr/>
        </p:nvSpPr>
        <p:spPr>
          <a:xfrm>
            <a:off x="457200" y="822960"/>
            <a:ext cx="8223480" cy="13654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0" u="none" strike="noStrike">
                <a:solidFill>
                  <a:srgbClr val="E8E8E8"/>
                </a:solidFill>
                <a:effectLst/>
                <a:uFillTx/>
                <a:latin typeface="DejaVu Serif"/>
                <a:ea typeface="DejaVu Serif"/>
              </a:rPr>
              <a:t>"Can an AI listen to a doctor-patient conversation</a:t>
            </a:r>
            <a:endParaRPr lang="de-DE" sz="2200" b="0" u="none" strike="noStrike">
              <a:solidFill>
                <a:srgbClr val="FFFFFF"/>
              </a:solidFill>
              <a:effectLst/>
              <a:uFillTx/>
              <a:latin typeface="Arial"/>
            </a:endParaRPr>
          </a:p>
          <a:p>
            <a:pPr algn="ctr" defTabSz="914400">
              <a:lnSpc>
                <a:spcPct val="100000"/>
              </a:lnSpc>
              <a:tabLst>
                <a:tab pos="0" algn="l"/>
              </a:tabLst>
            </a:pPr>
            <a:r>
              <a:rPr lang="en-US" sz="2200" b="0" u="none" strike="noStrike">
                <a:solidFill>
                  <a:srgbClr val="E8E8E8"/>
                </a:solidFill>
                <a:effectLst/>
                <a:uFillTx/>
                <a:latin typeface="DejaVu Serif"/>
                <a:ea typeface="DejaVu Serif"/>
              </a:rPr>
              <a:t>and produce usable medical documentation —</a:t>
            </a:r>
            <a:endParaRPr lang="de-DE" sz="2200" b="0" u="none" strike="noStrike">
              <a:solidFill>
                <a:srgbClr val="FFFFFF"/>
              </a:solidFill>
              <a:effectLst/>
              <a:uFillTx/>
              <a:latin typeface="Arial"/>
            </a:endParaRPr>
          </a:p>
          <a:p>
            <a:pPr algn="ctr" defTabSz="914400">
              <a:lnSpc>
                <a:spcPct val="100000"/>
              </a:lnSpc>
              <a:tabLst>
                <a:tab pos="0" algn="l"/>
              </a:tabLst>
            </a:pPr>
            <a:r>
              <a:rPr lang="en-US" sz="2200" b="0" u="none" strike="noStrike">
                <a:solidFill>
                  <a:srgbClr val="E8E8E8"/>
                </a:solidFill>
                <a:effectLst/>
                <a:uFillTx/>
                <a:latin typeface="DejaVu Serif"/>
                <a:ea typeface="DejaVu Serif"/>
              </a:rPr>
              <a:t>completely automatically?"</a:t>
            </a:r>
            <a:endParaRPr lang="de-DE" sz="2200" b="0" u="none" strike="noStrike">
              <a:solidFill>
                <a:srgbClr val="FFFFFF"/>
              </a:solidFill>
              <a:effectLst/>
              <a:uFillTx/>
              <a:latin typeface="Arial"/>
            </a:endParaRPr>
          </a:p>
        </p:txBody>
      </p:sp>
      <p:sp>
        <p:nvSpPr>
          <p:cNvPr id="35" name="Text 3"/>
          <p:cNvSpPr/>
          <p:nvPr/>
        </p:nvSpPr>
        <p:spPr>
          <a:xfrm>
            <a:off x="1490400" y="2743200"/>
            <a:ext cx="579240" cy="579240"/>
          </a:xfrm>
          <a:prstGeom prst="rect">
            <a:avLst/>
          </a:prstGeom>
          <a:noFill/>
          <a:ln w="0">
            <a:noFill/>
          </a:ln>
        </p:spPr>
        <p:style>
          <a:lnRef idx="0"/>
          <a:fillRef idx="0"/>
          <a:effectRef idx="0"/>
          <a:fontRef idx="minor"/>
        </p:style>
        <p:txBody>
          <a:bodyPr lIns="0" tIns="0" rIns="0" bIns="0" anchor="ctr">
            <a:noAutofit/>
          </a:bodyPr>
          <a:p>
            <a:endParaRPr lang="en-US" sz="2200" b="0" u="none" strike="noStrike">
              <a:solidFill>
                <a:schemeClr val="dk1"/>
              </a:solidFill>
              <a:effectLst/>
              <a:uFillTx/>
              <a:latin typeface="Calibri"/>
            </a:endParaRPr>
          </a:p>
        </p:txBody>
      </p:sp>
      <p:sp>
        <p:nvSpPr>
          <p:cNvPr id="36" name="Text 4"/>
          <p:cNvSpPr/>
          <p:nvPr/>
        </p:nvSpPr>
        <p:spPr>
          <a:xfrm>
            <a:off x="502920" y="3474720"/>
            <a:ext cx="255420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5429"/>
                </a:solidFill>
                <a:effectLst/>
                <a:uFillTx/>
                <a:latin typeface="DejaVu Serif"/>
                <a:ea typeface="DejaVu Serif"/>
              </a:rPr>
              <a:t>Accurate</a:t>
            </a:r>
            <a:endParaRPr lang="de-DE" sz="1600" b="0" u="none" strike="noStrike">
              <a:solidFill>
                <a:srgbClr val="FFFFFF"/>
              </a:solidFill>
              <a:effectLst/>
              <a:uFillTx/>
              <a:latin typeface="Arial"/>
            </a:endParaRPr>
          </a:p>
        </p:txBody>
      </p:sp>
      <p:sp>
        <p:nvSpPr>
          <p:cNvPr id="37" name="Text 5"/>
          <p:cNvSpPr/>
          <p:nvPr/>
        </p:nvSpPr>
        <p:spPr>
          <a:xfrm>
            <a:off x="502920" y="3794760"/>
            <a:ext cx="255420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Facts must match what was said</a:t>
            </a:r>
            <a:endParaRPr lang="de-DE" sz="1300" b="0" u="none" strike="noStrike">
              <a:solidFill>
                <a:srgbClr val="FFFFFF"/>
              </a:solidFill>
              <a:effectLst/>
              <a:uFillTx/>
              <a:latin typeface="Arial"/>
            </a:endParaRPr>
          </a:p>
        </p:txBody>
      </p:sp>
      <p:sp>
        <p:nvSpPr>
          <p:cNvPr id="38" name="Text 8"/>
          <p:cNvSpPr/>
          <p:nvPr/>
        </p:nvSpPr>
        <p:spPr>
          <a:xfrm>
            <a:off x="3291840" y="3474720"/>
            <a:ext cx="255420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5429"/>
                </a:solidFill>
                <a:effectLst/>
                <a:uFillTx/>
                <a:latin typeface="DejaVu Serif"/>
                <a:ea typeface="DejaVu Serif"/>
              </a:rPr>
              <a:t>Structured</a:t>
            </a:r>
            <a:endParaRPr lang="de-DE" sz="1600" b="0" u="none" strike="noStrike">
              <a:solidFill>
                <a:srgbClr val="FFFFFF"/>
              </a:solidFill>
              <a:effectLst/>
              <a:uFillTx/>
              <a:latin typeface="Arial"/>
            </a:endParaRPr>
          </a:p>
        </p:txBody>
      </p:sp>
      <p:sp>
        <p:nvSpPr>
          <p:cNvPr id="39" name="Text 9"/>
          <p:cNvSpPr/>
          <p:nvPr/>
        </p:nvSpPr>
        <p:spPr>
          <a:xfrm>
            <a:off x="3291840" y="3794760"/>
            <a:ext cx="255420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SOAP format implementation</a:t>
            </a:r>
            <a:endParaRPr lang="de-DE" sz="1300" b="0" u="none" strike="noStrike">
              <a:solidFill>
                <a:srgbClr val="FFFFFF"/>
              </a:solidFill>
              <a:effectLst/>
              <a:uFillTx/>
              <a:latin typeface="Arial"/>
            </a:endParaRPr>
          </a:p>
        </p:txBody>
      </p:sp>
      <p:sp>
        <p:nvSpPr>
          <p:cNvPr id="40" name="Text 12"/>
          <p:cNvSpPr/>
          <p:nvPr/>
        </p:nvSpPr>
        <p:spPr>
          <a:xfrm>
            <a:off x="6080760" y="3474720"/>
            <a:ext cx="255420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5429"/>
                </a:solidFill>
                <a:effectLst/>
                <a:uFillTx/>
                <a:latin typeface="DejaVu Serif"/>
                <a:ea typeface="DejaVu Serif"/>
              </a:rPr>
              <a:t>Trustworthy</a:t>
            </a:r>
            <a:endParaRPr lang="de-DE" sz="1600" b="0" u="none" strike="noStrike">
              <a:solidFill>
                <a:srgbClr val="FFFFFF"/>
              </a:solidFill>
              <a:effectLst/>
              <a:uFillTx/>
              <a:latin typeface="Arial"/>
            </a:endParaRPr>
          </a:p>
        </p:txBody>
      </p:sp>
      <p:sp>
        <p:nvSpPr>
          <p:cNvPr id="41" name="Text 13"/>
          <p:cNvSpPr/>
          <p:nvPr/>
        </p:nvSpPr>
        <p:spPr>
          <a:xfrm>
            <a:off x="6080760" y="3794760"/>
            <a:ext cx="255420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Zero tolerance for hallucinations</a:t>
            </a:r>
            <a:endParaRPr lang="de-DE" sz="1300" b="0" u="none" strike="noStrike">
              <a:solidFill>
                <a:srgbClr val="FFFFFF"/>
              </a:solidFill>
              <a:effectLst/>
              <a:uFillTx/>
              <a:latin typeface="Arial"/>
            </a:endParaRPr>
          </a:p>
        </p:txBody>
      </p:sp>
      <p:sp>
        <p:nvSpPr>
          <p:cNvPr id="42" name="Text 14"/>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43" name="Text 15"/>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3 / 19</a:t>
            </a:r>
            <a:endParaRPr lang="de-DE" sz="800" b="0" u="none" strike="noStrike">
              <a:solidFill>
                <a:srgbClr val="FFFFFF"/>
              </a:solidFill>
              <a:effectLst/>
              <a:uFillTx/>
              <a:latin typeface="Arial"/>
            </a:endParaRPr>
          </a:p>
        </p:txBody>
      </p:sp>
      <p:pic>
        <p:nvPicPr>
          <p:cNvPr id="44" name="Grafik 35"/>
          <p:cNvPicPr/>
          <p:nvPr/>
        </p:nvPicPr>
        <p:blipFill>
          <a:blip r:embed="rId1"/>
          <a:stretch/>
        </p:blipFill>
        <p:spPr>
          <a:xfrm>
            <a:off x="1483200" y="2759040"/>
            <a:ext cx="586440" cy="585720"/>
          </a:xfrm>
          <a:prstGeom prst="rect">
            <a:avLst/>
          </a:prstGeom>
          <a:noFill/>
          <a:ln w="0">
            <a:noFill/>
          </a:ln>
        </p:spPr>
      </p:pic>
      <p:pic>
        <p:nvPicPr>
          <p:cNvPr id="45" name="Grafik 36"/>
          <p:cNvPicPr/>
          <p:nvPr/>
        </p:nvPicPr>
        <p:blipFill>
          <a:blip r:embed="rId2"/>
          <a:stretch/>
        </p:blipFill>
        <p:spPr>
          <a:xfrm>
            <a:off x="4343760" y="2759040"/>
            <a:ext cx="450000" cy="594720"/>
          </a:xfrm>
          <a:prstGeom prst="rect">
            <a:avLst/>
          </a:prstGeom>
          <a:noFill/>
          <a:ln w="0">
            <a:noFill/>
          </a:ln>
        </p:spPr>
      </p:pic>
      <p:pic>
        <p:nvPicPr>
          <p:cNvPr id="46" name="Grafik 37"/>
          <p:cNvPicPr/>
          <p:nvPr/>
        </p:nvPicPr>
        <p:blipFill>
          <a:blip r:embed="rId3"/>
          <a:stretch/>
        </p:blipFill>
        <p:spPr>
          <a:xfrm>
            <a:off x="7048800" y="2759040"/>
            <a:ext cx="606600" cy="6066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47" name="Shape 1"/>
          <p:cNvSpPr/>
          <p:nvPr/>
        </p:nvSpPr>
        <p:spPr>
          <a:xfrm>
            <a:off x="452520" y="1626480"/>
            <a:ext cx="1822680" cy="1456920"/>
          </a:xfrm>
          <a:prstGeom prst="roundRect">
            <a:avLst>
              <a:gd name="adj" fmla="val 10764"/>
            </a:avLst>
          </a:prstGeom>
          <a:solidFill>
            <a:srgbClr val="D04A02"/>
          </a:solidFill>
          <a:ln w="12600">
            <a:solidFill>
              <a:srgbClr val="FFFFFF"/>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48"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Four stages — one workflow</a:t>
            </a:r>
            <a:endParaRPr lang="de-DE" sz="2400" b="0" u="none" strike="noStrike">
              <a:solidFill>
                <a:srgbClr val="FFFFFF"/>
              </a:solidFill>
              <a:effectLst/>
              <a:uFillTx/>
              <a:latin typeface="Arial"/>
            </a:endParaRPr>
          </a:p>
        </p:txBody>
      </p:sp>
      <p:sp>
        <p:nvSpPr>
          <p:cNvPr id="49" name="Text 2"/>
          <p:cNvSpPr/>
          <p:nvPr/>
        </p:nvSpPr>
        <p:spPr>
          <a:xfrm>
            <a:off x="589680" y="2175120"/>
            <a:ext cx="154836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DejaVu Serif"/>
                <a:ea typeface="DejaVu Serif"/>
              </a:rPr>
              <a:t>Audio Capture</a:t>
            </a:r>
            <a:endParaRPr lang="de-DE" sz="1600" b="0" u="none" strike="noStrike">
              <a:solidFill>
                <a:srgbClr val="FFFFFF"/>
              </a:solidFill>
              <a:effectLst/>
              <a:uFillTx/>
              <a:latin typeface="Arial"/>
            </a:endParaRPr>
          </a:p>
        </p:txBody>
      </p:sp>
      <p:sp>
        <p:nvSpPr>
          <p:cNvPr id="50" name="Text 4"/>
          <p:cNvSpPr/>
          <p:nvPr/>
        </p:nvSpPr>
        <p:spPr>
          <a:xfrm>
            <a:off x="2281320" y="2175120"/>
            <a:ext cx="27720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8A95A0"/>
                </a:solidFill>
                <a:effectLst/>
                <a:uFillTx/>
                <a:latin typeface="DejaVu Serif"/>
                <a:ea typeface="DejaVu Serif"/>
              </a:rPr>
              <a:t>→</a:t>
            </a:r>
            <a:endParaRPr lang="de-DE" sz="2000" b="0" u="none" strike="noStrike">
              <a:solidFill>
                <a:srgbClr val="FFFFFF"/>
              </a:solidFill>
              <a:effectLst/>
              <a:uFillTx/>
              <a:latin typeface="Arial"/>
            </a:endParaRPr>
          </a:p>
        </p:txBody>
      </p:sp>
      <p:sp>
        <p:nvSpPr>
          <p:cNvPr id="51" name="Shape 5"/>
          <p:cNvSpPr/>
          <p:nvPr/>
        </p:nvSpPr>
        <p:spPr>
          <a:xfrm>
            <a:off x="2583360" y="1626480"/>
            <a:ext cx="1822680" cy="1456920"/>
          </a:xfrm>
          <a:prstGeom prst="roundRect">
            <a:avLst>
              <a:gd name="adj" fmla="val 9375"/>
            </a:avLst>
          </a:prstGeom>
          <a:solidFill>
            <a:srgbClr val="D04A02"/>
          </a:solidFill>
          <a:ln w="12600">
            <a:solidFill>
              <a:srgbClr val="FFFFFF"/>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52" name="Text 6"/>
          <p:cNvSpPr/>
          <p:nvPr/>
        </p:nvSpPr>
        <p:spPr>
          <a:xfrm>
            <a:off x="2715840" y="2175120"/>
            <a:ext cx="154836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DejaVu Serif"/>
                <a:ea typeface="DejaVu Serif"/>
              </a:rPr>
              <a:t>STT + Diarization</a:t>
            </a:r>
            <a:endParaRPr lang="de-DE" sz="1600" b="0" u="none" strike="noStrike">
              <a:solidFill>
                <a:srgbClr val="FFFFFF"/>
              </a:solidFill>
              <a:effectLst/>
              <a:uFillTx/>
              <a:latin typeface="Arial"/>
            </a:endParaRPr>
          </a:p>
        </p:txBody>
      </p:sp>
      <p:sp>
        <p:nvSpPr>
          <p:cNvPr id="53" name="Text 8"/>
          <p:cNvSpPr/>
          <p:nvPr/>
        </p:nvSpPr>
        <p:spPr>
          <a:xfrm>
            <a:off x="4430160" y="2175120"/>
            <a:ext cx="27720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8A95A0"/>
                </a:solidFill>
                <a:effectLst/>
                <a:uFillTx/>
                <a:latin typeface="DejaVu Serif"/>
                <a:ea typeface="DejaVu Serif"/>
              </a:rPr>
              <a:t>→</a:t>
            </a:r>
            <a:endParaRPr lang="de-DE" sz="2000" b="0" u="none" strike="noStrike">
              <a:solidFill>
                <a:srgbClr val="FFFFFF"/>
              </a:solidFill>
              <a:effectLst/>
              <a:uFillTx/>
              <a:latin typeface="Arial"/>
            </a:endParaRPr>
          </a:p>
        </p:txBody>
      </p:sp>
      <p:sp>
        <p:nvSpPr>
          <p:cNvPr id="54" name="Shape 9"/>
          <p:cNvSpPr/>
          <p:nvPr/>
        </p:nvSpPr>
        <p:spPr>
          <a:xfrm>
            <a:off x="4732200" y="1626480"/>
            <a:ext cx="1822680" cy="1456920"/>
          </a:xfrm>
          <a:prstGeom prst="roundRect">
            <a:avLst>
              <a:gd name="adj" fmla="val 9375"/>
            </a:avLst>
          </a:prstGeom>
          <a:solidFill>
            <a:srgbClr val="D04A02"/>
          </a:solidFill>
          <a:ln w="12600">
            <a:solidFill>
              <a:srgbClr val="FFFFFF"/>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55" name="Text 10"/>
          <p:cNvSpPr/>
          <p:nvPr/>
        </p:nvSpPr>
        <p:spPr>
          <a:xfrm>
            <a:off x="4869360" y="2175120"/>
            <a:ext cx="154836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DejaVu Serif"/>
                <a:ea typeface="DejaVu Serif"/>
              </a:rPr>
              <a:t>Format LLM</a:t>
            </a:r>
            <a:endParaRPr lang="de-DE" sz="1600" b="0" u="none" strike="noStrike">
              <a:solidFill>
                <a:srgbClr val="FFFFFF"/>
              </a:solidFill>
              <a:effectLst/>
              <a:uFillTx/>
              <a:latin typeface="Arial"/>
            </a:endParaRPr>
          </a:p>
        </p:txBody>
      </p:sp>
      <p:sp>
        <p:nvSpPr>
          <p:cNvPr id="56" name="Text 12"/>
          <p:cNvSpPr/>
          <p:nvPr/>
        </p:nvSpPr>
        <p:spPr>
          <a:xfrm>
            <a:off x="6579000" y="2175120"/>
            <a:ext cx="27720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u="none" strike="noStrike">
                <a:solidFill>
                  <a:srgbClr val="8A95A0"/>
                </a:solidFill>
                <a:effectLst/>
                <a:uFillTx/>
                <a:latin typeface="DejaVu Serif"/>
                <a:ea typeface="DejaVu Serif"/>
              </a:rPr>
              <a:t>→</a:t>
            </a:r>
            <a:endParaRPr lang="de-DE" sz="2000" b="0" u="none" strike="noStrike">
              <a:solidFill>
                <a:srgbClr val="FFFFFF"/>
              </a:solidFill>
              <a:effectLst/>
              <a:uFillTx/>
              <a:latin typeface="Arial"/>
            </a:endParaRPr>
          </a:p>
        </p:txBody>
      </p:sp>
      <p:sp>
        <p:nvSpPr>
          <p:cNvPr id="57" name="Shape 13"/>
          <p:cNvSpPr/>
          <p:nvPr/>
        </p:nvSpPr>
        <p:spPr>
          <a:xfrm>
            <a:off x="6881040" y="1626480"/>
            <a:ext cx="1822680" cy="1456920"/>
          </a:xfrm>
          <a:prstGeom prst="roundRect">
            <a:avLst>
              <a:gd name="adj" fmla="val 9375"/>
            </a:avLst>
          </a:prstGeom>
          <a:solidFill>
            <a:srgbClr val="D04A02"/>
          </a:solidFill>
          <a:ln w="12600">
            <a:solidFill>
              <a:srgbClr val="FFFFFF"/>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58" name="Text 14"/>
          <p:cNvSpPr/>
          <p:nvPr/>
        </p:nvSpPr>
        <p:spPr>
          <a:xfrm>
            <a:off x="6995160" y="2178360"/>
            <a:ext cx="154836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DejaVu Serif"/>
                <a:ea typeface="DejaVu Serif"/>
              </a:rPr>
              <a:t>SOAP LLM</a:t>
            </a:r>
            <a:endParaRPr lang="de-DE" sz="1600" b="0" u="none" strike="noStrike">
              <a:solidFill>
                <a:srgbClr val="FFFFFF"/>
              </a:solidFill>
              <a:effectLst/>
              <a:uFillTx/>
              <a:latin typeface="Arial"/>
            </a:endParaRPr>
          </a:p>
        </p:txBody>
      </p:sp>
      <p:sp>
        <p:nvSpPr>
          <p:cNvPr id="59" name="Text 16"/>
          <p:cNvSpPr/>
          <p:nvPr/>
        </p:nvSpPr>
        <p:spPr>
          <a:xfrm>
            <a:off x="434520" y="3226680"/>
            <a:ext cx="182268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E8E8E8"/>
                </a:solidFill>
                <a:effectLst/>
                <a:uFillTx/>
                <a:latin typeface="DejaVu Serif"/>
                <a:ea typeface="DejaVu Serif"/>
              </a:rPr>
              <a:t>① Recording</a:t>
            </a:r>
            <a:endParaRPr lang="de-DE" sz="1300" b="0" u="none" strike="noStrike">
              <a:solidFill>
                <a:srgbClr val="FFFFFF"/>
              </a:solidFill>
              <a:effectLst/>
              <a:uFillTx/>
              <a:latin typeface="Arial"/>
            </a:endParaRPr>
          </a:p>
        </p:txBody>
      </p:sp>
      <p:sp>
        <p:nvSpPr>
          <p:cNvPr id="60" name="Text 17"/>
          <p:cNvSpPr/>
          <p:nvPr/>
        </p:nvSpPr>
        <p:spPr>
          <a:xfrm>
            <a:off x="2583360" y="3226680"/>
            <a:ext cx="182268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E8E8E8"/>
                </a:solidFill>
                <a:effectLst/>
                <a:uFillTx/>
                <a:latin typeface="DejaVu Serif"/>
                <a:ea typeface="DejaVu Serif"/>
              </a:rPr>
              <a:t>② Transcribe</a:t>
            </a:r>
            <a:endParaRPr lang="de-DE" sz="1300" b="0" u="none" strike="noStrike">
              <a:solidFill>
                <a:srgbClr val="FFFFFF"/>
              </a:solidFill>
              <a:effectLst/>
              <a:uFillTx/>
              <a:latin typeface="Arial"/>
            </a:endParaRPr>
          </a:p>
        </p:txBody>
      </p:sp>
      <p:sp>
        <p:nvSpPr>
          <p:cNvPr id="61" name="Text 18"/>
          <p:cNvSpPr/>
          <p:nvPr/>
        </p:nvSpPr>
        <p:spPr>
          <a:xfrm>
            <a:off x="4732200" y="3226680"/>
            <a:ext cx="182268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E8E8E8"/>
                </a:solidFill>
                <a:effectLst/>
                <a:uFillTx/>
                <a:latin typeface="DejaVu Serif"/>
                <a:ea typeface="DejaVu Serif"/>
              </a:rPr>
              <a:t>③ Format</a:t>
            </a:r>
            <a:endParaRPr lang="de-DE" sz="1300" b="0" u="none" strike="noStrike">
              <a:solidFill>
                <a:srgbClr val="FFFFFF"/>
              </a:solidFill>
              <a:effectLst/>
              <a:uFillTx/>
              <a:latin typeface="Arial"/>
            </a:endParaRPr>
          </a:p>
        </p:txBody>
      </p:sp>
      <p:sp>
        <p:nvSpPr>
          <p:cNvPr id="62" name="Text 19"/>
          <p:cNvSpPr/>
          <p:nvPr/>
        </p:nvSpPr>
        <p:spPr>
          <a:xfrm>
            <a:off x="6881040" y="3226680"/>
            <a:ext cx="182268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E8E8E8"/>
                </a:solidFill>
                <a:effectLst/>
                <a:uFillTx/>
                <a:latin typeface="DejaVu Serif"/>
                <a:ea typeface="DejaVu Serif"/>
              </a:rPr>
              <a:t>④ Generate</a:t>
            </a:r>
            <a:endParaRPr lang="de-DE" sz="1300" b="0" u="none" strike="noStrike">
              <a:solidFill>
                <a:srgbClr val="FFFFFF"/>
              </a:solidFill>
              <a:effectLst/>
              <a:uFillTx/>
              <a:latin typeface="Arial"/>
            </a:endParaRPr>
          </a:p>
        </p:txBody>
      </p:sp>
      <p:sp>
        <p:nvSpPr>
          <p:cNvPr id="63" name="Text 20"/>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64" name="Text 21"/>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4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fill="hold"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fill="hold"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fill="hold" nodeType="with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65"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The Contenders</a:t>
            </a:r>
            <a:endParaRPr lang="de-DE" sz="2400" b="0" u="none" strike="noStrike">
              <a:solidFill>
                <a:srgbClr val="FFFFFF"/>
              </a:solidFill>
              <a:effectLst/>
              <a:uFillTx/>
              <a:latin typeface="Arial"/>
            </a:endParaRPr>
          </a:p>
        </p:txBody>
      </p:sp>
      <p:sp>
        <p:nvSpPr>
          <p:cNvPr id="66" name="Text 1"/>
          <p:cNvSpPr/>
          <p:nvPr/>
        </p:nvSpPr>
        <p:spPr>
          <a:xfrm>
            <a:off x="457200" y="1280160"/>
            <a:ext cx="392580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5429"/>
                </a:solidFill>
                <a:effectLst/>
                <a:uFillTx/>
                <a:latin typeface="DejaVu Serif"/>
                <a:ea typeface="DejaVu Serif"/>
              </a:rPr>
              <a:t>STT Models</a:t>
            </a:r>
            <a:endParaRPr lang="de-DE" sz="1300" b="0" u="none" strike="noStrike">
              <a:solidFill>
                <a:srgbClr val="FFFFFF"/>
              </a:solidFill>
              <a:effectLst/>
              <a:uFillTx/>
              <a:latin typeface="Arial"/>
            </a:endParaRPr>
          </a:p>
        </p:txBody>
      </p:sp>
      <p:graphicFrame>
        <p:nvGraphicFramePr>
          <p:cNvPr id="67" name="Table 0"/>
          <p:cNvGraphicFramePr/>
          <p:nvPr/>
        </p:nvGraphicFramePr>
        <p:xfrm>
          <a:off x="457200" y="1645920"/>
          <a:ext cx="3931560" cy="1160640"/>
        </p:xfrm>
        <a:graphic>
          <a:graphicData uri="http://schemas.openxmlformats.org/drawingml/2006/table">
            <a:tbl>
              <a:tblPr/>
              <a:tblGrid>
                <a:gridCol w="2377440"/>
                <a:gridCol w="1554480"/>
              </a:tblGrid>
              <a:tr h="0">
                <a:tc>
                  <a:txBody>
                    <a:bodyPr anchor="t">
                      <a:noAutofit/>
                    </a:bodyPr>
                    <a:p>
                      <a:pPr defTabSz="914400">
                        <a:lnSpc>
                          <a:spcPct val="100000"/>
                        </a:lnSpc>
                        <a:tabLst>
                          <a:tab pos="0" algn="l"/>
                        </a:tabLst>
                      </a:pPr>
                      <a:r>
                        <a:rPr lang="en-US" sz="1300" b="1" u="none" strike="noStrike">
                          <a:solidFill>
                            <a:srgbClr val="FFFFFF"/>
                          </a:solidFill>
                          <a:effectLst/>
                          <a:uFillTx/>
                          <a:latin typeface="DejaVu Serif"/>
                          <a:ea typeface="DejaVu Serif"/>
                        </a:rPr>
                        <a:t>Model</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solidFill>
                      <a:srgbClr val="D04A02"/>
                    </a:solidFill>
                  </a:tcPr>
                </a:tc>
                <a:tc>
                  <a:txBody>
                    <a:bodyPr anchor="t">
                      <a:noAutofit/>
                    </a:bodyPr>
                    <a:p>
                      <a:pPr defTabSz="914400">
                        <a:lnSpc>
                          <a:spcPct val="100000"/>
                        </a:lnSpc>
                        <a:tabLst>
                          <a:tab pos="0" algn="l"/>
                        </a:tabLst>
                      </a:pPr>
                      <a:r>
                        <a:rPr lang="en-US" sz="1300" b="1" u="none" strike="noStrike">
                          <a:solidFill>
                            <a:srgbClr val="FFFFFF"/>
                          </a:solidFill>
                          <a:effectLst/>
                          <a:uFillTx/>
                          <a:latin typeface="DejaVu Serif"/>
                          <a:ea typeface="DejaVu Serif"/>
                        </a:rPr>
                        <a:t>Type</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solidFill>
                      <a:srgbClr val="D04A02"/>
                    </a:solidFill>
                  </a:tcPr>
                </a:tc>
              </a:tr>
              <a:tr h="0">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AssemblyAI</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      </a:t>
                      </a:r>
                      <a:r>
                        <a:rPr lang="en-US" sz="1300" b="0" u="none" strike="noStrike">
                          <a:solidFill>
                            <a:srgbClr val="E8E8E8"/>
                          </a:solidFill>
                          <a:effectLst/>
                          <a:uFillTx/>
                          <a:latin typeface="DejaVu Serif"/>
                          <a:ea typeface="DejaVu Serif"/>
                        </a:rPr>
                        <a:t>Cloud</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r h="0">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Speechmatics</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     Cloud</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r h="0">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Whisper turbo (~800M)</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 </a:t>
                      </a:r>
                      <a:r>
                        <a:rPr lang="en-US" sz="1300" b="0" u="none" strike="noStrike">
                          <a:solidFill>
                            <a:srgbClr val="E8E8E8"/>
                          </a:solidFill>
                          <a:effectLst/>
                          <a:uFillTx/>
                          <a:latin typeface="DejaVu Serif"/>
                          <a:ea typeface="DejaVu Serif"/>
                        </a:rPr>
                        <a:t>Local</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bl>
          </a:graphicData>
        </a:graphic>
      </p:graphicFrame>
      <p:sp>
        <p:nvSpPr>
          <p:cNvPr id="68" name="Text 2"/>
          <p:cNvSpPr/>
          <p:nvPr/>
        </p:nvSpPr>
        <p:spPr>
          <a:xfrm>
            <a:off x="4754880" y="1280160"/>
            <a:ext cx="392580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5429"/>
                </a:solidFill>
                <a:effectLst/>
                <a:uFillTx/>
                <a:latin typeface="DejaVu Serif"/>
                <a:ea typeface="DejaVu Serif"/>
              </a:rPr>
              <a:t>LLM Models</a:t>
            </a:r>
            <a:endParaRPr lang="de-DE" sz="1300" b="0" u="none" strike="noStrike">
              <a:solidFill>
                <a:srgbClr val="FFFFFF"/>
              </a:solidFill>
              <a:effectLst/>
              <a:uFillTx/>
              <a:latin typeface="Arial"/>
            </a:endParaRPr>
          </a:p>
        </p:txBody>
      </p:sp>
      <p:graphicFrame>
        <p:nvGraphicFramePr>
          <p:cNvPr id="69" name="Table 1"/>
          <p:cNvGraphicFramePr/>
          <p:nvPr/>
        </p:nvGraphicFramePr>
        <p:xfrm>
          <a:off x="4754880" y="1645920"/>
          <a:ext cx="3931560" cy="1450800"/>
        </p:xfrm>
        <a:graphic>
          <a:graphicData uri="http://schemas.openxmlformats.org/drawingml/2006/table">
            <a:tbl>
              <a:tblPr/>
              <a:tblGrid>
                <a:gridCol w="2377440"/>
                <a:gridCol w="1554480"/>
              </a:tblGrid>
              <a:tr h="0">
                <a:tc>
                  <a:txBody>
                    <a:bodyPr anchor="t">
                      <a:noAutofit/>
                    </a:bodyPr>
                    <a:p>
                      <a:pPr defTabSz="914400">
                        <a:lnSpc>
                          <a:spcPct val="100000"/>
                        </a:lnSpc>
                        <a:tabLst>
                          <a:tab pos="0" algn="l"/>
                        </a:tabLst>
                      </a:pPr>
                      <a:r>
                        <a:rPr lang="en-US" sz="1300" b="1" u="none" strike="noStrike">
                          <a:solidFill>
                            <a:srgbClr val="FFFFFF"/>
                          </a:solidFill>
                          <a:effectLst/>
                          <a:uFillTx/>
                          <a:latin typeface="DejaVu Serif"/>
                          <a:ea typeface="DejaVu Serif"/>
                        </a:rPr>
                        <a:t>Model</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solidFill>
                      <a:srgbClr val="D04A02"/>
                    </a:solidFill>
                  </a:tcPr>
                </a:tc>
                <a:tc>
                  <a:txBody>
                    <a:bodyPr anchor="t">
                      <a:noAutofit/>
                    </a:bodyPr>
                    <a:p>
                      <a:pPr defTabSz="914400">
                        <a:lnSpc>
                          <a:spcPct val="100000"/>
                        </a:lnSpc>
                        <a:tabLst>
                          <a:tab pos="0" algn="l"/>
                        </a:tabLst>
                      </a:pPr>
                      <a:r>
                        <a:rPr lang="en-US" sz="1300" b="1" u="none" strike="noStrike">
                          <a:solidFill>
                            <a:srgbClr val="FFFFFF"/>
                          </a:solidFill>
                          <a:effectLst/>
                          <a:uFillTx/>
                          <a:latin typeface="DejaVu Serif"/>
                          <a:ea typeface="DejaVu Serif"/>
                        </a:rPr>
                        <a:t>Type</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solidFill>
                      <a:srgbClr val="D04A02"/>
                    </a:solidFill>
                  </a:tcPr>
                </a:tc>
              </a:tr>
              <a:tr h="0">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GPT-</a:t>
                      </a:r>
                      <a:r>
                        <a:rPr lang="en-US" sz="1300" b="0" u="none" strike="noStrike">
                          <a:solidFill>
                            <a:srgbClr val="E8E8E8"/>
                          </a:solidFill>
                          <a:effectLst/>
                          <a:uFillTx/>
                          <a:latin typeface="DejaVu Serif"/>
                          <a:ea typeface="DejaVu Serif"/>
                        </a:rPr>
                        <a:t>4o</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     Cloud</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r h="0">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SauerkrautLM 8B</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 </a:t>
                      </a:r>
                      <a:r>
                        <a:rPr lang="en-US" sz="1300" b="0" u="none" strike="noStrike">
                          <a:solidFill>
                            <a:srgbClr val="E8E8E8"/>
                          </a:solidFill>
                          <a:effectLst/>
                          <a:uFillTx/>
                          <a:latin typeface="DejaVu Serif"/>
                          <a:ea typeface="DejaVu Serif"/>
                        </a:rPr>
                        <a:t>Local</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r h="0">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Llama 3.2 3B</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 Local</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r h="0">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Gemma 4 4B</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 Local</a:t>
                      </a:r>
                      <a:endParaRPr lang="de-DE" sz="13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bl>
          </a:graphicData>
        </a:graphic>
      </p:graphicFrame>
      <p:sp>
        <p:nvSpPr>
          <p:cNvPr id="70" name="Text 3"/>
          <p:cNvSpPr/>
          <p:nvPr/>
        </p:nvSpPr>
        <p:spPr>
          <a:xfrm>
            <a:off x="457200" y="3291840"/>
            <a:ext cx="822348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Tested Combinations</a:t>
            </a:r>
            <a:endParaRPr lang="de-DE" sz="1300" b="0" u="none" strike="noStrike">
              <a:solidFill>
                <a:srgbClr val="FFFFFF"/>
              </a:solidFill>
              <a:effectLst/>
              <a:uFillTx/>
              <a:latin typeface="Arial"/>
            </a:endParaRPr>
          </a:p>
        </p:txBody>
      </p:sp>
      <p:sp>
        <p:nvSpPr>
          <p:cNvPr id="71" name="Shape 4"/>
          <p:cNvSpPr/>
          <p:nvPr/>
        </p:nvSpPr>
        <p:spPr>
          <a:xfrm>
            <a:off x="411480" y="3703320"/>
            <a:ext cx="1548360" cy="816840"/>
          </a:xfrm>
          <a:prstGeom prst="roundRect">
            <a:avLst>
              <a:gd name="adj" fmla="val 16667"/>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72" name="Text 6"/>
          <p:cNvSpPr/>
          <p:nvPr/>
        </p:nvSpPr>
        <p:spPr>
          <a:xfrm>
            <a:off x="502920" y="3960000"/>
            <a:ext cx="136548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FFFF"/>
                </a:solidFill>
                <a:effectLst/>
                <a:uFillTx/>
                <a:latin typeface="DejaVu Serif"/>
                <a:ea typeface="DejaVu Serif"/>
              </a:rPr>
              <a:t>AssemblyAI + GPT-4o</a:t>
            </a:r>
            <a:endParaRPr lang="de-DE" sz="1300" b="0" u="none" strike="noStrike">
              <a:solidFill>
                <a:srgbClr val="FFFFFF"/>
              </a:solidFill>
              <a:effectLst/>
              <a:uFillTx/>
              <a:latin typeface="Arial"/>
            </a:endParaRPr>
          </a:p>
        </p:txBody>
      </p:sp>
      <p:sp>
        <p:nvSpPr>
          <p:cNvPr id="73" name="Shape 7"/>
          <p:cNvSpPr/>
          <p:nvPr/>
        </p:nvSpPr>
        <p:spPr>
          <a:xfrm>
            <a:off x="2103120" y="3703320"/>
            <a:ext cx="1548360" cy="816840"/>
          </a:xfrm>
          <a:prstGeom prst="roundRect">
            <a:avLst>
              <a:gd name="adj" fmla="val 16667"/>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74" name="Text 9"/>
          <p:cNvSpPr/>
          <p:nvPr/>
        </p:nvSpPr>
        <p:spPr>
          <a:xfrm>
            <a:off x="2194560" y="3954960"/>
            <a:ext cx="136548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DejaVu Serif"/>
                <a:ea typeface="DejaVu Serif"/>
              </a:rPr>
              <a:t>Speechmatics + GPT-4o</a:t>
            </a:r>
            <a:endParaRPr lang="de-DE" sz="1300" b="0" u="none" strike="noStrike">
              <a:solidFill>
                <a:srgbClr val="FFFFFF"/>
              </a:solidFill>
              <a:effectLst/>
              <a:uFillTx/>
              <a:latin typeface="Arial"/>
            </a:endParaRPr>
          </a:p>
        </p:txBody>
      </p:sp>
      <p:sp>
        <p:nvSpPr>
          <p:cNvPr id="75" name="Shape 10"/>
          <p:cNvSpPr/>
          <p:nvPr/>
        </p:nvSpPr>
        <p:spPr>
          <a:xfrm>
            <a:off x="3794760" y="3703320"/>
            <a:ext cx="1548360" cy="816840"/>
          </a:xfrm>
          <a:prstGeom prst="roundRect">
            <a:avLst>
              <a:gd name="adj" fmla="val 16667"/>
            </a:avLst>
          </a:prstGeom>
          <a:solidFill>
            <a:srgbClr val="8A95A0"/>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76" name="Text 12"/>
          <p:cNvSpPr/>
          <p:nvPr/>
        </p:nvSpPr>
        <p:spPr>
          <a:xfrm>
            <a:off x="3886200" y="3954960"/>
            <a:ext cx="136548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DejaVu Serif"/>
                <a:ea typeface="DejaVu Serif"/>
              </a:rPr>
              <a:t>Whisper + Sauerkraut</a:t>
            </a:r>
            <a:endParaRPr lang="de-DE" sz="1300" b="0" u="none" strike="noStrike">
              <a:solidFill>
                <a:srgbClr val="FFFFFF"/>
              </a:solidFill>
              <a:effectLst/>
              <a:uFillTx/>
              <a:latin typeface="Arial"/>
            </a:endParaRPr>
          </a:p>
        </p:txBody>
      </p:sp>
      <p:sp>
        <p:nvSpPr>
          <p:cNvPr id="77" name="Shape 13"/>
          <p:cNvSpPr/>
          <p:nvPr/>
        </p:nvSpPr>
        <p:spPr>
          <a:xfrm>
            <a:off x="5486400" y="3703320"/>
            <a:ext cx="1548360" cy="816840"/>
          </a:xfrm>
          <a:prstGeom prst="roundRect">
            <a:avLst>
              <a:gd name="adj" fmla="val 16667"/>
            </a:avLst>
          </a:prstGeom>
          <a:solidFill>
            <a:srgbClr val="8A95A0"/>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78" name="Text 15"/>
          <p:cNvSpPr/>
          <p:nvPr/>
        </p:nvSpPr>
        <p:spPr>
          <a:xfrm>
            <a:off x="5578200" y="3954960"/>
            <a:ext cx="136548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DejaVu Serif"/>
                <a:ea typeface="DejaVu Serif"/>
              </a:rPr>
              <a:t>Whisper + Llama</a:t>
            </a:r>
            <a:endParaRPr lang="de-DE" sz="1300" b="0" u="none" strike="noStrike">
              <a:solidFill>
                <a:srgbClr val="FFFFFF"/>
              </a:solidFill>
              <a:effectLst/>
              <a:uFillTx/>
              <a:latin typeface="Arial"/>
            </a:endParaRPr>
          </a:p>
        </p:txBody>
      </p:sp>
      <p:sp>
        <p:nvSpPr>
          <p:cNvPr id="79" name="Shape 16"/>
          <p:cNvSpPr/>
          <p:nvPr/>
        </p:nvSpPr>
        <p:spPr>
          <a:xfrm>
            <a:off x="7178040" y="3703320"/>
            <a:ext cx="1548360" cy="816840"/>
          </a:xfrm>
          <a:prstGeom prst="roundRect">
            <a:avLst>
              <a:gd name="adj" fmla="val 16667"/>
            </a:avLst>
          </a:prstGeom>
          <a:solidFill>
            <a:srgbClr val="8A95A0"/>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80" name="Text 18"/>
          <p:cNvSpPr/>
          <p:nvPr/>
        </p:nvSpPr>
        <p:spPr>
          <a:xfrm>
            <a:off x="7269480" y="3960000"/>
            <a:ext cx="1365480" cy="3139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DejaVu Serif"/>
                <a:ea typeface="DejaVu Serif"/>
              </a:rPr>
              <a:t>Whisper + Gemma</a:t>
            </a:r>
            <a:endParaRPr lang="de-DE" sz="1300" b="0" u="none" strike="noStrike">
              <a:solidFill>
                <a:srgbClr val="FFFFFF"/>
              </a:solidFill>
              <a:effectLst/>
              <a:uFillTx/>
              <a:latin typeface="Arial"/>
            </a:endParaRPr>
          </a:p>
        </p:txBody>
      </p:sp>
      <p:sp>
        <p:nvSpPr>
          <p:cNvPr id="81" name="Text 19"/>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82" name="Text 20"/>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5 / 19</a:t>
            </a:r>
            <a:endParaRPr lang="de-DE" sz="800" b="0" u="none" strike="noStrike">
              <a:solidFill>
                <a:srgbClr val="FFFFFF"/>
              </a:solidFill>
              <a:effectLst/>
              <a:uFillTx/>
              <a:latin typeface="Arial"/>
            </a:endParaRPr>
          </a:p>
        </p:txBody>
      </p:sp>
      <p:pic>
        <p:nvPicPr>
          <p:cNvPr id="83" name="Grafik 75"/>
          <p:cNvPicPr/>
          <p:nvPr/>
        </p:nvPicPr>
        <p:blipFill>
          <a:blip r:embed="rId1"/>
          <a:stretch/>
        </p:blipFill>
        <p:spPr>
          <a:xfrm>
            <a:off x="2933280" y="2022480"/>
            <a:ext cx="174240" cy="94680"/>
          </a:xfrm>
          <a:prstGeom prst="rect">
            <a:avLst/>
          </a:prstGeom>
          <a:noFill/>
          <a:ln w="0">
            <a:noFill/>
          </a:ln>
        </p:spPr>
      </p:pic>
      <p:pic>
        <p:nvPicPr>
          <p:cNvPr id="84" name="Grafik 78"/>
          <p:cNvPicPr/>
          <p:nvPr/>
        </p:nvPicPr>
        <p:blipFill>
          <a:blip r:embed="rId2"/>
          <a:stretch/>
        </p:blipFill>
        <p:spPr>
          <a:xfrm>
            <a:off x="2933280" y="2311560"/>
            <a:ext cx="174240" cy="94680"/>
          </a:xfrm>
          <a:prstGeom prst="rect">
            <a:avLst/>
          </a:prstGeom>
          <a:noFill/>
          <a:ln w="0">
            <a:noFill/>
          </a:ln>
        </p:spPr>
      </p:pic>
      <p:pic>
        <p:nvPicPr>
          <p:cNvPr id="85" name="Grafik 79"/>
          <p:cNvPicPr/>
          <p:nvPr/>
        </p:nvPicPr>
        <p:blipFill>
          <a:blip r:embed="rId3"/>
          <a:stretch/>
        </p:blipFill>
        <p:spPr>
          <a:xfrm>
            <a:off x="7217280" y="2023920"/>
            <a:ext cx="174240" cy="94680"/>
          </a:xfrm>
          <a:prstGeom prst="rect">
            <a:avLst/>
          </a:prstGeom>
          <a:noFill/>
          <a:ln w="0">
            <a:noFill/>
          </a:ln>
        </p:spPr>
      </p:pic>
    </p:spTree>
  </p:cSld>
  <mc:AlternateContent>
    <mc:Choice Requires="p14">
      <p:transition spd="slow" p14:dur="2000"/>
    </mc:Choice>
    <mc:Fallback>
      <p:transition spd="slow"/>
    </mc:Fallback>
  </mc:AlternateContent>
  <p:timing>
    <p:tnLst>
      <p:par>
        <p:cTn id="41" dur="indefinite" restart="never" nodeType="tmRoot">
          <p:childTnLst>
            <p:seq>
              <p:cTn id="42" dur="indefinite" nodeType="mainSeq">
                <p:childTnLst>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71"/>
                                        </p:tgtEl>
                                        <p:attrNameLst>
                                          <p:attrName>style.visibility</p:attrName>
                                        </p:attrNameLst>
                                      </p:cBhvr>
                                      <p:to>
                                        <p:strVal val="visible"/>
                                      </p:to>
                                    </p:set>
                                  </p:childTnLst>
                                </p:cTn>
                              </p:par>
                              <p:par>
                                <p:cTn id="49" presetID="1" presetClass="entr" fill="hold" nodeType="with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par>
                                <p:cTn id="51" presetID="1" presetClass="entr" fill="hold" nodeType="withEffect">
                                  <p:stCondLst>
                                    <p:cond delay="0"/>
                                  </p:stCondLst>
                                  <p:childTnLst>
                                    <p:set>
                                      <p:cBhvr>
                                        <p:cTn id="52" dur="1" fill="hold">
                                          <p:stCondLst>
                                            <p:cond delay="0"/>
                                          </p:stCondLst>
                                        </p:cTn>
                                        <p:tgtEl>
                                          <p:spTgt spid="73"/>
                                        </p:tgtEl>
                                        <p:attrNameLst>
                                          <p:attrName>style.visibility</p:attrName>
                                        </p:attrNameLst>
                                      </p:cBhvr>
                                      <p:to>
                                        <p:strVal val="visible"/>
                                      </p:to>
                                    </p:set>
                                  </p:childTnLst>
                                </p:cTn>
                              </p:par>
                              <p:par>
                                <p:cTn id="53" presetID="1" presetClass="entr" fill="hold" nodeType="withEffect">
                                  <p:stCondLst>
                                    <p:cond delay="0"/>
                                  </p:stCondLst>
                                  <p:childTnLst>
                                    <p:set>
                                      <p:cBhvr>
                                        <p:cTn id="54" dur="1" fill="hold">
                                          <p:stCondLst>
                                            <p:cond delay="0"/>
                                          </p:stCondLst>
                                        </p:cTn>
                                        <p:tgtEl>
                                          <p:spTgt spid="74"/>
                                        </p:tgtEl>
                                        <p:attrNameLst>
                                          <p:attrName>style.visibility</p:attrName>
                                        </p:attrNameLst>
                                      </p:cBhvr>
                                      <p:to>
                                        <p:strVal val="visible"/>
                                      </p:to>
                                    </p:set>
                                  </p:childTnLst>
                                </p:cTn>
                              </p:par>
                              <p:par>
                                <p:cTn id="55" presetID="1" presetClass="entr" fill="hold" nodeType="withEffect">
                                  <p:stCondLst>
                                    <p:cond delay="0"/>
                                  </p:stCondLst>
                                  <p:childTnLst>
                                    <p:set>
                                      <p:cBhvr>
                                        <p:cTn id="56" dur="1" fill="hold">
                                          <p:stCondLst>
                                            <p:cond delay="0"/>
                                          </p:stCondLst>
                                        </p:cTn>
                                        <p:tgtEl>
                                          <p:spTgt spid="75"/>
                                        </p:tgtEl>
                                        <p:attrNameLst>
                                          <p:attrName>style.visibility</p:attrName>
                                        </p:attrNameLst>
                                      </p:cBhvr>
                                      <p:to>
                                        <p:strVal val="visible"/>
                                      </p:to>
                                    </p:set>
                                  </p:childTnLst>
                                </p:cTn>
                              </p:par>
                              <p:par>
                                <p:cTn id="57" presetID="1" presetClass="entr" fill="hold" nodeType="withEffect">
                                  <p:stCondLst>
                                    <p:cond delay="0"/>
                                  </p:stCondLst>
                                  <p:childTnLst>
                                    <p:set>
                                      <p:cBhvr>
                                        <p:cTn id="58" dur="1" fill="hold">
                                          <p:stCondLst>
                                            <p:cond delay="0"/>
                                          </p:stCondLst>
                                        </p:cTn>
                                        <p:tgtEl>
                                          <p:spTgt spid="76"/>
                                        </p:tgtEl>
                                        <p:attrNameLst>
                                          <p:attrName>style.visibility</p:attrName>
                                        </p:attrNameLst>
                                      </p:cBhvr>
                                      <p:to>
                                        <p:strVal val="visible"/>
                                      </p:to>
                                    </p:set>
                                  </p:childTnLst>
                                </p:cTn>
                              </p:par>
                              <p:par>
                                <p:cTn id="59" presetID="1" presetClass="entr" fill="hold" nodeType="withEffect">
                                  <p:stCondLst>
                                    <p:cond delay="0"/>
                                  </p:stCondLst>
                                  <p:childTnLst>
                                    <p:set>
                                      <p:cBhvr>
                                        <p:cTn id="60" dur="1" fill="hold">
                                          <p:stCondLst>
                                            <p:cond delay="0"/>
                                          </p:stCondLst>
                                        </p:cTn>
                                        <p:tgtEl>
                                          <p:spTgt spid="77"/>
                                        </p:tgtEl>
                                        <p:attrNameLst>
                                          <p:attrName>style.visibility</p:attrName>
                                        </p:attrNameLst>
                                      </p:cBhvr>
                                      <p:to>
                                        <p:strVal val="visible"/>
                                      </p:to>
                                    </p:set>
                                  </p:childTnLst>
                                </p:cTn>
                              </p:par>
                              <p:par>
                                <p:cTn id="61" presetID="1" presetClass="entr" fill="hold" nodeType="with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par>
                                <p:cTn id="63" presetID="1" presetClass="entr" fill="hold" nodeType="withEffect">
                                  <p:stCondLst>
                                    <p:cond delay="0"/>
                                  </p:stCondLst>
                                  <p:childTnLst>
                                    <p:set>
                                      <p:cBhvr>
                                        <p:cTn id="64" dur="1" fill="hold">
                                          <p:stCondLst>
                                            <p:cond delay="0"/>
                                          </p:stCondLst>
                                        </p:cTn>
                                        <p:tgtEl>
                                          <p:spTgt spid="79"/>
                                        </p:tgtEl>
                                        <p:attrNameLst>
                                          <p:attrName>style.visibility</p:attrName>
                                        </p:attrNameLst>
                                      </p:cBhvr>
                                      <p:to>
                                        <p:strVal val="visible"/>
                                      </p:to>
                                    </p:set>
                                  </p:childTnLst>
                                </p:cTn>
                              </p:par>
                              <p:par>
                                <p:cTn id="65" presetID="1" presetClass="entr"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86"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Hardware draws the line</a:t>
            </a:r>
            <a:endParaRPr lang="de-DE" sz="2400" b="0" u="none" strike="noStrike">
              <a:solidFill>
                <a:srgbClr val="FFFFFF"/>
              </a:solidFill>
              <a:effectLst/>
              <a:uFillTx/>
              <a:latin typeface="Arial"/>
            </a:endParaRPr>
          </a:p>
        </p:txBody>
      </p:sp>
      <p:sp>
        <p:nvSpPr>
          <p:cNvPr id="87" name="Shape 1"/>
          <p:cNvSpPr/>
          <p:nvPr/>
        </p:nvSpPr>
        <p:spPr>
          <a:xfrm>
            <a:off x="457200" y="1491120"/>
            <a:ext cx="3925800" cy="2462760"/>
          </a:xfrm>
          <a:prstGeom prst="roundRect">
            <a:avLst>
              <a:gd name="adj" fmla="val 5556"/>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88" name="Text 2"/>
          <p:cNvSpPr/>
          <p:nvPr/>
        </p:nvSpPr>
        <p:spPr>
          <a:xfrm>
            <a:off x="640080" y="1628280"/>
            <a:ext cx="356004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3FAF46"/>
                </a:solidFill>
                <a:effectLst/>
                <a:uFillTx/>
                <a:latin typeface="DejaVu Serif"/>
                <a:ea typeface="DejaVu Serif"/>
              </a:rPr>
              <a:t>On-Prem Stack</a:t>
            </a:r>
            <a:endParaRPr lang="de-DE" sz="1300" b="0" u="none" strike="noStrike">
              <a:solidFill>
                <a:srgbClr val="FFFFFF"/>
              </a:solidFill>
              <a:effectLst/>
              <a:uFillTx/>
              <a:latin typeface="Arial"/>
            </a:endParaRPr>
          </a:p>
        </p:txBody>
      </p:sp>
      <p:sp>
        <p:nvSpPr>
          <p:cNvPr id="89" name="Text 3"/>
          <p:cNvSpPr/>
          <p:nvPr/>
        </p:nvSpPr>
        <p:spPr>
          <a:xfrm>
            <a:off x="685800" y="2131200"/>
            <a:ext cx="3377160" cy="16398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601"/>
              </a:spcAft>
              <a:tabLst>
                <a:tab pos="0" algn="l"/>
              </a:tabLst>
            </a:pPr>
            <a:r>
              <a:rPr lang="en-US" sz="1300" b="1" u="none" strike="noStrike">
                <a:solidFill>
                  <a:srgbClr val="FFFFFF"/>
                </a:solidFill>
                <a:effectLst/>
                <a:uFillTx/>
                <a:latin typeface="DejaVu Serif"/>
                <a:ea typeface="DejaVu Serif"/>
              </a:rPr>
              <a:t>Whisper turbo</a:t>
            </a:r>
            <a:r>
              <a:rPr lang="en-US" sz="1300" b="0" u="none" strike="noStrike">
                <a:solidFill>
                  <a:srgbClr val="FFFFFF"/>
                </a:solidFill>
                <a:effectLst/>
                <a:uFillTx/>
                <a:latin typeface="DejaVu Serif"/>
                <a:ea typeface="DejaVu Serif"/>
              </a:rPr>
              <a:t>  ~800M params</a:t>
            </a:r>
            <a:endParaRPr lang="de-DE" sz="1300" b="0" u="none" strike="noStrike">
              <a:solidFill>
                <a:srgbClr val="FFFFFF"/>
              </a:solidFill>
              <a:effectLst/>
              <a:uFillTx/>
              <a:latin typeface="Arial"/>
            </a:endParaRPr>
          </a:p>
          <a:p>
            <a:pPr defTabSz="914400">
              <a:lnSpc>
                <a:spcPct val="100000"/>
              </a:lnSpc>
              <a:spcAft>
                <a:spcPts val="601"/>
              </a:spcAft>
              <a:tabLst>
                <a:tab pos="0" algn="l"/>
              </a:tabLst>
            </a:pPr>
            <a:r>
              <a:rPr lang="en-US" sz="1300" b="1" u="none" strike="noStrike">
                <a:solidFill>
                  <a:srgbClr val="FFFFFF"/>
                </a:solidFill>
                <a:effectLst/>
                <a:uFillTx/>
                <a:latin typeface="DejaVu Serif"/>
                <a:ea typeface="DejaVu Serif"/>
              </a:rPr>
              <a:t>SauerkrautLM / Llama / Gemma</a:t>
            </a:r>
            <a:r>
              <a:rPr lang="en-US" sz="1300" b="0" u="none" strike="noStrike">
                <a:solidFill>
                  <a:srgbClr val="FFFFFF"/>
                </a:solidFill>
                <a:effectLst/>
                <a:uFillTx/>
                <a:latin typeface="DejaVu Serif"/>
                <a:ea typeface="DejaVu Serif"/>
              </a:rPr>
              <a:t>  </a:t>
            </a:r>
            <a:br>
              <a:rPr sz="1300"/>
            </a:br>
            <a:r>
              <a:rPr lang="en-US" sz="1300" b="0" u="none" strike="noStrike">
                <a:solidFill>
                  <a:srgbClr val="FFFFFF"/>
                </a:solidFill>
                <a:effectLst/>
                <a:uFillTx/>
                <a:latin typeface="DejaVu Serif"/>
                <a:ea typeface="DejaVu Serif"/>
              </a:rPr>
              <a:t>3–8B params</a:t>
            </a:r>
            <a:endParaRPr lang="de-DE" sz="1300" b="0" u="none" strike="noStrike">
              <a:solidFill>
                <a:srgbClr val="FFFFFF"/>
              </a:solidFill>
              <a:effectLst/>
              <a:uFillTx/>
              <a:latin typeface="Arial"/>
            </a:endParaRPr>
          </a:p>
          <a:p>
            <a:pPr defTabSz="914400">
              <a:lnSpc>
                <a:spcPct val="100000"/>
              </a:lnSpc>
              <a:spcBef>
                <a:spcPts val="1191"/>
              </a:spcBef>
              <a:spcAft>
                <a:spcPts val="992"/>
              </a:spcAft>
              <a:tabLst>
                <a:tab pos="0" algn="l"/>
              </a:tabLst>
            </a:pPr>
            <a:r>
              <a:rPr lang="en-US" sz="1300" b="0" u="none" strike="noStrike">
                <a:solidFill>
                  <a:srgbClr val="FFFFFF"/>
                </a:solidFill>
                <a:effectLst/>
                <a:uFillTx/>
                <a:latin typeface="DejaVu Serif"/>
                <a:ea typeface="DejaVu Serif"/>
              </a:rPr>
              <a:t>AMD CPU — 16 GB RAM</a:t>
            </a:r>
            <a:endParaRPr lang="de-DE" sz="1300" b="0" u="none" strike="noStrike">
              <a:solidFill>
                <a:srgbClr val="FFFFFF"/>
              </a:solidFill>
              <a:effectLst/>
              <a:uFillTx/>
              <a:latin typeface="Arial"/>
            </a:endParaRPr>
          </a:p>
        </p:txBody>
      </p:sp>
      <p:sp>
        <p:nvSpPr>
          <p:cNvPr id="90" name="Shape 4"/>
          <p:cNvSpPr/>
          <p:nvPr/>
        </p:nvSpPr>
        <p:spPr>
          <a:xfrm>
            <a:off x="4754880" y="1491120"/>
            <a:ext cx="3925800" cy="2462760"/>
          </a:xfrm>
          <a:prstGeom prst="roundRect">
            <a:avLst>
              <a:gd name="adj" fmla="val 5556"/>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91" name="Text 5"/>
          <p:cNvSpPr/>
          <p:nvPr/>
        </p:nvSpPr>
        <p:spPr>
          <a:xfrm>
            <a:off x="4937760" y="1628280"/>
            <a:ext cx="356004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5429"/>
                </a:solidFill>
                <a:effectLst/>
                <a:uFillTx/>
                <a:latin typeface="DejaVu Serif"/>
                <a:ea typeface="DejaVu Serif"/>
              </a:rPr>
              <a:t>Feasibility Limit</a:t>
            </a:r>
            <a:endParaRPr lang="de-DE" sz="1300" b="0" u="none" strike="noStrike">
              <a:solidFill>
                <a:srgbClr val="FFFFFF"/>
              </a:solidFill>
              <a:effectLst/>
              <a:uFillTx/>
              <a:latin typeface="Arial"/>
            </a:endParaRPr>
          </a:p>
        </p:txBody>
      </p:sp>
      <p:sp>
        <p:nvSpPr>
          <p:cNvPr id="92" name="Text 6"/>
          <p:cNvSpPr/>
          <p:nvPr/>
        </p:nvSpPr>
        <p:spPr>
          <a:xfrm>
            <a:off x="4983480" y="2131200"/>
            <a:ext cx="3377160" cy="163980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601"/>
              </a:spcAft>
              <a:tabLst>
                <a:tab pos="0" algn="l"/>
              </a:tabLst>
            </a:pPr>
            <a:r>
              <a:rPr lang="en-US" sz="1300" b="1" u="none" strike="noStrike">
                <a:solidFill>
                  <a:srgbClr val="FFFFFF"/>
                </a:solidFill>
                <a:effectLst/>
                <a:uFillTx/>
                <a:latin typeface="DejaVu Serif"/>
                <a:ea typeface="DejaVu Serif"/>
              </a:rPr>
              <a:t>Whisper large-v3</a:t>
            </a:r>
            <a:r>
              <a:rPr lang="en-US" sz="1300" b="0" u="none" strike="noStrike">
                <a:solidFill>
                  <a:srgbClr val="FFFFFF"/>
                </a:solidFill>
                <a:effectLst/>
                <a:uFillTx/>
                <a:latin typeface="DejaVu Serif"/>
                <a:ea typeface="DejaVu Serif"/>
              </a:rPr>
              <a:t>  1.55B params</a:t>
            </a:r>
            <a:endParaRPr lang="de-DE" sz="1300" b="0" u="none" strike="noStrike">
              <a:solidFill>
                <a:srgbClr val="FFFFFF"/>
              </a:solidFill>
              <a:effectLst/>
              <a:uFillTx/>
              <a:latin typeface="Arial"/>
            </a:endParaRPr>
          </a:p>
          <a:p>
            <a:pPr defTabSz="914400">
              <a:lnSpc>
                <a:spcPct val="100000"/>
              </a:lnSpc>
              <a:spcAft>
                <a:spcPts val="601"/>
              </a:spcAft>
              <a:tabLst>
                <a:tab pos="0" algn="l"/>
              </a:tabLst>
            </a:pPr>
            <a:r>
              <a:rPr lang="en-US" sz="1300" b="1" u="none" strike="noStrike">
                <a:solidFill>
                  <a:srgbClr val="FFFFFF"/>
                </a:solidFill>
                <a:effectLst/>
                <a:uFillTx/>
                <a:latin typeface="DejaVu Serif"/>
                <a:ea typeface="DejaVu Serif"/>
              </a:rPr>
              <a:t>SauerkrautLM 70B</a:t>
            </a:r>
            <a:r>
              <a:rPr lang="en-US" sz="1300" b="0" u="none" strike="noStrike">
                <a:solidFill>
                  <a:srgbClr val="FFFFFF"/>
                </a:solidFill>
                <a:effectLst/>
                <a:uFillTx/>
                <a:latin typeface="DejaVu Serif"/>
                <a:ea typeface="DejaVu Serif"/>
              </a:rPr>
              <a:t>  ~32 GB VRAM</a:t>
            </a:r>
            <a:endParaRPr lang="de-DE" sz="1300" b="0" u="none" strike="noStrike">
              <a:solidFill>
                <a:srgbClr val="FFFFFF"/>
              </a:solidFill>
              <a:effectLst/>
              <a:uFillTx/>
              <a:latin typeface="Arial"/>
            </a:endParaRPr>
          </a:p>
          <a:p>
            <a:pPr defTabSz="914400">
              <a:lnSpc>
                <a:spcPct val="100000"/>
              </a:lnSpc>
              <a:spcAft>
                <a:spcPts val="601"/>
              </a:spcAft>
              <a:tabLst>
                <a:tab pos="0" algn="l"/>
              </a:tabLst>
            </a:pPr>
            <a:r>
              <a:rPr lang="en-US" sz="600" b="0" u="none" strike="noStrike">
                <a:solidFill>
                  <a:srgbClr val="FFFFFF"/>
                </a:solidFill>
                <a:effectLst/>
                <a:uFillTx/>
                <a:latin typeface="DejaVu Serif"/>
                <a:ea typeface="DejaVu Serif"/>
              </a:rPr>
              <a:t> </a:t>
            </a:r>
            <a:endParaRPr lang="de-DE" sz="600" b="0" u="none" strike="noStrike">
              <a:solidFill>
                <a:srgbClr val="FFFFFF"/>
              </a:solidFill>
              <a:effectLst/>
              <a:uFillTx/>
              <a:latin typeface="Arial"/>
            </a:endParaRPr>
          </a:p>
          <a:p>
            <a:pPr defTabSz="914400">
              <a:lnSpc>
                <a:spcPct val="100000"/>
              </a:lnSpc>
              <a:spcAft>
                <a:spcPts val="601"/>
              </a:spcAft>
              <a:tabLst>
                <a:tab pos="0" algn="l"/>
              </a:tabLst>
            </a:pPr>
            <a:r>
              <a:rPr lang="en-US" sz="1300" b="0" u="none" strike="noStrike">
                <a:solidFill>
                  <a:srgbClr val="FFFFFF"/>
                </a:solidFill>
                <a:effectLst/>
                <a:uFillTx/>
                <a:latin typeface="DejaVu Serif"/>
                <a:ea typeface="DejaVu Serif"/>
              </a:rPr>
              <a:t>Resources not available for this evaluation</a:t>
            </a:r>
            <a:endParaRPr lang="de-DE" sz="1300" b="0" u="none" strike="noStrike">
              <a:solidFill>
                <a:srgbClr val="FFFFFF"/>
              </a:solidFill>
              <a:effectLst/>
              <a:uFillTx/>
              <a:latin typeface="Arial"/>
            </a:endParaRPr>
          </a:p>
        </p:txBody>
      </p:sp>
      <p:sp>
        <p:nvSpPr>
          <p:cNvPr id="93" name="Text 7"/>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94" name="Text 8"/>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6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67" dur="indefinite" restart="never" nodeType="tmRoot">
          <p:childTnLst>
            <p:seq>
              <p:cTn id="68" dur="indefinite" nodeType="mainSeq">
                <p:childTnLst>
                  <p:par>
                    <p:cTn id="69" fill="hold">
                      <p:stCondLst>
                        <p:cond delay="indefinite"/>
                      </p:stCondLst>
                      <p:childTnLst>
                        <p:par>
                          <p:cTn id="70" fill="hold">
                            <p:stCondLst>
                              <p:cond delay="0"/>
                            </p:stCondLst>
                            <p:childTnLst>
                              <p:par>
                                <p:cTn id="71" presetID="1" presetClass="entr" fill="hold" nodeType="clickEffect">
                                  <p:stCondLst>
                                    <p:cond delay="0"/>
                                  </p:stCondLst>
                                  <p:childTnLst>
                                    <p:set>
                                      <p:cBhvr>
                                        <p:cTn id="72" dur="1" fill="hold">
                                          <p:stCondLst>
                                            <p:cond delay="0"/>
                                          </p:stCondLst>
                                        </p:cTn>
                                        <p:tgtEl>
                                          <p:spTgt spid="90"/>
                                        </p:tgtEl>
                                        <p:attrNameLst>
                                          <p:attrName>style.visibility</p:attrName>
                                        </p:attrNameLst>
                                      </p:cBhvr>
                                      <p:to>
                                        <p:strVal val="visible"/>
                                      </p:to>
                                    </p:set>
                                  </p:childTnLst>
                                </p:cTn>
                              </p:par>
                              <p:par>
                                <p:cTn id="73" presetID="1" presetClass="entr" fill="hold" nodeType="withEffect">
                                  <p:stCondLst>
                                    <p:cond delay="0"/>
                                  </p:stCondLst>
                                  <p:childTnLst>
                                    <p:set>
                                      <p:cBhvr>
                                        <p:cTn id="74" dur="1" fill="hold">
                                          <p:stCondLst>
                                            <p:cond delay="0"/>
                                          </p:stCondLst>
                                        </p:cTn>
                                        <p:tgtEl>
                                          <p:spTgt spid="91"/>
                                        </p:tgtEl>
                                        <p:attrNameLst>
                                          <p:attrName>style.visibility</p:attrName>
                                        </p:attrNameLst>
                                      </p:cBhvr>
                                      <p:to>
                                        <p:strVal val="visible"/>
                                      </p:to>
                                    </p:set>
                                  </p:childTnLst>
                                </p:cTn>
                              </p:par>
                              <p:par>
                                <p:cTn id="75" presetID="1" presetClass="entr" fill="hold" nodeType="withEffect">
                                  <p:stCondLst>
                                    <p:cond delay="0"/>
                                  </p:stCondLst>
                                  <p:childTnLst>
                                    <p:set>
                                      <p:cBhvr>
                                        <p:cTn id="76"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95"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From clean recordings to total chaos</a:t>
            </a:r>
            <a:endParaRPr lang="de-DE" sz="2400" b="0" u="none" strike="noStrike">
              <a:solidFill>
                <a:srgbClr val="FFFFFF"/>
              </a:solidFill>
              <a:effectLst/>
              <a:uFillTx/>
              <a:latin typeface="Arial"/>
            </a:endParaRPr>
          </a:p>
        </p:txBody>
      </p:sp>
      <p:sp>
        <p:nvSpPr>
          <p:cNvPr id="96" name="Shape 1"/>
          <p:cNvSpPr/>
          <p:nvPr/>
        </p:nvSpPr>
        <p:spPr>
          <a:xfrm>
            <a:off x="457200" y="1188720"/>
            <a:ext cx="8223480" cy="771120"/>
          </a:xfrm>
          <a:prstGeom prst="roundRect">
            <a:avLst>
              <a:gd name="adj" fmla="val 17647"/>
            </a:avLst>
          </a:prstGeom>
          <a:solidFill>
            <a:srgbClr val="D04A02">
              <a:alpha val="8000"/>
            </a:srgbClr>
          </a:solidFill>
          <a:ln w="19080">
            <a:solidFill>
              <a:srgbClr val="D04A02"/>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97" name="Text 2"/>
          <p:cNvSpPr/>
          <p:nvPr/>
        </p:nvSpPr>
        <p:spPr>
          <a:xfrm>
            <a:off x="640080" y="1188720"/>
            <a:ext cx="163980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5429"/>
                </a:solidFill>
                <a:effectLst/>
                <a:uFillTx/>
                <a:latin typeface="DejaVu Serif"/>
                <a:ea typeface="DejaVu Serif"/>
              </a:rPr>
              <a:t>Standard</a:t>
            </a:r>
            <a:endParaRPr lang="de-DE" sz="1600" b="0" u="none" strike="noStrike">
              <a:solidFill>
                <a:srgbClr val="FFFFFF"/>
              </a:solidFill>
              <a:effectLst/>
              <a:uFillTx/>
              <a:latin typeface="Arial"/>
            </a:endParaRPr>
          </a:p>
        </p:txBody>
      </p:sp>
      <p:sp>
        <p:nvSpPr>
          <p:cNvPr id="98" name="Shape 3"/>
          <p:cNvSpPr/>
          <p:nvPr/>
        </p:nvSpPr>
        <p:spPr>
          <a:xfrm>
            <a:off x="2377440" y="1325880"/>
            <a:ext cx="360" cy="502920"/>
          </a:xfrm>
          <a:prstGeom prst="line">
            <a:avLst/>
          </a:prstGeom>
          <a:ln w="19080">
            <a:solidFill>
              <a:srgbClr val="D04A02"/>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99" name="Text 4"/>
          <p:cNvSpPr/>
          <p:nvPr/>
        </p:nvSpPr>
        <p:spPr>
          <a:xfrm>
            <a:off x="2651760" y="11887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Original</a:t>
            </a:r>
            <a:endParaRPr lang="de-DE" sz="1300" b="0" u="none" strike="noStrike">
              <a:solidFill>
                <a:srgbClr val="FFFFFF"/>
              </a:solidFill>
              <a:effectLst/>
              <a:uFillTx/>
              <a:latin typeface="Arial"/>
            </a:endParaRPr>
          </a:p>
        </p:txBody>
      </p:sp>
      <p:sp>
        <p:nvSpPr>
          <p:cNvPr id="100" name="Text 5"/>
          <p:cNvSpPr/>
          <p:nvPr/>
        </p:nvSpPr>
        <p:spPr>
          <a:xfrm>
            <a:off x="4663440" y="11887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Laptop-Middle</a:t>
            </a:r>
            <a:endParaRPr lang="de-DE" sz="1300" b="0" u="none" strike="noStrike">
              <a:solidFill>
                <a:srgbClr val="FFFFFF"/>
              </a:solidFill>
              <a:effectLst/>
              <a:uFillTx/>
              <a:latin typeface="Arial"/>
            </a:endParaRPr>
          </a:p>
        </p:txBody>
      </p:sp>
      <p:sp>
        <p:nvSpPr>
          <p:cNvPr id="101" name="Text 6"/>
          <p:cNvSpPr/>
          <p:nvPr/>
        </p:nvSpPr>
        <p:spPr>
          <a:xfrm>
            <a:off x="6675120" y="11887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Laptop-Doctor</a:t>
            </a:r>
            <a:endParaRPr lang="de-DE" sz="1300" b="0" u="none" strike="noStrike">
              <a:solidFill>
                <a:srgbClr val="FFFFFF"/>
              </a:solidFill>
              <a:effectLst/>
              <a:uFillTx/>
              <a:latin typeface="Arial"/>
            </a:endParaRPr>
          </a:p>
        </p:txBody>
      </p:sp>
      <p:sp>
        <p:nvSpPr>
          <p:cNvPr id="102" name="Shape 7"/>
          <p:cNvSpPr/>
          <p:nvPr/>
        </p:nvSpPr>
        <p:spPr>
          <a:xfrm>
            <a:off x="457200" y="2103120"/>
            <a:ext cx="8223480" cy="771120"/>
          </a:xfrm>
          <a:prstGeom prst="roundRect">
            <a:avLst>
              <a:gd name="adj" fmla="val 17647"/>
            </a:avLst>
          </a:prstGeom>
          <a:solidFill>
            <a:srgbClr val="D04A02">
              <a:alpha val="8000"/>
            </a:srgbClr>
          </a:solidFill>
          <a:ln w="19080">
            <a:solidFill>
              <a:srgbClr val="D04A02"/>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03" name="Text 8"/>
          <p:cNvSpPr/>
          <p:nvPr/>
        </p:nvSpPr>
        <p:spPr>
          <a:xfrm>
            <a:off x="640080" y="2103120"/>
            <a:ext cx="163980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5429"/>
                </a:solidFill>
                <a:effectLst/>
                <a:uFillTx/>
                <a:latin typeface="DejaVu Serif"/>
                <a:ea typeface="DejaVu Serif"/>
              </a:rPr>
              <a:t>Challenging</a:t>
            </a:r>
            <a:endParaRPr lang="de-DE" sz="1600" b="0" u="none" strike="noStrike">
              <a:solidFill>
                <a:srgbClr val="FFFFFF"/>
              </a:solidFill>
              <a:effectLst/>
              <a:uFillTx/>
              <a:latin typeface="Arial"/>
            </a:endParaRPr>
          </a:p>
        </p:txBody>
      </p:sp>
      <p:sp>
        <p:nvSpPr>
          <p:cNvPr id="104" name="Shape 9"/>
          <p:cNvSpPr/>
          <p:nvPr/>
        </p:nvSpPr>
        <p:spPr>
          <a:xfrm>
            <a:off x="2377440" y="2240280"/>
            <a:ext cx="360" cy="502920"/>
          </a:xfrm>
          <a:prstGeom prst="line">
            <a:avLst/>
          </a:prstGeom>
          <a:ln w="19080">
            <a:solidFill>
              <a:srgbClr val="D04A02"/>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05" name="Text 10"/>
          <p:cNvSpPr/>
          <p:nvPr/>
        </p:nvSpPr>
        <p:spPr>
          <a:xfrm>
            <a:off x="2651760" y="21031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White Noise</a:t>
            </a:r>
            <a:endParaRPr lang="de-DE" sz="1300" b="0" u="none" strike="noStrike">
              <a:solidFill>
                <a:srgbClr val="FFFFFF"/>
              </a:solidFill>
              <a:effectLst/>
              <a:uFillTx/>
              <a:latin typeface="Arial"/>
            </a:endParaRPr>
          </a:p>
        </p:txBody>
      </p:sp>
      <p:sp>
        <p:nvSpPr>
          <p:cNvPr id="106" name="Text 11"/>
          <p:cNvSpPr/>
          <p:nvPr/>
        </p:nvSpPr>
        <p:spPr>
          <a:xfrm>
            <a:off x="4663440" y="21031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Self-Corrections</a:t>
            </a:r>
            <a:endParaRPr lang="de-DE" sz="1300" b="0" u="none" strike="noStrike">
              <a:solidFill>
                <a:srgbClr val="FFFFFF"/>
              </a:solidFill>
              <a:effectLst/>
              <a:uFillTx/>
              <a:latin typeface="Arial"/>
            </a:endParaRPr>
          </a:p>
        </p:txBody>
      </p:sp>
      <p:sp>
        <p:nvSpPr>
          <p:cNvPr id="107" name="Text 12"/>
          <p:cNvSpPr/>
          <p:nvPr/>
        </p:nvSpPr>
        <p:spPr>
          <a:xfrm>
            <a:off x="6675120" y="21031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Interruptions</a:t>
            </a:r>
            <a:endParaRPr lang="de-DE" sz="1300" b="0" u="none" strike="noStrike">
              <a:solidFill>
                <a:srgbClr val="FFFFFF"/>
              </a:solidFill>
              <a:effectLst/>
              <a:uFillTx/>
              <a:latin typeface="Arial"/>
            </a:endParaRPr>
          </a:p>
        </p:txBody>
      </p:sp>
      <p:sp>
        <p:nvSpPr>
          <p:cNvPr id="108" name="Shape 13"/>
          <p:cNvSpPr/>
          <p:nvPr/>
        </p:nvSpPr>
        <p:spPr>
          <a:xfrm>
            <a:off x="457200" y="3017520"/>
            <a:ext cx="8223480" cy="771120"/>
          </a:xfrm>
          <a:prstGeom prst="roundRect">
            <a:avLst>
              <a:gd name="adj" fmla="val 17647"/>
            </a:avLst>
          </a:prstGeom>
          <a:solidFill>
            <a:srgbClr val="D04A02">
              <a:alpha val="8000"/>
            </a:srgbClr>
          </a:solidFill>
          <a:ln w="19080">
            <a:solidFill>
              <a:srgbClr val="D04A02"/>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09" name="Text 14"/>
          <p:cNvSpPr/>
          <p:nvPr/>
        </p:nvSpPr>
        <p:spPr>
          <a:xfrm>
            <a:off x="640080" y="3017520"/>
            <a:ext cx="163980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5429"/>
                </a:solidFill>
                <a:effectLst/>
                <a:uFillTx/>
                <a:latin typeface="DejaVu Serif"/>
                <a:ea typeface="DejaVu Serif"/>
              </a:rPr>
              <a:t>Complex</a:t>
            </a:r>
            <a:endParaRPr lang="de-DE" sz="1600" b="0" u="none" strike="noStrike">
              <a:solidFill>
                <a:srgbClr val="FFFFFF"/>
              </a:solidFill>
              <a:effectLst/>
              <a:uFillTx/>
              <a:latin typeface="Arial"/>
            </a:endParaRPr>
          </a:p>
        </p:txBody>
      </p:sp>
      <p:sp>
        <p:nvSpPr>
          <p:cNvPr id="110" name="Shape 15"/>
          <p:cNvSpPr/>
          <p:nvPr/>
        </p:nvSpPr>
        <p:spPr>
          <a:xfrm>
            <a:off x="2377440" y="3154680"/>
            <a:ext cx="360" cy="502920"/>
          </a:xfrm>
          <a:prstGeom prst="line">
            <a:avLst/>
          </a:prstGeom>
          <a:ln w="19080">
            <a:solidFill>
              <a:srgbClr val="D04A02"/>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11" name="Text 16"/>
          <p:cNvSpPr/>
          <p:nvPr/>
        </p:nvSpPr>
        <p:spPr>
          <a:xfrm>
            <a:off x="2651760" y="30175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Topic Jumps</a:t>
            </a:r>
            <a:endParaRPr lang="de-DE" sz="1300" b="0" u="none" strike="noStrike">
              <a:solidFill>
                <a:srgbClr val="FFFFFF"/>
              </a:solidFill>
              <a:effectLst/>
              <a:uFillTx/>
              <a:latin typeface="Arial"/>
            </a:endParaRPr>
          </a:p>
        </p:txBody>
      </p:sp>
      <p:sp>
        <p:nvSpPr>
          <p:cNvPr id="112" name="Text 17"/>
          <p:cNvSpPr/>
          <p:nvPr/>
        </p:nvSpPr>
        <p:spPr>
          <a:xfrm>
            <a:off x="4663440" y="30175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Mind Changes</a:t>
            </a:r>
            <a:endParaRPr lang="de-DE" sz="1300" b="0" u="none" strike="noStrike">
              <a:solidFill>
                <a:srgbClr val="FFFFFF"/>
              </a:solidFill>
              <a:effectLst/>
              <a:uFillTx/>
              <a:latin typeface="Arial"/>
            </a:endParaRPr>
          </a:p>
        </p:txBody>
      </p:sp>
      <p:sp>
        <p:nvSpPr>
          <p:cNvPr id="113" name="Text 18"/>
          <p:cNvSpPr/>
          <p:nvPr/>
        </p:nvSpPr>
        <p:spPr>
          <a:xfrm>
            <a:off x="6675120" y="3017520"/>
            <a:ext cx="200556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Chaos</a:t>
            </a:r>
            <a:endParaRPr lang="de-DE" sz="1300" b="0" u="none" strike="noStrike">
              <a:solidFill>
                <a:srgbClr val="FFFFFF"/>
              </a:solidFill>
              <a:effectLst/>
              <a:uFillTx/>
              <a:latin typeface="Arial"/>
            </a:endParaRPr>
          </a:p>
        </p:txBody>
      </p:sp>
      <p:sp>
        <p:nvSpPr>
          <p:cNvPr id="114" name="Shape 19"/>
          <p:cNvSpPr/>
          <p:nvPr/>
        </p:nvSpPr>
        <p:spPr>
          <a:xfrm>
            <a:off x="457200" y="3931920"/>
            <a:ext cx="8223480" cy="771120"/>
          </a:xfrm>
          <a:prstGeom prst="roundRect">
            <a:avLst>
              <a:gd name="adj" fmla="val 17647"/>
            </a:avLst>
          </a:prstGeom>
          <a:solidFill>
            <a:srgbClr val="D04A02">
              <a:alpha val="8000"/>
            </a:srgbClr>
          </a:solidFill>
          <a:ln w="19080">
            <a:solidFill>
              <a:srgbClr val="D04A02"/>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15" name="Text 20"/>
          <p:cNvSpPr/>
          <p:nvPr/>
        </p:nvSpPr>
        <p:spPr>
          <a:xfrm>
            <a:off x="640080" y="3931920"/>
            <a:ext cx="163980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5429"/>
                </a:solidFill>
                <a:effectLst/>
                <a:uFillTx/>
                <a:latin typeface="DejaVu Serif"/>
                <a:ea typeface="DejaVu Serif"/>
              </a:rPr>
              <a:t>Real-World</a:t>
            </a:r>
            <a:endParaRPr lang="de-DE" sz="1600" b="0" u="none" strike="noStrike">
              <a:solidFill>
                <a:srgbClr val="FFFFFF"/>
              </a:solidFill>
              <a:effectLst/>
              <a:uFillTx/>
              <a:latin typeface="Arial"/>
            </a:endParaRPr>
          </a:p>
        </p:txBody>
      </p:sp>
      <p:sp>
        <p:nvSpPr>
          <p:cNvPr id="116" name="Shape 21"/>
          <p:cNvSpPr/>
          <p:nvPr/>
        </p:nvSpPr>
        <p:spPr>
          <a:xfrm>
            <a:off x="2377440" y="4069080"/>
            <a:ext cx="360" cy="502920"/>
          </a:xfrm>
          <a:prstGeom prst="line">
            <a:avLst/>
          </a:prstGeom>
          <a:ln w="19080">
            <a:solidFill>
              <a:srgbClr val="D04A02"/>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17" name="Text 22"/>
          <p:cNvSpPr/>
          <p:nvPr/>
        </p:nvSpPr>
        <p:spPr>
          <a:xfrm>
            <a:off x="2651760" y="3931920"/>
            <a:ext cx="301140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Long Anamnesis</a:t>
            </a:r>
            <a:endParaRPr lang="de-DE" sz="1300" b="0" u="none" strike="noStrike">
              <a:solidFill>
                <a:srgbClr val="FFFFFF"/>
              </a:solidFill>
              <a:effectLst/>
              <a:uFillTx/>
              <a:latin typeface="Arial"/>
            </a:endParaRPr>
          </a:p>
        </p:txBody>
      </p:sp>
      <p:sp>
        <p:nvSpPr>
          <p:cNvPr id="118" name="Text 23"/>
          <p:cNvSpPr/>
          <p:nvPr/>
        </p:nvSpPr>
        <p:spPr>
          <a:xfrm>
            <a:off x="4663080" y="3931920"/>
            <a:ext cx="3011400" cy="77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E8E8E8"/>
                </a:solidFill>
                <a:effectLst/>
                <a:uFillTx/>
                <a:latin typeface="DejaVu Serif"/>
                <a:ea typeface="DejaVu Serif"/>
              </a:rPr>
              <a:t>Physiotherapy</a:t>
            </a:r>
            <a:endParaRPr lang="de-DE" sz="1300" b="0" u="none" strike="noStrike">
              <a:solidFill>
                <a:srgbClr val="FFFFFF"/>
              </a:solidFill>
              <a:effectLst/>
              <a:uFillTx/>
              <a:latin typeface="Arial"/>
            </a:endParaRPr>
          </a:p>
        </p:txBody>
      </p:sp>
      <p:sp>
        <p:nvSpPr>
          <p:cNvPr id="119" name="Text 25"/>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120" name="Text 26"/>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7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77" dur="indefinite" restart="never" nodeType="tmRoot">
          <p:childTnLst>
            <p:seq>
              <p:cTn id="78" dur="indefinite" nodeType="mainSeq">
                <p:childTnLst>
                  <p:par>
                    <p:cTn id="79" fill="hold">
                      <p:stCondLst>
                        <p:cond delay="indefinite"/>
                      </p:stCondLst>
                      <p:childTnLst>
                        <p:par>
                          <p:cTn id="80" fill="hold">
                            <p:stCondLst>
                              <p:cond delay="0"/>
                            </p:stCondLst>
                            <p:childTnLst>
                              <p:par>
                                <p:cTn id="81" presetID="1" presetClass="entr" fill="hold" nodeType="clickEffect">
                                  <p:stCondLst>
                                    <p:cond delay="0"/>
                                  </p:stCondLst>
                                  <p:childTnLst>
                                    <p:set>
                                      <p:cBhvr>
                                        <p:cTn id="82" dur="1" fill="hold">
                                          <p:stCondLst>
                                            <p:cond delay="0"/>
                                          </p:stCondLst>
                                        </p:cTn>
                                        <p:tgtEl>
                                          <p:spTgt spid="96"/>
                                        </p:tgtEl>
                                        <p:attrNameLst>
                                          <p:attrName>style.visibility</p:attrName>
                                        </p:attrNameLst>
                                      </p:cBhvr>
                                      <p:to>
                                        <p:strVal val="visible"/>
                                      </p:to>
                                    </p:set>
                                  </p:childTnLst>
                                </p:cTn>
                              </p:par>
                              <p:par>
                                <p:cTn id="83" presetID="1" presetClass="entr" fill="hold" nodeType="withEffect">
                                  <p:stCondLst>
                                    <p:cond delay="0"/>
                                  </p:stCondLst>
                                  <p:childTnLst>
                                    <p:set>
                                      <p:cBhvr>
                                        <p:cTn id="84" dur="1" fill="hold">
                                          <p:stCondLst>
                                            <p:cond delay="0"/>
                                          </p:stCondLst>
                                        </p:cTn>
                                        <p:tgtEl>
                                          <p:spTgt spid="97"/>
                                        </p:tgtEl>
                                        <p:attrNameLst>
                                          <p:attrName>style.visibility</p:attrName>
                                        </p:attrNameLst>
                                      </p:cBhvr>
                                      <p:to>
                                        <p:strVal val="visible"/>
                                      </p:to>
                                    </p:set>
                                  </p:childTnLst>
                                </p:cTn>
                              </p:par>
                              <p:par>
                                <p:cTn id="85" presetID="1" presetClass="entr" fill="hold" nodeType="withEffect">
                                  <p:stCondLst>
                                    <p:cond delay="0"/>
                                  </p:stCondLst>
                                  <p:childTnLst>
                                    <p:set>
                                      <p:cBhvr>
                                        <p:cTn id="86" dur="1" fill="hold">
                                          <p:stCondLst>
                                            <p:cond delay="0"/>
                                          </p:stCondLst>
                                        </p:cTn>
                                        <p:tgtEl>
                                          <p:spTgt spid="98"/>
                                        </p:tgtEl>
                                        <p:attrNameLst>
                                          <p:attrName>style.visibility</p:attrName>
                                        </p:attrNameLst>
                                      </p:cBhvr>
                                      <p:to>
                                        <p:strVal val="visible"/>
                                      </p:to>
                                    </p:set>
                                  </p:childTnLst>
                                </p:cTn>
                              </p:par>
                              <p:par>
                                <p:cTn id="87" presetID="1" presetClass="entr" fill="hold" nodeType="withEffect">
                                  <p:stCondLst>
                                    <p:cond delay="0"/>
                                  </p:stCondLst>
                                  <p:childTnLst>
                                    <p:set>
                                      <p:cBhvr>
                                        <p:cTn id="88" dur="1" fill="hold">
                                          <p:stCondLst>
                                            <p:cond delay="0"/>
                                          </p:stCondLst>
                                        </p:cTn>
                                        <p:tgtEl>
                                          <p:spTgt spid="99"/>
                                        </p:tgtEl>
                                        <p:attrNameLst>
                                          <p:attrName>style.visibility</p:attrName>
                                        </p:attrNameLst>
                                      </p:cBhvr>
                                      <p:to>
                                        <p:strVal val="visible"/>
                                      </p:to>
                                    </p:set>
                                  </p:childTnLst>
                                </p:cTn>
                              </p:par>
                              <p:par>
                                <p:cTn id="89" presetID="1" presetClass="entr" fill="hold" nodeType="withEffect">
                                  <p:stCondLst>
                                    <p:cond delay="0"/>
                                  </p:stCondLst>
                                  <p:childTnLst>
                                    <p:set>
                                      <p:cBhvr>
                                        <p:cTn id="90" dur="1" fill="hold">
                                          <p:stCondLst>
                                            <p:cond delay="0"/>
                                          </p:stCondLst>
                                        </p:cTn>
                                        <p:tgtEl>
                                          <p:spTgt spid="100"/>
                                        </p:tgtEl>
                                        <p:attrNameLst>
                                          <p:attrName>style.visibility</p:attrName>
                                        </p:attrNameLst>
                                      </p:cBhvr>
                                      <p:to>
                                        <p:strVal val="visible"/>
                                      </p:to>
                                    </p:set>
                                  </p:childTnLst>
                                </p:cTn>
                              </p:par>
                              <p:par>
                                <p:cTn id="91" presetID="1" presetClass="entr" fill="hold" nodeType="withEffect">
                                  <p:stCondLst>
                                    <p:cond delay="0"/>
                                  </p:stCondLst>
                                  <p:childTnLst>
                                    <p:set>
                                      <p:cBhvr>
                                        <p:cTn id="92" dur="1" fill="hold">
                                          <p:stCondLst>
                                            <p:cond delay="0"/>
                                          </p:stCondLst>
                                        </p:cTn>
                                        <p:tgtEl>
                                          <p:spTgt spid="101"/>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fill="hold" nodeType="clickEffect">
                                  <p:stCondLst>
                                    <p:cond delay="0"/>
                                  </p:stCondLst>
                                  <p:childTnLst>
                                    <p:set>
                                      <p:cBhvr>
                                        <p:cTn id="96" dur="1" fill="hold">
                                          <p:stCondLst>
                                            <p:cond delay="0"/>
                                          </p:stCondLst>
                                        </p:cTn>
                                        <p:tgtEl>
                                          <p:spTgt spid="102"/>
                                        </p:tgtEl>
                                        <p:attrNameLst>
                                          <p:attrName>style.visibility</p:attrName>
                                        </p:attrNameLst>
                                      </p:cBhvr>
                                      <p:to>
                                        <p:strVal val="visible"/>
                                      </p:to>
                                    </p:set>
                                  </p:childTnLst>
                                </p:cTn>
                              </p:par>
                              <p:par>
                                <p:cTn id="97" presetID="1" presetClass="entr" fill="hold" nodeType="withEffect">
                                  <p:stCondLst>
                                    <p:cond delay="0"/>
                                  </p:stCondLst>
                                  <p:childTnLst>
                                    <p:set>
                                      <p:cBhvr>
                                        <p:cTn id="98" dur="1" fill="hold">
                                          <p:stCondLst>
                                            <p:cond delay="0"/>
                                          </p:stCondLst>
                                        </p:cTn>
                                        <p:tgtEl>
                                          <p:spTgt spid="103"/>
                                        </p:tgtEl>
                                        <p:attrNameLst>
                                          <p:attrName>style.visibility</p:attrName>
                                        </p:attrNameLst>
                                      </p:cBhvr>
                                      <p:to>
                                        <p:strVal val="visible"/>
                                      </p:to>
                                    </p:set>
                                  </p:childTnLst>
                                </p:cTn>
                              </p:par>
                              <p:par>
                                <p:cTn id="99" presetID="1" presetClass="entr" fill="hold" nodeType="withEffect">
                                  <p:stCondLst>
                                    <p:cond delay="0"/>
                                  </p:stCondLst>
                                  <p:childTnLst>
                                    <p:set>
                                      <p:cBhvr>
                                        <p:cTn id="100" dur="1" fill="hold">
                                          <p:stCondLst>
                                            <p:cond delay="0"/>
                                          </p:stCondLst>
                                        </p:cTn>
                                        <p:tgtEl>
                                          <p:spTgt spid="104"/>
                                        </p:tgtEl>
                                        <p:attrNameLst>
                                          <p:attrName>style.visibility</p:attrName>
                                        </p:attrNameLst>
                                      </p:cBhvr>
                                      <p:to>
                                        <p:strVal val="visible"/>
                                      </p:to>
                                    </p:set>
                                  </p:childTnLst>
                                </p:cTn>
                              </p:par>
                              <p:par>
                                <p:cTn id="101" presetID="1" presetClass="entr" fill="hold" nodeType="withEffect">
                                  <p:stCondLst>
                                    <p:cond delay="0"/>
                                  </p:stCondLst>
                                  <p:childTnLst>
                                    <p:set>
                                      <p:cBhvr>
                                        <p:cTn id="102" dur="1" fill="hold">
                                          <p:stCondLst>
                                            <p:cond delay="0"/>
                                          </p:stCondLst>
                                        </p:cTn>
                                        <p:tgtEl>
                                          <p:spTgt spid="105"/>
                                        </p:tgtEl>
                                        <p:attrNameLst>
                                          <p:attrName>style.visibility</p:attrName>
                                        </p:attrNameLst>
                                      </p:cBhvr>
                                      <p:to>
                                        <p:strVal val="visible"/>
                                      </p:to>
                                    </p:set>
                                  </p:childTnLst>
                                </p:cTn>
                              </p:par>
                              <p:par>
                                <p:cTn id="103" presetID="1" presetClass="entr" fill="hold" nodeType="withEffect">
                                  <p:stCondLst>
                                    <p:cond delay="0"/>
                                  </p:stCondLst>
                                  <p:childTnLst>
                                    <p:set>
                                      <p:cBhvr>
                                        <p:cTn id="104" dur="1" fill="hold">
                                          <p:stCondLst>
                                            <p:cond delay="0"/>
                                          </p:stCondLst>
                                        </p:cTn>
                                        <p:tgtEl>
                                          <p:spTgt spid="106"/>
                                        </p:tgtEl>
                                        <p:attrNameLst>
                                          <p:attrName>style.visibility</p:attrName>
                                        </p:attrNameLst>
                                      </p:cBhvr>
                                      <p:to>
                                        <p:strVal val="visible"/>
                                      </p:to>
                                    </p:set>
                                  </p:childTnLst>
                                </p:cTn>
                              </p:par>
                              <p:par>
                                <p:cTn id="105" presetID="1" presetClass="entr" fill="hold" nodeType="withEffect">
                                  <p:stCondLst>
                                    <p:cond delay="0"/>
                                  </p:stCondLst>
                                  <p:childTnLst>
                                    <p:set>
                                      <p:cBhvr>
                                        <p:cTn id="106" dur="1" fill="hold">
                                          <p:stCondLst>
                                            <p:cond delay="0"/>
                                          </p:stCondLst>
                                        </p:cTn>
                                        <p:tgtEl>
                                          <p:spTgt spid="10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fill="hold" nodeType="clickEffect">
                                  <p:stCondLst>
                                    <p:cond delay="0"/>
                                  </p:stCondLst>
                                  <p:childTnLst>
                                    <p:set>
                                      <p:cBhvr>
                                        <p:cTn id="110" dur="1" fill="hold">
                                          <p:stCondLst>
                                            <p:cond delay="0"/>
                                          </p:stCondLst>
                                        </p:cTn>
                                        <p:tgtEl>
                                          <p:spTgt spid="108"/>
                                        </p:tgtEl>
                                        <p:attrNameLst>
                                          <p:attrName>style.visibility</p:attrName>
                                        </p:attrNameLst>
                                      </p:cBhvr>
                                      <p:to>
                                        <p:strVal val="visible"/>
                                      </p:to>
                                    </p:set>
                                  </p:childTnLst>
                                </p:cTn>
                              </p:par>
                              <p:par>
                                <p:cTn id="111" presetID="1" presetClass="entr" fill="hold" nodeType="withEffect">
                                  <p:stCondLst>
                                    <p:cond delay="0"/>
                                  </p:stCondLst>
                                  <p:childTnLst>
                                    <p:set>
                                      <p:cBhvr>
                                        <p:cTn id="112" dur="1" fill="hold">
                                          <p:stCondLst>
                                            <p:cond delay="0"/>
                                          </p:stCondLst>
                                        </p:cTn>
                                        <p:tgtEl>
                                          <p:spTgt spid="109"/>
                                        </p:tgtEl>
                                        <p:attrNameLst>
                                          <p:attrName>style.visibility</p:attrName>
                                        </p:attrNameLst>
                                      </p:cBhvr>
                                      <p:to>
                                        <p:strVal val="visible"/>
                                      </p:to>
                                    </p:set>
                                  </p:childTnLst>
                                </p:cTn>
                              </p:par>
                              <p:par>
                                <p:cTn id="113" presetID="1" presetClass="entr" fill="hold" nodeType="withEffect">
                                  <p:stCondLst>
                                    <p:cond delay="0"/>
                                  </p:stCondLst>
                                  <p:childTnLst>
                                    <p:set>
                                      <p:cBhvr>
                                        <p:cTn id="114" dur="1" fill="hold">
                                          <p:stCondLst>
                                            <p:cond delay="0"/>
                                          </p:stCondLst>
                                        </p:cTn>
                                        <p:tgtEl>
                                          <p:spTgt spid="110"/>
                                        </p:tgtEl>
                                        <p:attrNameLst>
                                          <p:attrName>style.visibility</p:attrName>
                                        </p:attrNameLst>
                                      </p:cBhvr>
                                      <p:to>
                                        <p:strVal val="visible"/>
                                      </p:to>
                                    </p:set>
                                  </p:childTnLst>
                                </p:cTn>
                              </p:par>
                              <p:par>
                                <p:cTn id="115" presetID="1" presetClass="entr" fill="hold" nodeType="withEffect">
                                  <p:stCondLst>
                                    <p:cond delay="0"/>
                                  </p:stCondLst>
                                  <p:childTnLst>
                                    <p:set>
                                      <p:cBhvr>
                                        <p:cTn id="116" dur="1" fill="hold">
                                          <p:stCondLst>
                                            <p:cond delay="0"/>
                                          </p:stCondLst>
                                        </p:cTn>
                                        <p:tgtEl>
                                          <p:spTgt spid="111"/>
                                        </p:tgtEl>
                                        <p:attrNameLst>
                                          <p:attrName>style.visibility</p:attrName>
                                        </p:attrNameLst>
                                      </p:cBhvr>
                                      <p:to>
                                        <p:strVal val="visible"/>
                                      </p:to>
                                    </p:set>
                                  </p:childTnLst>
                                </p:cTn>
                              </p:par>
                              <p:par>
                                <p:cTn id="117" presetID="1" presetClass="entr" fill="hold" nodeType="withEffect">
                                  <p:stCondLst>
                                    <p:cond delay="0"/>
                                  </p:stCondLst>
                                  <p:childTnLst>
                                    <p:set>
                                      <p:cBhvr>
                                        <p:cTn id="118" dur="1" fill="hold">
                                          <p:stCondLst>
                                            <p:cond delay="0"/>
                                          </p:stCondLst>
                                        </p:cTn>
                                        <p:tgtEl>
                                          <p:spTgt spid="112"/>
                                        </p:tgtEl>
                                        <p:attrNameLst>
                                          <p:attrName>style.visibility</p:attrName>
                                        </p:attrNameLst>
                                      </p:cBhvr>
                                      <p:to>
                                        <p:strVal val="visible"/>
                                      </p:to>
                                    </p:set>
                                  </p:childTnLst>
                                </p:cTn>
                              </p:par>
                              <p:par>
                                <p:cTn id="119" presetID="1" presetClass="entr" fill="hold" nodeType="withEffect">
                                  <p:stCondLst>
                                    <p:cond delay="0"/>
                                  </p:stCondLst>
                                  <p:childTnLst>
                                    <p:set>
                                      <p:cBhvr>
                                        <p:cTn id="120" dur="1" fill="hold">
                                          <p:stCondLst>
                                            <p:cond delay="0"/>
                                          </p:stCondLst>
                                        </p:cTn>
                                        <p:tgtEl>
                                          <p:spTgt spid="11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fill="hold" nodeType="clickEffect">
                                  <p:stCondLst>
                                    <p:cond delay="0"/>
                                  </p:stCondLst>
                                  <p:childTnLst>
                                    <p:set>
                                      <p:cBhvr>
                                        <p:cTn id="124" dur="1" fill="hold">
                                          <p:stCondLst>
                                            <p:cond delay="0"/>
                                          </p:stCondLst>
                                        </p:cTn>
                                        <p:tgtEl>
                                          <p:spTgt spid="114"/>
                                        </p:tgtEl>
                                        <p:attrNameLst>
                                          <p:attrName>style.visibility</p:attrName>
                                        </p:attrNameLst>
                                      </p:cBhvr>
                                      <p:to>
                                        <p:strVal val="visible"/>
                                      </p:to>
                                    </p:set>
                                  </p:childTnLst>
                                </p:cTn>
                              </p:par>
                              <p:par>
                                <p:cTn id="125" presetID="1" presetClass="entr" fill="hold" nodeType="withEffect">
                                  <p:stCondLst>
                                    <p:cond delay="0"/>
                                  </p:stCondLst>
                                  <p:childTnLst>
                                    <p:set>
                                      <p:cBhvr>
                                        <p:cTn id="126" dur="1" fill="hold">
                                          <p:stCondLst>
                                            <p:cond delay="0"/>
                                          </p:stCondLst>
                                        </p:cTn>
                                        <p:tgtEl>
                                          <p:spTgt spid="115"/>
                                        </p:tgtEl>
                                        <p:attrNameLst>
                                          <p:attrName>style.visibility</p:attrName>
                                        </p:attrNameLst>
                                      </p:cBhvr>
                                      <p:to>
                                        <p:strVal val="visible"/>
                                      </p:to>
                                    </p:set>
                                  </p:childTnLst>
                                </p:cTn>
                              </p:par>
                              <p:par>
                                <p:cTn id="127" presetID="1" presetClass="entr" fill="hold" nodeType="withEffect">
                                  <p:stCondLst>
                                    <p:cond delay="0"/>
                                  </p:stCondLst>
                                  <p:childTnLst>
                                    <p:set>
                                      <p:cBhvr>
                                        <p:cTn id="128" dur="1" fill="hold">
                                          <p:stCondLst>
                                            <p:cond delay="0"/>
                                          </p:stCondLst>
                                        </p:cTn>
                                        <p:tgtEl>
                                          <p:spTgt spid="116"/>
                                        </p:tgtEl>
                                        <p:attrNameLst>
                                          <p:attrName>style.visibility</p:attrName>
                                        </p:attrNameLst>
                                      </p:cBhvr>
                                      <p:to>
                                        <p:strVal val="visible"/>
                                      </p:to>
                                    </p:set>
                                  </p:childTnLst>
                                </p:cTn>
                              </p:par>
                              <p:par>
                                <p:cTn id="129" presetID="1" presetClass="entr" fill="hold" nodeType="withEffect">
                                  <p:stCondLst>
                                    <p:cond delay="0"/>
                                  </p:stCondLst>
                                  <p:childTnLst>
                                    <p:set>
                                      <p:cBhvr>
                                        <p:cTn id="130" dur="1" fill="hold">
                                          <p:stCondLst>
                                            <p:cond delay="0"/>
                                          </p:stCondLst>
                                        </p:cTn>
                                        <p:tgtEl>
                                          <p:spTgt spid="117"/>
                                        </p:tgtEl>
                                        <p:attrNameLst>
                                          <p:attrName>style.visibility</p:attrName>
                                        </p:attrNameLst>
                                      </p:cBhvr>
                                      <p:to>
                                        <p:strVal val="visible"/>
                                      </p:to>
                                    </p:set>
                                  </p:childTnLst>
                                </p:cTn>
                              </p:par>
                              <p:par>
                                <p:cTn id="131" presetID="1" presetClass="entr" fill="hold" nodeType="withEffect">
                                  <p:stCondLst>
                                    <p:cond delay="0"/>
                                  </p:stCondLst>
                                  <p:childTnLst>
                                    <p:set>
                                      <p:cBhvr>
                                        <p:cTn id="132"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121"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Three independent measurements per run</a:t>
            </a:r>
            <a:endParaRPr lang="de-DE" sz="2400" b="0" u="none" strike="noStrike">
              <a:solidFill>
                <a:srgbClr val="FFFFFF"/>
              </a:solidFill>
              <a:effectLst/>
              <a:uFillTx/>
              <a:latin typeface="Arial"/>
            </a:endParaRPr>
          </a:p>
        </p:txBody>
      </p:sp>
      <p:sp>
        <p:nvSpPr>
          <p:cNvPr id="122" name="Shape 1"/>
          <p:cNvSpPr/>
          <p:nvPr/>
        </p:nvSpPr>
        <p:spPr>
          <a:xfrm>
            <a:off x="411480" y="1280160"/>
            <a:ext cx="2645640" cy="2554200"/>
          </a:xfrm>
          <a:prstGeom prst="roundRect">
            <a:avLst>
              <a:gd name="adj" fmla="val 5357"/>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23" name="Shape 2"/>
          <p:cNvSpPr/>
          <p:nvPr/>
        </p:nvSpPr>
        <p:spPr>
          <a:xfrm>
            <a:off x="411480" y="1280160"/>
            <a:ext cx="2645640" cy="103680"/>
          </a:xfrm>
          <a:prstGeom prst="roundRect">
            <a:avLst>
              <a:gd name="adj" fmla="val 125000"/>
            </a:avLst>
          </a:prstGeom>
          <a:solidFill>
            <a:srgbClr val="D04A02"/>
          </a:solidFill>
          <a:ln w="12600">
            <a:solidFill>
              <a:srgbClr val="333333"/>
            </a:solidFill>
            <a:round/>
          </a:ln>
        </p:spPr>
        <p:style>
          <a:lnRef idx="0"/>
          <a:fillRef idx="0"/>
          <a:effectRef idx="0"/>
          <a:fontRef idx="minor"/>
        </p:style>
        <p:txBody>
          <a:bodyPr lIns="90000" tIns="32760" rIns="90000" bIns="32760" anchor="t">
            <a:noAutofit/>
          </a:bodyPr>
          <a:p>
            <a:pPr defTabSz="914400">
              <a:lnSpc>
                <a:spcPct val="100000"/>
              </a:lnSpc>
            </a:pPr>
            <a:endParaRPr lang="de-DE" sz="1800" b="0" u="none" strike="noStrike">
              <a:solidFill>
                <a:schemeClr val="dk1"/>
              </a:solidFill>
              <a:effectLst/>
              <a:uFillTx/>
              <a:latin typeface="Calibri"/>
            </a:endParaRPr>
          </a:p>
        </p:txBody>
      </p:sp>
      <p:sp>
        <p:nvSpPr>
          <p:cNvPr id="124" name="Text 3"/>
          <p:cNvSpPr/>
          <p:nvPr/>
        </p:nvSpPr>
        <p:spPr>
          <a:xfrm>
            <a:off x="411480" y="1508760"/>
            <a:ext cx="2645640" cy="451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0" u="none" strike="noStrike">
                <a:solidFill>
                  <a:srgbClr val="000000"/>
                </a:solidFill>
                <a:effectLst/>
                <a:uFillTx/>
                <a:latin typeface="Calibri"/>
                <a:ea typeface="DejaVu Sans"/>
              </a:rPr>
              <a:t>📏</a:t>
            </a:r>
            <a:endParaRPr lang="de-DE" sz="2800" b="0" u="none" strike="noStrike">
              <a:solidFill>
                <a:srgbClr val="FFFFFF"/>
              </a:solidFill>
              <a:effectLst/>
              <a:uFillTx/>
              <a:latin typeface="Arial"/>
            </a:endParaRPr>
          </a:p>
        </p:txBody>
      </p:sp>
      <p:sp>
        <p:nvSpPr>
          <p:cNvPr id="125" name="Text 4"/>
          <p:cNvSpPr/>
          <p:nvPr/>
        </p:nvSpPr>
        <p:spPr>
          <a:xfrm>
            <a:off x="411480" y="2011680"/>
            <a:ext cx="264564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E8E8E8"/>
                </a:solidFill>
                <a:effectLst/>
                <a:uFillTx/>
                <a:latin typeface="DejaVu Serif"/>
                <a:ea typeface="DejaVu Serif"/>
              </a:rPr>
              <a:t>WER</a:t>
            </a:r>
            <a:endParaRPr lang="de-DE" sz="1600" b="0" u="none" strike="noStrike">
              <a:solidFill>
                <a:srgbClr val="FFFFFF"/>
              </a:solidFill>
              <a:effectLst/>
              <a:uFillTx/>
              <a:latin typeface="Arial"/>
            </a:endParaRPr>
          </a:p>
        </p:txBody>
      </p:sp>
      <p:sp>
        <p:nvSpPr>
          <p:cNvPr id="126" name="Text 5"/>
          <p:cNvSpPr/>
          <p:nvPr/>
        </p:nvSpPr>
        <p:spPr>
          <a:xfrm>
            <a:off x="411480" y="2423160"/>
            <a:ext cx="264564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Word Error Rate</a:t>
            </a:r>
            <a:endParaRPr lang="de-DE" sz="1300" b="0" u="none" strike="noStrike">
              <a:solidFill>
                <a:srgbClr val="FFFFFF"/>
              </a:solidFill>
              <a:effectLst/>
              <a:uFillTx/>
              <a:latin typeface="Arial"/>
            </a:endParaRPr>
          </a:p>
        </p:txBody>
      </p:sp>
      <p:sp>
        <p:nvSpPr>
          <p:cNvPr id="127" name="Text 6"/>
          <p:cNvSpPr/>
          <p:nvPr/>
        </p:nvSpPr>
        <p:spPr>
          <a:xfrm>
            <a:off x="548640" y="2926080"/>
            <a:ext cx="237132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5429"/>
                </a:solidFill>
                <a:effectLst/>
                <a:uFillTx/>
                <a:latin typeface="DejaVu Serif"/>
                <a:ea typeface="DejaVu Serif"/>
              </a:rPr>
              <a:t>Ground Truth vs. RAW STT</a:t>
            </a:r>
            <a:endParaRPr lang="de-DE" sz="1300" b="0" u="none" strike="noStrike">
              <a:solidFill>
                <a:srgbClr val="FFFFFF"/>
              </a:solidFill>
              <a:effectLst/>
              <a:uFillTx/>
              <a:latin typeface="Arial"/>
            </a:endParaRPr>
          </a:p>
        </p:txBody>
      </p:sp>
      <p:sp>
        <p:nvSpPr>
          <p:cNvPr id="128" name="Shape 7"/>
          <p:cNvSpPr/>
          <p:nvPr/>
        </p:nvSpPr>
        <p:spPr>
          <a:xfrm>
            <a:off x="3246120" y="1280160"/>
            <a:ext cx="2645640" cy="2554200"/>
          </a:xfrm>
          <a:prstGeom prst="roundRect">
            <a:avLst>
              <a:gd name="adj" fmla="val 5357"/>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29" name="Shape 8"/>
          <p:cNvSpPr/>
          <p:nvPr/>
        </p:nvSpPr>
        <p:spPr>
          <a:xfrm>
            <a:off x="3246120" y="1280160"/>
            <a:ext cx="2645640" cy="103680"/>
          </a:xfrm>
          <a:prstGeom prst="roundRect">
            <a:avLst>
              <a:gd name="adj" fmla="val 125000"/>
            </a:avLst>
          </a:prstGeom>
          <a:solidFill>
            <a:srgbClr val="D04A02"/>
          </a:solidFill>
          <a:ln w="12600">
            <a:solidFill>
              <a:srgbClr val="333333"/>
            </a:solidFill>
            <a:round/>
          </a:ln>
        </p:spPr>
        <p:style>
          <a:lnRef idx="0"/>
          <a:fillRef idx="0"/>
          <a:effectRef idx="0"/>
          <a:fontRef idx="minor"/>
        </p:style>
        <p:txBody>
          <a:bodyPr lIns="90000" tIns="32760" rIns="90000" bIns="32760" anchor="t">
            <a:noAutofit/>
          </a:bodyPr>
          <a:p>
            <a:pPr defTabSz="914400">
              <a:lnSpc>
                <a:spcPct val="100000"/>
              </a:lnSpc>
            </a:pPr>
            <a:endParaRPr lang="de-DE" sz="1800" b="0" u="none" strike="noStrike">
              <a:solidFill>
                <a:schemeClr val="dk1"/>
              </a:solidFill>
              <a:effectLst/>
              <a:uFillTx/>
              <a:latin typeface="Calibri"/>
            </a:endParaRPr>
          </a:p>
        </p:txBody>
      </p:sp>
      <p:sp>
        <p:nvSpPr>
          <p:cNvPr id="130" name="Text 9"/>
          <p:cNvSpPr/>
          <p:nvPr/>
        </p:nvSpPr>
        <p:spPr>
          <a:xfrm>
            <a:off x="3246120" y="1508760"/>
            <a:ext cx="2645640" cy="451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0" u="none" strike="noStrike">
                <a:solidFill>
                  <a:srgbClr val="000000"/>
                </a:solidFill>
                <a:effectLst/>
                <a:uFillTx/>
                <a:latin typeface="Calibri"/>
                <a:ea typeface="DejaVu Sans"/>
              </a:rPr>
              <a:t>🔍</a:t>
            </a:r>
            <a:endParaRPr lang="de-DE" sz="2800" b="0" u="none" strike="noStrike">
              <a:solidFill>
                <a:srgbClr val="FFFFFF"/>
              </a:solidFill>
              <a:effectLst/>
              <a:uFillTx/>
              <a:latin typeface="Arial"/>
            </a:endParaRPr>
          </a:p>
        </p:txBody>
      </p:sp>
      <p:sp>
        <p:nvSpPr>
          <p:cNvPr id="131" name="Text 10"/>
          <p:cNvSpPr/>
          <p:nvPr/>
        </p:nvSpPr>
        <p:spPr>
          <a:xfrm>
            <a:off x="3246120" y="2011680"/>
            <a:ext cx="264564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E8E8E8"/>
                </a:solidFill>
                <a:effectLst/>
                <a:uFillTx/>
                <a:latin typeface="DejaVu Serif"/>
                <a:ea typeface="DejaVu Serif"/>
              </a:rPr>
              <a:t>LLM Fidelity</a:t>
            </a:r>
            <a:endParaRPr lang="de-DE" sz="1600" b="0" u="none" strike="noStrike">
              <a:solidFill>
                <a:srgbClr val="FFFFFF"/>
              </a:solidFill>
              <a:effectLst/>
              <a:uFillTx/>
              <a:latin typeface="Arial"/>
            </a:endParaRPr>
          </a:p>
        </p:txBody>
      </p:sp>
      <p:sp>
        <p:nvSpPr>
          <p:cNvPr id="132" name="Text 11"/>
          <p:cNvSpPr/>
          <p:nvPr/>
        </p:nvSpPr>
        <p:spPr>
          <a:xfrm>
            <a:off x="3246120" y="2423160"/>
            <a:ext cx="264564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Did the LLM hallucinate?</a:t>
            </a:r>
            <a:endParaRPr lang="de-DE" sz="1300" b="0" u="none" strike="noStrike">
              <a:solidFill>
                <a:srgbClr val="FFFFFF"/>
              </a:solidFill>
              <a:effectLst/>
              <a:uFillTx/>
              <a:latin typeface="Arial"/>
            </a:endParaRPr>
          </a:p>
        </p:txBody>
      </p:sp>
      <p:sp>
        <p:nvSpPr>
          <p:cNvPr id="133" name="Text 12"/>
          <p:cNvSpPr/>
          <p:nvPr/>
        </p:nvSpPr>
        <p:spPr>
          <a:xfrm>
            <a:off x="3383280" y="2926080"/>
            <a:ext cx="237132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5429"/>
                </a:solidFill>
                <a:effectLst/>
                <a:uFillTx/>
                <a:latin typeface="DejaVu Serif"/>
                <a:ea typeface="DejaVu Serif"/>
              </a:rPr>
              <a:t>RAW STT vs. Formatted</a:t>
            </a:r>
            <a:endParaRPr lang="de-DE" sz="1300" b="0" u="none" strike="noStrike">
              <a:solidFill>
                <a:srgbClr val="FFFFFF"/>
              </a:solidFill>
              <a:effectLst/>
              <a:uFillTx/>
              <a:latin typeface="Arial"/>
            </a:endParaRPr>
          </a:p>
        </p:txBody>
      </p:sp>
      <p:sp>
        <p:nvSpPr>
          <p:cNvPr id="134" name="Shape 13"/>
          <p:cNvSpPr/>
          <p:nvPr/>
        </p:nvSpPr>
        <p:spPr>
          <a:xfrm>
            <a:off x="6080760" y="1280160"/>
            <a:ext cx="2645640" cy="2554200"/>
          </a:xfrm>
          <a:prstGeom prst="roundRect">
            <a:avLst>
              <a:gd name="adj" fmla="val 5357"/>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35" name="Shape 14"/>
          <p:cNvSpPr/>
          <p:nvPr/>
        </p:nvSpPr>
        <p:spPr>
          <a:xfrm>
            <a:off x="6080760" y="1280160"/>
            <a:ext cx="2645640" cy="103680"/>
          </a:xfrm>
          <a:prstGeom prst="roundRect">
            <a:avLst>
              <a:gd name="adj" fmla="val 125000"/>
            </a:avLst>
          </a:prstGeom>
          <a:solidFill>
            <a:srgbClr val="D04A02"/>
          </a:solidFill>
          <a:ln w="12600">
            <a:solidFill>
              <a:srgbClr val="333333"/>
            </a:solidFill>
            <a:round/>
          </a:ln>
        </p:spPr>
        <p:style>
          <a:lnRef idx="0"/>
          <a:fillRef idx="0"/>
          <a:effectRef idx="0"/>
          <a:fontRef idx="minor"/>
        </p:style>
        <p:txBody>
          <a:bodyPr lIns="90000" tIns="32760" rIns="90000" bIns="32760" anchor="t">
            <a:noAutofit/>
          </a:bodyPr>
          <a:p>
            <a:pPr defTabSz="914400">
              <a:lnSpc>
                <a:spcPct val="100000"/>
              </a:lnSpc>
            </a:pPr>
            <a:endParaRPr lang="de-DE" sz="1800" b="0" u="none" strike="noStrike">
              <a:solidFill>
                <a:schemeClr val="dk1"/>
              </a:solidFill>
              <a:effectLst/>
              <a:uFillTx/>
              <a:latin typeface="Calibri"/>
            </a:endParaRPr>
          </a:p>
        </p:txBody>
      </p:sp>
      <p:sp>
        <p:nvSpPr>
          <p:cNvPr id="136" name="Text 15"/>
          <p:cNvSpPr/>
          <p:nvPr/>
        </p:nvSpPr>
        <p:spPr>
          <a:xfrm>
            <a:off x="6080760" y="1508760"/>
            <a:ext cx="2645640" cy="4510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0" u="none" strike="noStrike">
                <a:solidFill>
                  <a:schemeClr val="lt1"/>
                </a:solidFill>
                <a:effectLst/>
                <a:uFillTx/>
                <a:latin typeface="Calibri"/>
                <a:ea typeface="DejaVu Sans"/>
              </a:rPr>
              <a:t>⚕</a:t>
            </a:r>
            <a:endParaRPr lang="de-DE" sz="2800" b="0" u="none" strike="noStrike">
              <a:solidFill>
                <a:srgbClr val="FFFFFF"/>
              </a:solidFill>
              <a:effectLst/>
              <a:uFillTx/>
              <a:latin typeface="Arial"/>
            </a:endParaRPr>
          </a:p>
        </p:txBody>
      </p:sp>
      <p:sp>
        <p:nvSpPr>
          <p:cNvPr id="137" name="Text 16"/>
          <p:cNvSpPr/>
          <p:nvPr/>
        </p:nvSpPr>
        <p:spPr>
          <a:xfrm>
            <a:off x="6080760" y="2011680"/>
            <a:ext cx="264564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E8E8E8"/>
                </a:solidFill>
                <a:effectLst/>
                <a:uFillTx/>
                <a:latin typeface="DejaVu Serif"/>
                <a:ea typeface="DejaVu Serif"/>
              </a:rPr>
              <a:t>SOAP Quality</a:t>
            </a:r>
            <a:endParaRPr lang="de-DE" sz="1600" b="0" u="none" strike="noStrike">
              <a:solidFill>
                <a:srgbClr val="FFFFFF"/>
              </a:solidFill>
              <a:effectLst/>
              <a:uFillTx/>
              <a:latin typeface="Arial"/>
            </a:endParaRPr>
          </a:p>
        </p:txBody>
      </p:sp>
      <p:sp>
        <p:nvSpPr>
          <p:cNvPr id="138" name="Text 17"/>
          <p:cNvSpPr/>
          <p:nvPr/>
        </p:nvSpPr>
        <p:spPr>
          <a:xfrm>
            <a:off x="6080760" y="2423160"/>
            <a:ext cx="264564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Is the note medically usable?</a:t>
            </a:r>
            <a:endParaRPr lang="de-DE" sz="1300" b="0" u="none" strike="noStrike">
              <a:solidFill>
                <a:srgbClr val="FFFFFF"/>
              </a:solidFill>
              <a:effectLst/>
              <a:uFillTx/>
              <a:latin typeface="Arial"/>
            </a:endParaRPr>
          </a:p>
        </p:txBody>
      </p:sp>
      <p:sp>
        <p:nvSpPr>
          <p:cNvPr id="139" name="Text 18"/>
          <p:cNvSpPr/>
          <p:nvPr/>
        </p:nvSpPr>
        <p:spPr>
          <a:xfrm>
            <a:off x="6217920" y="2926080"/>
            <a:ext cx="2371320" cy="268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rgbClr val="FF5429"/>
                </a:solidFill>
                <a:effectLst/>
                <a:uFillTx/>
                <a:latin typeface="DejaVu Serif"/>
                <a:ea typeface="DejaVu Serif"/>
              </a:rPr>
              <a:t>Claude-as-Judge (0–8 pts)</a:t>
            </a:r>
            <a:endParaRPr lang="de-DE" sz="1300" b="0" u="none" strike="noStrike">
              <a:solidFill>
                <a:srgbClr val="FFFFFF"/>
              </a:solidFill>
              <a:effectLst/>
              <a:uFillTx/>
              <a:latin typeface="Arial"/>
            </a:endParaRPr>
          </a:p>
        </p:txBody>
      </p:sp>
      <p:sp>
        <p:nvSpPr>
          <p:cNvPr id="140" name="Shape 19"/>
          <p:cNvSpPr/>
          <p:nvPr/>
        </p:nvSpPr>
        <p:spPr>
          <a:xfrm>
            <a:off x="457200" y="4114800"/>
            <a:ext cx="8223480" cy="496800"/>
          </a:xfrm>
          <a:prstGeom prst="roundRect">
            <a:avLst>
              <a:gd name="adj" fmla="val 27273"/>
            </a:avLst>
          </a:prstGeom>
          <a:solidFill>
            <a:srgbClr val="3A2510"/>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41" name="Text 20"/>
          <p:cNvSpPr/>
          <p:nvPr/>
        </p:nvSpPr>
        <p:spPr>
          <a:xfrm>
            <a:off x="594360" y="4160520"/>
            <a:ext cx="7949160" cy="405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5429"/>
                </a:solidFill>
                <a:effectLst/>
                <a:uFillTx/>
                <a:latin typeface="DejaVu Serif"/>
                <a:ea typeface="DejaVu Serif"/>
              </a:rPr>
              <a:t>Safety Rule:</a:t>
            </a:r>
            <a:r>
              <a:rPr lang="en-US" sz="1300" b="1" u="none" strike="noStrike">
                <a:solidFill>
                  <a:srgbClr val="D04A02"/>
                </a:solidFill>
                <a:effectLst/>
                <a:uFillTx/>
                <a:latin typeface="DejaVu Serif"/>
                <a:ea typeface="DejaVu Serif"/>
              </a:rPr>
              <a:t> </a:t>
            </a:r>
            <a:r>
              <a:rPr lang="en-US" sz="1300" b="0" u="none" strike="noStrike">
                <a:solidFill>
                  <a:srgbClr val="E8E8E8"/>
                </a:solidFill>
                <a:effectLst/>
                <a:uFillTx/>
                <a:latin typeface="DejaVu Serif"/>
                <a:ea typeface="DejaVu Serif"/>
              </a:rPr>
              <a:t>Any hallucinated diagnosis or treatment = </a:t>
            </a:r>
            <a:r>
              <a:rPr lang="en-US" sz="1300" b="1" u="none" strike="noStrike">
                <a:solidFill>
                  <a:srgbClr val="E8E8E8"/>
                </a:solidFill>
                <a:effectLst/>
                <a:uFillTx/>
                <a:latin typeface="DejaVu Serif"/>
                <a:ea typeface="DejaVu Serif"/>
              </a:rPr>
              <a:t>0 points</a:t>
            </a:r>
            <a:r>
              <a:rPr lang="en-US" sz="1300" b="0" u="none" strike="noStrike">
                <a:solidFill>
                  <a:srgbClr val="E8E8E8"/>
                </a:solidFill>
                <a:effectLst/>
                <a:uFillTx/>
                <a:latin typeface="DejaVu Serif"/>
                <a:ea typeface="DejaVu Serif"/>
              </a:rPr>
              <a:t> in A &amp; P sections.</a:t>
            </a:r>
            <a:endParaRPr lang="de-DE" sz="1300" b="0" u="none" strike="noStrike">
              <a:solidFill>
                <a:srgbClr val="FFFFFF"/>
              </a:solidFill>
              <a:effectLst/>
              <a:uFillTx/>
              <a:latin typeface="Arial"/>
            </a:endParaRPr>
          </a:p>
        </p:txBody>
      </p:sp>
      <p:sp>
        <p:nvSpPr>
          <p:cNvPr id="142" name="Text 21"/>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143" name="Text 22"/>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8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33" dur="indefinite" restart="never" nodeType="tmRoot">
          <p:childTnLst>
            <p:seq>
              <p:cTn id="134" dur="indefinite" nodeType="mainSeq">
                <p:childTnLst>
                  <p:par>
                    <p:cTn id="135" fill="hold">
                      <p:stCondLst>
                        <p:cond delay="indefinite"/>
                      </p:stCondLst>
                      <p:childTnLst>
                        <p:par>
                          <p:cTn id="136" fill="hold">
                            <p:stCondLst>
                              <p:cond delay="0"/>
                            </p:stCondLst>
                            <p:childTnLst>
                              <p:par>
                                <p:cTn id="137" presetID="1" presetClass="entr" fill="hold" nodeType="clickEffect">
                                  <p:stCondLst>
                                    <p:cond delay="0"/>
                                  </p:stCondLst>
                                  <p:childTnLst>
                                    <p:set>
                                      <p:cBhvr>
                                        <p:cTn id="138" dur="1" fill="hold">
                                          <p:stCondLst>
                                            <p:cond delay="0"/>
                                          </p:stCondLst>
                                        </p:cTn>
                                        <p:tgtEl>
                                          <p:spTgt spid="122"/>
                                        </p:tgtEl>
                                        <p:attrNameLst>
                                          <p:attrName>style.visibility</p:attrName>
                                        </p:attrNameLst>
                                      </p:cBhvr>
                                      <p:to>
                                        <p:strVal val="visible"/>
                                      </p:to>
                                    </p:set>
                                  </p:childTnLst>
                                </p:cTn>
                              </p:par>
                              <p:par>
                                <p:cTn id="139" presetID="1" presetClass="entr" fill="hold" nodeType="withEffect">
                                  <p:stCondLst>
                                    <p:cond delay="0"/>
                                  </p:stCondLst>
                                  <p:childTnLst>
                                    <p:set>
                                      <p:cBhvr>
                                        <p:cTn id="140" dur="1" fill="hold">
                                          <p:stCondLst>
                                            <p:cond delay="0"/>
                                          </p:stCondLst>
                                        </p:cTn>
                                        <p:tgtEl>
                                          <p:spTgt spid="123"/>
                                        </p:tgtEl>
                                        <p:attrNameLst>
                                          <p:attrName>style.visibility</p:attrName>
                                        </p:attrNameLst>
                                      </p:cBhvr>
                                      <p:to>
                                        <p:strVal val="visible"/>
                                      </p:to>
                                    </p:set>
                                  </p:childTnLst>
                                </p:cTn>
                              </p:par>
                              <p:par>
                                <p:cTn id="141" presetID="1" presetClass="entr" fill="hold" nodeType="withEffect">
                                  <p:stCondLst>
                                    <p:cond delay="0"/>
                                  </p:stCondLst>
                                  <p:childTnLst>
                                    <p:set>
                                      <p:cBhvr>
                                        <p:cTn id="142" dur="1" fill="hold">
                                          <p:stCondLst>
                                            <p:cond delay="0"/>
                                          </p:stCondLst>
                                        </p:cTn>
                                        <p:tgtEl>
                                          <p:spTgt spid="124"/>
                                        </p:tgtEl>
                                        <p:attrNameLst>
                                          <p:attrName>style.visibility</p:attrName>
                                        </p:attrNameLst>
                                      </p:cBhvr>
                                      <p:to>
                                        <p:strVal val="visible"/>
                                      </p:to>
                                    </p:set>
                                  </p:childTnLst>
                                </p:cTn>
                              </p:par>
                              <p:par>
                                <p:cTn id="143" presetID="1" presetClass="entr" fill="hold" nodeType="withEffect">
                                  <p:stCondLst>
                                    <p:cond delay="0"/>
                                  </p:stCondLst>
                                  <p:childTnLst>
                                    <p:set>
                                      <p:cBhvr>
                                        <p:cTn id="144" dur="1" fill="hold">
                                          <p:stCondLst>
                                            <p:cond delay="0"/>
                                          </p:stCondLst>
                                        </p:cTn>
                                        <p:tgtEl>
                                          <p:spTgt spid="125"/>
                                        </p:tgtEl>
                                        <p:attrNameLst>
                                          <p:attrName>style.visibility</p:attrName>
                                        </p:attrNameLst>
                                      </p:cBhvr>
                                      <p:to>
                                        <p:strVal val="visible"/>
                                      </p:to>
                                    </p:set>
                                  </p:childTnLst>
                                </p:cTn>
                              </p:par>
                              <p:par>
                                <p:cTn id="145" presetID="1" presetClass="entr" fill="hold" nodeType="withEffect">
                                  <p:stCondLst>
                                    <p:cond delay="0"/>
                                  </p:stCondLst>
                                  <p:childTnLst>
                                    <p:set>
                                      <p:cBhvr>
                                        <p:cTn id="146" dur="1" fill="hold">
                                          <p:stCondLst>
                                            <p:cond delay="0"/>
                                          </p:stCondLst>
                                        </p:cTn>
                                        <p:tgtEl>
                                          <p:spTgt spid="126"/>
                                        </p:tgtEl>
                                        <p:attrNameLst>
                                          <p:attrName>style.visibility</p:attrName>
                                        </p:attrNameLst>
                                      </p:cBhvr>
                                      <p:to>
                                        <p:strVal val="visible"/>
                                      </p:to>
                                    </p:set>
                                  </p:childTnLst>
                                </p:cTn>
                              </p:par>
                              <p:par>
                                <p:cTn id="147" presetID="1" presetClass="entr" fill="hold" nodeType="withEffect">
                                  <p:stCondLst>
                                    <p:cond delay="0"/>
                                  </p:stCondLst>
                                  <p:childTnLst>
                                    <p:set>
                                      <p:cBhvr>
                                        <p:cTn id="148" dur="1" fill="hold">
                                          <p:stCondLst>
                                            <p:cond delay="0"/>
                                          </p:stCondLst>
                                        </p:cTn>
                                        <p:tgtEl>
                                          <p:spTgt spid="127"/>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fill="hold" nodeType="clickEffect">
                                  <p:stCondLst>
                                    <p:cond delay="0"/>
                                  </p:stCondLst>
                                  <p:childTnLst>
                                    <p:set>
                                      <p:cBhvr>
                                        <p:cTn id="152" dur="1" fill="hold">
                                          <p:stCondLst>
                                            <p:cond delay="0"/>
                                          </p:stCondLst>
                                        </p:cTn>
                                        <p:tgtEl>
                                          <p:spTgt spid="128"/>
                                        </p:tgtEl>
                                        <p:attrNameLst>
                                          <p:attrName>style.visibility</p:attrName>
                                        </p:attrNameLst>
                                      </p:cBhvr>
                                      <p:to>
                                        <p:strVal val="visible"/>
                                      </p:to>
                                    </p:set>
                                  </p:childTnLst>
                                </p:cTn>
                              </p:par>
                              <p:par>
                                <p:cTn id="153" presetID="1" presetClass="entr" fill="hold" nodeType="withEffect">
                                  <p:stCondLst>
                                    <p:cond delay="0"/>
                                  </p:stCondLst>
                                  <p:childTnLst>
                                    <p:set>
                                      <p:cBhvr>
                                        <p:cTn id="154" dur="1" fill="hold">
                                          <p:stCondLst>
                                            <p:cond delay="0"/>
                                          </p:stCondLst>
                                        </p:cTn>
                                        <p:tgtEl>
                                          <p:spTgt spid="129"/>
                                        </p:tgtEl>
                                        <p:attrNameLst>
                                          <p:attrName>style.visibility</p:attrName>
                                        </p:attrNameLst>
                                      </p:cBhvr>
                                      <p:to>
                                        <p:strVal val="visible"/>
                                      </p:to>
                                    </p:set>
                                  </p:childTnLst>
                                </p:cTn>
                              </p:par>
                              <p:par>
                                <p:cTn id="155" presetID="1" presetClass="entr" fill="hold" nodeType="withEffect">
                                  <p:stCondLst>
                                    <p:cond delay="0"/>
                                  </p:stCondLst>
                                  <p:childTnLst>
                                    <p:set>
                                      <p:cBhvr>
                                        <p:cTn id="156" dur="1" fill="hold">
                                          <p:stCondLst>
                                            <p:cond delay="0"/>
                                          </p:stCondLst>
                                        </p:cTn>
                                        <p:tgtEl>
                                          <p:spTgt spid="130"/>
                                        </p:tgtEl>
                                        <p:attrNameLst>
                                          <p:attrName>style.visibility</p:attrName>
                                        </p:attrNameLst>
                                      </p:cBhvr>
                                      <p:to>
                                        <p:strVal val="visible"/>
                                      </p:to>
                                    </p:set>
                                  </p:childTnLst>
                                </p:cTn>
                              </p:par>
                              <p:par>
                                <p:cTn id="157" presetID="1" presetClass="entr" fill="hold" nodeType="withEffect">
                                  <p:stCondLst>
                                    <p:cond delay="0"/>
                                  </p:stCondLst>
                                  <p:childTnLst>
                                    <p:set>
                                      <p:cBhvr>
                                        <p:cTn id="158" dur="1" fill="hold">
                                          <p:stCondLst>
                                            <p:cond delay="0"/>
                                          </p:stCondLst>
                                        </p:cTn>
                                        <p:tgtEl>
                                          <p:spTgt spid="131"/>
                                        </p:tgtEl>
                                        <p:attrNameLst>
                                          <p:attrName>style.visibility</p:attrName>
                                        </p:attrNameLst>
                                      </p:cBhvr>
                                      <p:to>
                                        <p:strVal val="visible"/>
                                      </p:to>
                                    </p:set>
                                  </p:childTnLst>
                                </p:cTn>
                              </p:par>
                              <p:par>
                                <p:cTn id="159" presetID="1" presetClass="entr" fill="hold" nodeType="withEffect">
                                  <p:stCondLst>
                                    <p:cond delay="0"/>
                                  </p:stCondLst>
                                  <p:childTnLst>
                                    <p:set>
                                      <p:cBhvr>
                                        <p:cTn id="160" dur="1" fill="hold">
                                          <p:stCondLst>
                                            <p:cond delay="0"/>
                                          </p:stCondLst>
                                        </p:cTn>
                                        <p:tgtEl>
                                          <p:spTgt spid="132"/>
                                        </p:tgtEl>
                                        <p:attrNameLst>
                                          <p:attrName>style.visibility</p:attrName>
                                        </p:attrNameLst>
                                      </p:cBhvr>
                                      <p:to>
                                        <p:strVal val="visible"/>
                                      </p:to>
                                    </p:set>
                                  </p:childTnLst>
                                </p:cTn>
                              </p:par>
                              <p:par>
                                <p:cTn id="161" presetID="1" presetClass="entr" fill="hold" nodeType="withEffect">
                                  <p:stCondLst>
                                    <p:cond delay="0"/>
                                  </p:stCondLst>
                                  <p:childTnLst>
                                    <p:set>
                                      <p:cBhvr>
                                        <p:cTn id="162" dur="1" fill="hold">
                                          <p:stCondLst>
                                            <p:cond delay="0"/>
                                          </p:stCondLst>
                                        </p:cTn>
                                        <p:tgtEl>
                                          <p:spTgt spid="13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fill="hold" nodeType="clickEffect">
                                  <p:stCondLst>
                                    <p:cond delay="0"/>
                                  </p:stCondLst>
                                  <p:childTnLst>
                                    <p:set>
                                      <p:cBhvr>
                                        <p:cTn id="166" dur="1" fill="hold">
                                          <p:stCondLst>
                                            <p:cond delay="0"/>
                                          </p:stCondLst>
                                        </p:cTn>
                                        <p:tgtEl>
                                          <p:spTgt spid="134"/>
                                        </p:tgtEl>
                                        <p:attrNameLst>
                                          <p:attrName>style.visibility</p:attrName>
                                        </p:attrNameLst>
                                      </p:cBhvr>
                                      <p:to>
                                        <p:strVal val="visible"/>
                                      </p:to>
                                    </p:set>
                                  </p:childTnLst>
                                </p:cTn>
                              </p:par>
                              <p:par>
                                <p:cTn id="167" presetID="1" presetClass="entr" fill="hold" nodeType="withEffect">
                                  <p:stCondLst>
                                    <p:cond delay="0"/>
                                  </p:stCondLst>
                                  <p:childTnLst>
                                    <p:set>
                                      <p:cBhvr>
                                        <p:cTn id="168" dur="1" fill="hold">
                                          <p:stCondLst>
                                            <p:cond delay="0"/>
                                          </p:stCondLst>
                                        </p:cTn>
                                        <p:tgtEl>
                                          <p:spTgt spid="135"/>
                                        </p:tgtEl>
                                        <p:attrNameLst>
                                          <p:attrName>style.visibility</p:attrName>
                                        </p:attrNameLst>
                                      </p:cBhvr>
                                      <p:to>
                                        <p:strVal val="visible"/>
                                      </p:to>
                                    </p:set>
                                  </p:childTnLst>
                                </p:cTn>
                              </p:par>
                              <p:par>
                                <p:cTn id="169" presetID="1" presetClass="entr" fill="hold" nodeType="withEffect">
                                  <p:stCondLst>
                                    <p:cond delay="0"/>
                                  </p:stCondLst>
                                  <p:childTnLst>
                                    <p:set>
                                      <p:cBhvr>
                                        <p:cTn id="170" dur="1" fill="hold">
                                          <p:stCondLst>
                                            <p:cond delay="0"/>
                                          </p:stCondLst>
                                        </p:cTn>
                                        <p:tgtEl>
                                          <p:spTgt spid="136"/>
                                        </p:tgtEl>
                                        <p:attrNameLst>
                                          <p:attrName>style.visibility</p:attrName>
                                        </p:attrNameLst>
                                      </p:cBhvr>
                                      <p:to>
                                        <p:strVal val="visible"/>
                                      </p:to>
                                    </p:set>
                                  </p:childTnLst>
                                </p:cTn>
                              </p:par>
                              <p:par>
                                <p:cTn id="171" presetID="1" presetClass="entr" fill="hold" nodeType="withEffect">
                                  <p:stCondLst>
                                    <p:cond delay="0"/>
                                  </p:stCondLst>
                                  <p:childTnLst>
                                    <p:set>
                                      <p:cBhvr>
                                        <p:cTn id="172" dur="1" fill="hold">
                                          <p:stCondLst>
                                            <p:cond delay="0"/>
                                          </p:stCondLst>
                                        </p:cTn>
                                        <p:tgtEl>
                                          <p:spTgt spid="137"/>
                                        </p:tgtEl>
                                        <p:attrNameLst>
                                          <p:attrName>style.visibility</p:attrName>
                                        </p:attrNameLst>
                                      </p:cBhvr>
                                      <p:to>
                                        <p:strVal val="visible"/>
                                      </p:to>
                                    </p:set>
                                  </p:childTnLst>
                                </p:cTn>
                              </p:par>
                              <p:par>
                                <p:cTn id="173" presetID="1" presetClass="entr" fill="hold" nodeType="withEffect">
                                  <p:stCondLst>
                                    <p:cond delay="0"/>
                                  </p:stCondLst>
                                  <p:childTnLst>
                                    <p:set>
                                      <p:cBhvr>
                                        <p:cTn id="174" dur="1" fill="hold">
                                          <p:stCondLst>
                                            <p:cond delay="0"/>
                                          </p:stCondLst>
                                        </p:cTn>
                                        <p:tgtEl>
                                          <p:spTgt spid="138"/>
                                        </p:tgtEl>
                                        <p:attrNameLst>
                                          <p:attrName>style.visibility</p:attrName>
                                        </p:attrNameLst>
                                      </p:cBhvr>
                                      <p:to>
                                        <p:strVal val="visible"/>
                                      </p:to>
                                    </p:set>
                                  </p:childTnLst>
                                </p:cTn>
                              </p:par>
                              <p:par>
                                <p:cTn id="175" presetID="1" presetClass="entr" fill="hold" nodeType="withEffect">
                                  <p:stCondLst>
                                    <p:cond delay="0"/>
                                  </p:stCondLst>
                                  <p:childTnLst>
                                    <p:set>
                                      <p:cBhvr>
                                        <p:cTn id="176" dur="1" fill="hold">
                                          <p:stCondLst>
                                            <p:cond delay="0"/>
                                          </p:stCondLst>
                                        </p:cTn>
                                        <p:tgtEl>
                                          <p:spTgt spid="13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fill="hold" nodeType="clickEffect">
                                  <p:stCondLst>
                                    <p:cond delay="0"/>
                                  </p:stCondLst>
                                  <p:childTnLst>
                                    <p:set>
                                      <p:cBhvr>
                                        <p:cTn id="180" dur="1" fill="hold">
                                          <p:stCondLst>
                                            <p:cond delay="0"/>
                                          </p:stCondLst>
                                        </p:cTn>
                                        <p:tgtEl>
                                          <p:spTgt spid="140"/>
                                        </p:tgtEl>
                                        <p:attrNameLst>
                                          <p:attrName>style.visibility</p:attrName>
                                        </p:attrNameLst>
                                      </p:cBhvr>
                                      <p:to>
                                        <p:strVal val="visible"/>
                                      </p:to>
                                    </p:set>
                                  </p:childTnLst>
                                </p:cTn>
                              </p:par>
                              <p:par>
                                <p:cTn id="181" presetID="1" presetClass="entr" fill="hold" nodeType="withEffect">
                                  <p:stCondLst>
                                    <p:cond delay="0"/>
                                  </p:stCondLst>
                                  <p:childTnLst>
                                    <p:set>
                                      <p:cBhvr>
                                        <p:cTn id="182"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144" name="Text 34"/>
          <p:cNvSpPr/>
          <p:nvPr/>
        </p:nvSpPr>
        <p:spPr>
          <a:xfrm>
            <a:off x="457200" y="274320"/>
            <a:ext cx="8224200" cy="63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SOAP — four sections, one structured note</a:t>
            </a:r>
            <a:endParaRPr lang="de-DE" sz="2400" b="0" u="none" strike="noStrike">
              <a:solidFill>
                <a:srgbClr val="FFFFFF"/>
              </a:solidFill>
              <a:effectLst/>
              <a:uFillTx/>
              <a:latin typeface="Arial"/>
            </a:endParaRPr>
          </a:p>
        </p:txBody>
      </p:sp>
      <p:sp>
        <p:nvSpPr>
          <p:cNvPr id="145" name="Shape 17"/>
          <p:cNvSpPr/>
          <p:nvPr/>
        </p:nvSpPr>
        <p:spPr>
          <a:xfrm>
            <a:off x="388800" y="1460160"/>
            <a:ext cx="1914840" cy="2554920"/>
          </a:xfrm>
          <a:prstGeom prst="roundRect">
            <a:avLst>
              <a:gd name="adj" fmla="val 7143"/>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146" name="Text 35"/>
          <p:cNvSpPr/>
          <p:nvPr/>
        </p:nvSpPr>
        <p:spPr>
          <a:xfrm>
            <a:off x="388800" y="1643040"/>
            <a:ext cx="1914840" cy="1091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1" u="none" strike="noStrike">
                <a:solidFill>
                  <a:srgbClr val="FF5429"/>
                </a:solidFill>
                <a:effectLst/>
                <a:uFillTx/>
                <a:latin typeface="DejaVu Serif"/>
                <a:ea typeface="DejaVu Serif"/>
              </a:rPr>
              <a:t>S</a:t>
            </a:r>
            <a:endParaRPr lang="de-DE" sz="7200" b="0" u="none" strike="noStrike">
              <a:solidFill>
                <a:srgbClr val="FFFFFF"/>
              </a:solidFill>
              <a:effectLst/>
              <a:uFillTx/>
              <a:latin typeface="Arial"/>
            </a:endParaRPr>
          </a:p>
        </p:txBody>
      </p:sp>
      <p:sp>
        <p:nvSpPr>
          <p:cNvPr id="147" name="Text 36"/>
          <p:cNvSpPr/>
          <p:nvPr/>
        </p:nvSpPr>
        <p:spPr>
          <a:xfrm>
            <a:off x="388800" y="2831760"/>
            <a:ext cx="1914840" cy="360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E8E8E8"/>
                </a:solidFill>
                <a:effectLst/>
                <a:uFillTx/>
                <a:latin typeface="DejaVu Serif"/>
                <a:ea typeface="DejaVu Serif"/>
              </a:rPr>
              <a:t>Subjective</a:t>
            </a:r>
            <a:endParaRPr lang="de-DE" sz="1600" b="0" u="none" strike="noStrike">
              <a:solidFill>
                <a:srgbClr val="FFFFFF"/>
              </a:solidFill>
              <a:effectLst/>
              <a:uFillTx/>
              <a:latin typeface="Arial"/>
            </a:endParaRPr>
          </a:p>
        </p:txBody>
      </p:sp>
      <p:sp>
        <p:nvSpPr>
          <p:cNvPr id="148" name="Text 37"/>
          <p:cNvSpPr/>
          <p:nvPr/>
        </p:nvSpPr>
        <p:spPr>
          <a:xfrm>
            <a:off x="388800" y="3243240"/>
            <a:ext cx="1914840" cy="360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Patient's own words</a:t>
            </a:r>
            <a:endParaRPr lang="de-DE" sz="1300" b="0" u="none" strike="noStrike">
              <a:solidFill>
                <a:srgbClr val="FFFFFF"/>
              </a:solidFill>
              <a:effectLst/>
              <a:uFillTx/>
              <a:latin typeface="Arial"/>
            </a:endParaRPr>
          </a:p>
        </p:txBody>
      </p:sp>
      <p:sp>
        <p:nvSpPr>
          <p:cNvPr id="149" name="Shape 20"/>
          <p:cNvSpPr/>
          <p:nvPr/>
        </p:nvSpPr>
        <p:spPr>
          <a:xfrm>
            <a:off x="2537640" y="1460160"/>
            <a:ext cx="1914840" cy="2554920"/>
          </a:xfrm>
          <a:prstGeom prst="roundRect">
            <a:avLst>
              <a:gd name="adj" fmla="val 7143"/>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150" name="Text 38"/>
          <p:cNvSpPr/>
          <p:nvPr/>
        </p:nvSpPr>
        <p:spPr>
          <a:xfrm>
            <a:off x="2537640" y="1643040"/>
            <a:ext cx="1914840" cy="1091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1" u="none" strike="noStrike">
                <a:solidFill>
                  <a:srgbClr val="FF5429"/>
                </a:solidFill>
                <a:effectLst/>
                <a:uFillTx/>
                <a:latin typeface="DejaVu Serif"/>
                <a:ea typeface="DejaVu Serif"/>
              </a:rPr>
              <a:t>O</a:t>
            </a:r>
            <a:endParaRPr lang="de-DE" sz="7200" b="0" u="none" strike="noStrike">
              <a:solidFill>
                <a:srgbClr val="FFFFFF"/>
              </a:solidFill>
              <a:effectLst/>
              <a:uFillTx/>
              <a:latin typeface="Arial"/>
            </a:endParaRPr>
          </a:p>
        </p:txBody>
      </p:sp>
      <p:sp>
        <p:nvSpPr>
          <p:cNvPr id="151" name="Text 39"/>
          <p:cNvSpPr/>
          <p:nvPr/>
        </p:nvSpPr>
        <p:spPr>
          <a:xfrm>
            <a:off x="2537640" y="2831760"/>
            <a:ext cx="1914840" cy="360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E8E8E8"/>
                </a:solidFill>
                <a:effectLst/>
                <a:uFillTx/>
                <a:latin typeface="DejaVu Serif"/>
                <a:ea typeface="DejaVu Serif"/>
              </a:rPr>
              <a:t>Objective</a:t>
            </a:r>
            <a:endParaRPr lang="de-DE" sz="1600" b="0" u="none" strike="noStrike">
              <a:solidFill>
                <a:srgbClr val="FFFFFF"/>
              </a:solidFill>
              <a:effectLst/>
              <a:uFillTx/>
              <a:latin typeface="Arial"/>
            </a:endParaRPr>
          </a:p>
        </p:txBody>
      </p:sp>
      <p:sp>
        <p:nvSpPr>
          <p:cNvPr id="152" name="Text 40"/>
          <p:cNvSpPr/>
          <p:nvPr/>
        </p:nvSpPr>
        <p:spPr>
          <a:xfrm>
            <a:off x="2537640" y="3243240"/>
            <a:ext cx="1914840" cy="360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Clinical observations</a:t>
            </a:r>
            <a:endParaRPr lang="de-DE" sz="1300" b="0" u="none" strike="noStrike">
              <a:solidFill>
                <a:srgbClr val="FFFFFF"/>
              </a:solidFill>
              <a:effectLst/>
              <a:uFillTx/>
              <a:latin typeface="Arial"/>
            </a:endParaRPr>
          </a:p>
        </p:txBody>
      </p:sp>
      <p:sp>
        <p:nvSpPr>
          <p:cNvPr id="153" name="Shape 22"/>
          <p:cNvSpPr/>
          <p:nvPr/>
        </p:nvSpPr>
        <p:spPr>
          <a:xfrm>
            <a:off x="4686480" y="1460160"/>
            <a:ext cx="1914840" cy="2554920"/>
          </a:xfrm>
          <a:prstGeom prst="roundRect">
            <a:avLst>
              <a:gd name="adj" fmla="val 7143"/>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154" name="Text 41"/>
          <p:cNvSpPr/>
          <p:nvPr/>
        </p:nvSpPr>
        <p:spPr>
          <a:xfrm>
            <a:off x="4686480" y="1643040"/>
            <a:ext cx="1914840" cy="1091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1" u="none" strike="noStrike">
                <a:solidFill>
                  <a:srgbClr val="FF5429"/>
                </a:solidFill>
                <a:effectLst/>
                <a:uFillTx/>
                <a:latin typeface="DejaVu Serif"/>
                <a:ea typeface="DejaVu Serif"/>
              </a:rPr>
              <a:t>A</a:t>
            </a:r>
            <a:endParaRPr lang="de-DE" sz="7200" b="0" u="none" strike="noStrike">
              <a:solidFill>
                <a:srgbClr val="FFFFFF"/>
              </a:solidFill>
              <a:effectLst/>
              <a:uFillTx/>
              <a:latin typeface="Arial"/>
            </a:endParaRPr>
          </a:p>
        </p:txBody>
      </p:sp>
      <p:sp>
        <p:nvSpPr>
          <p:cNvPr id="155" name="Text 42"/>
          <p:cNvSpPr/>
          <p:nvPr/>
        </p:nvSpPr>
        <p:spPr>
          <a:xfrm>
            <a:off x="4686480" y="2831760"/>
            <a:ext cx="1914840" cy="360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E8E8E8"/>
                </a:solidFill>
                <a:effectLst/>
                <a:uFillTx/>
                <a:latin typeface="DejaVu Serif"/>
                <a:ea typeface="DejaVu Serif"/>
              </a:rPr>
              <a:t>Assessment</a:t>
            </a:r>
            <a:endParaRPr lang="de-DE" sz="1600" b="0" u="none" strike="noStrike">
              <a:solidFill>
                <a:srgbClr val="FFFFFF"/>
              </a:solidFill>
              <a:effectLst/>
              <a:uFillTx/>
              <a:latin typeface="Arial"/>
            </a:endParaRPr>
          </a:p>
        </p:txBody>
      </p:sp>
      <p:sp>
        <p:nvSpPr>
          <p:cNvPr id="156" name="Text 43"/>
          <p:cNvSpPr/>
          <p:nvPr/>
        </p:nvSpPr>
        <p:spPr>
          <a:xfrm>
            <a:off x="4686480" y="3243240"/>
            <a:ext cx="1914840" cy="360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Diagnosis</a:t>
            </a:r>
            <a:endParaRPr lang="de-DE" sz="1300" b="0" u="none" strike="noStrike">
              <a:solidFill>
                <a:srgbClr val="FFFFFF"/>
              </a:solidFill>
              <a:effectLst/>
              <a:uFillTx/>
              <a:latin typeface="Arial"/>
            </a:endParaRPr>
          </a:p>
        </p:txBody>
      </p:sp>
      <p:sp>
        <p:nvSpPr>
          <p:cNvPr id="157" name="Shape 24"/>
          <p:cNvSpPr/>
          <p:nvPr/>
        </p:nvSpPr>
        <p:spPr>
          <a:xfrm>
            <a:off x="6835320" y="1460160"/>
            <a:ext cx="1914840" cy="2554920"/>
          </a:xfrm>
          <a:prstGeom prst="roundRect">
            <a:avLst>
              <a:gd name="adj" fmla="val 7143"/>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158" name="Text 44"/>
          <p:cNvSpPr/>
          <p:nvPr/>
        </p:nvSpPr>
        <p:spPr>
          <a:xfrm>
            <a:off x="6835320" y="1643040"/>
            <a:ext cx="1914840" cy="1091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1" u="none" strike="noStrike">
                <a:solidFill>
                  <a:srgbClr val="FF5429"/>
                </a:solidFill>
                <a:effectLst/>
                <a:uFillTx/>
                <a:latin typeface="DejaVu Serif"/>
                <a:ea typeface="DejaVu Serif"/>
              </a:rPr>
              <a:t>P</a:t>
            </a:r>
            <a:endParaRPr lang="de-DE" sz="7200" b="0" u="none" strike="noStrike">
              <a:solidFill>
                <a:srgbClr val="FFFFFF"/>
              </a:solidFill>
              <a:effectLst/>
              <a:uFillTx/>
              <a:latin typeface="Arial"/>
            </a:endParaRPr>
          </a:p>
        </p:txBody>
      </p:sp>
      <p:sp>
        <p:nvSpPr>
          <p:cNvPr id="159" name="Text 45"/>
          <p:cNvSpPr/>
          <p:nvPr/>
        </p:nvSpPr>
        <p:spPr>
          <a:xfrm>
            <a:off x="6835320" y="2831760"/>
            <a:ext cx="1914840" cy="360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E8E8E8"/>
                </a:solidFill>
                <a:effectLst/>
                <a:uFillTx/>
                <a:latin typeface="DejaVu Serif"/>
                <a:ea typeface="DejaVu Serif"/>
              </a:rPr>
              <a:t>Plan</a:t>
            </a:r>
            <a:endParaRPr lang="de-DE" sz="1600" b="0" u="none" strike="noStrike">
              <a:solidFill>
                <a:srgbClr val="FFFFFF"/>
              </a:solidFill>
              <a:effectLst/>
              <a:uFillTx/>
              <a:latin typeface="Arial"/>
            </a:endParaRPr>
          </a:p>
        </p:txBody>
      </p:sp>
      <p:sp>
        <p:nvSpPr>
          <p:cNvPr id="160" name="Text 46"/>
          <p:cNvSpPr/>
          <p:nvPr/>
        </p:nvSpPr>
        <p:spPr>
          <a:xfrm>
            <a:off x="6835320" y="3243240"/>
            <a:ext cx="1914840" cy="360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FFFFFF"/>
                </a:solidFill>
                <a:effectLst/>
                <a:uFillTx/>
                <a:latin typeface="DejaVu Serif"/>
                <a:ea typeface="DejaVu Serif"/>
              </a:rPr>
              <a:t>Next steps</a:t>
            </a:r>
            <a:endParaRPr lang="de-DE" sz="1300" b="0" u="none" strike="noStrike">
              <a:solidFill>
                <a:srgbClr val="FFFFFF"/>
              </a:solidFill>
              <a:effectLst/>
              <a:uFillTx/>
              <a:latin typeface="Arial"/>
            </a:endParaRPr>
          </a:p>
        </p:txBody>
      </p:sp>
      <p:sp>
        <p:nvSpPr>
          <p:cNvPr id="161" name="Text 48"/>
          <p:cNvSpPr/>
          <p:nvPr/>
        </p:nvSpPr>
        <p:spPr>
          <a:xfrm>
            <a:off x="365760" y="4864680"/>
            <a:ext cx="6852600" cy="223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162" name="Text 49"/>
          <p:cNvSpPr/>
          <p:nvPr/>
        </p:nvSpPr>
        <p:spPr>
          <a:xfrm>
            <a:off x="7772400" y="4864680"/>
            <a:ext cx="1000440" cy="2232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13 / 20</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83" dur="indefinite" restart="never" nodeType="tmRoot">
          <p:childTnLst>
            <p:seq>
              <p:cTn id="184" dur="indefinite" nodeType="mainSeq">
                <p:childTnLst>
                  <p:par>
                    <p:cTn id="185" fill="hold">
                      <p:stCondLst>
                        <p:cond delay="indefinite"/>
                      </p:stCondLst>
                      <p:childTnLst>
                        <p:par>
                          <p:cTn id="186" fill="hold">
                            <p:stCondLst>
                              <p:cond delay="0"/>
                            </p:stCondLst>
                            <p:childTnLst>
                              <p:par>
                                <p:cTn id="187" presetID="1" presetClass="entr" fill="hold" nodeType="clickEffect">
                                  <p:stCondLst>
                                    <p:cond delay="0"/>
                                  </p:stCondLst>
                                  <p:childTnLst>
                                    <p:set>
                                      <p:cBhvr>
                                        <p:cTn id="188" dur="1" fill="hold">
                                          <p:stCondLst>
                                            <p:cond delay="0"/>
                                          </p:stCondLst>
                                        </p:cTn>
                                        <p:tgtEl>
                                          <p:spTgt spid="145"/>
                                        </p:tgtEl>
                                        <p:attrNameLst>
                                          <p:attrName>style.visibility</p:attrName>
                                        </p:attrNameLst>
                                      </p:cBhvr>
                                      <p:to>
                                        <p:strVal val="visible"/>
                                      </p:to>
                                    </p:set>
                                  </p:childTnLst>
                                </p:cTn>
                              </p:par>
                              <p:par>
                                <p:cTn id="189" presetID="1" presetClass="entr" fill="hold" nodeType="withEffect">
                                  <p:stCondLst>
                                    <p:cond delay="0"/>
                                  </p:stCondLst>
                                  <p:childTnLst>
                                    <p:set>
                                      <p:cBhvr>
                                        <p:cTn id="190" dur="1" fill="hold">
                                          <p:stCondLst>
                                            <p:cond delay="0"/>
                                          </p:stCondLst>
                                        </p:cTn>
                                        <p:tgtEl>
                                          <p:spTgt spid="146"/>
                                        </p:tgtEl>
                                        <p:attrNameLst>
                                          <p:attrName>style.visibility</p:attrName>
                                        </p:attrNameLst>
                                      </p:cBhvr>
                                      <p:to>
                                        <p:strVal val="visible"/>
                                      </p:to>
                                    </p:set>
                                  </p:childTnLst>
                                </p:cTn>
                              </p:par>
                              <p:par>
                                <p:cTn id="191" presetID="1" presetClass="entr" fill="hold" nodeType="withEffect">
                                  <p:stCondLst>
                                    <p:cond delay="0"/>
                                  </p:stCondLst>
                                  <p:childTnLst>
                                    <p:set>
                                      <p:cBhvr>
                                        <p:cTn id="192" dur="1" fill="hold">
                                          <p:stCondLst>
                                            <p:cond delay="0"/>
                                          </p:stCondLst>
                                        </p:cTn>
                                        <p:tgtEl>
                                          <p:spTgt spid="147"/>
                                        </p:tgtEl>
                                        <p:attrNameLst>
                                          <p:attrName>style.visibility</p:attrName>
                                        </p:attrNameLst>
                                      </p:cBhvr>
                                      <p:to>
                                        <p:strVal val="visible"/>
                                      </p:to>
                                    </p:set>
                                  </p:childTnLst>
                                </p:cTn>
                              </p:par>
                              <p:par>
                                <p:cTn id="193" presetID="1" presetClass="entr" fill="hold" nodeType="withEffect">
                                  <p:stCondLst>
                                    <p:cond delay="0"/>
                                  </p:stCondLst>
                                  <p:childTnLst>
                                    <p:set>
                                      <p:cBhvr>
                                        <p:cTn id="194" dur="1" fill="hold">
                                          <p:stCondLst>
                                            <p:cond delay="0"/>
                                          </p:stCondLst>
                                        </p:cTn>
                                        <p:tgtEl>
                                          <p:spTgt spid="148"/>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fill="hold" nodeType="clickEffect">
                                  <p:stCondLst>
                                    <p:cond delay="0"/>
                                  </p:stCondLst>
                                  <p:childTnLst>
                                    <p:set>
                                      <p:cBhvr>
                                        <p:cTn id="198" dur="1" fill="hold">
                                          <p:stCondLst>
                                            <p:cond delay="0"/>
                                          </p:stCondLst>
                                        </p:cTn>
                                        <p:tgtEl>
                                          <p:spTgt spid="149"/>
                                        </p:tgtEl>
                                        <p:attrNameLst>
                                          <p:attrName>style.visibility</p:attrName>
                                        </p:attrNameLst>
                                      </p:cBhvr>
                                      <p:to>
                                        <p:strVal val="visible"/>
                                      </p:to>
                                    </p:set>
                                  </p:childTnLst>
                                </p:cTn>
                              </p:par>
                              <p:par>
                                <p:cTn id="199" presetID="1" presetClass="entr" fill="hold" nodeType="withEffect">
                                  <p:stCondLst>
                                    <p:cond delay="0"/>
                                  </p:stCondLst>
                                  <p:childTnLst>
                                    <p:set>
                                      <p:cBhvr>
                                        <p:cTn id="200" dur="1" fill="hold">
                                          <p:stCondLst>
                                            <p:cond delay="0"/>
                                          </p:stCondLst>
                                        </p:cTn>
                                        <p:tgtEl>
                                          <p:spTgt spid="150"/>
                                        </p:tgtEl>
                                        <p:attrNameLst>
                                          <p:attrName>style.visibility</p:attrName>
                                        </p:attrNameLst>
                                      </p:cBhvr>
                                      <p:to>
                                        <p:strVal val="visible"/>
                                      </p:to>
                                    </p:set>
                                  </p:childTnLst>
                                </p:cTn>
                              </p:par>
                              <p:par>
                                <p:cTn id="201" presetID="1" presetClass="entr" fill="hold" nodeType="withEffect">
                                  <p:stCondLst>
                                    <p:cond delay="0"/>
                                  </p:stCondLst>
                                  <p:childTnLst>
                                    <p:set>
                                      <p:cBhvr>
                                        <p:cTn id="202" dur="1" fill="hold">
                                          <p:stCondLst>
                                            <p:cond delay="0"/>
                                          </p:stCondLst>
                                        </p:cTn>
                                        <p:tgtEl>
                                          <p:spTgt spid="151"/>
                                        </p:tgtEl>
                                        <p:attrNameLst>
                                          <p:attrName>style.visibility</p:attrName>
                                        </p:attrNameLst>
                                      </p:cBhvr>
                                      <p:to>
                                        <p:strVal val="visible"/>
                                      </p:to>
                                    </p:set>
                                  </p:childTnLst>
                                </p:cTn>
                              </p:par>
                              <p:par>
                                <p:cTn id="203" presetID="1" presetClass="entr" fill="hold" nodeType="withEffect">
                                  <p:stCondLst>
                                    <p:cond delay="0"/>
                                  </p:stCondLst>
                                  <p:childTnLst>
                                    <p:set>
                                      <p:cBhvr>
                                        <p:cTn id="204" dur="1" fill="hold">
                                          <p:stCondLst>
                                            <p:cond delay="0"/>
                                          </p:stCondLst>
                                        </p:cTn>
                                        <p:tgtEl>
                                          <p:spTgt spid="152"/>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1" presetClass="entr" fill="hold" nodeType="clickEffect">
                                  <p:stCondLst>
                                    <p:cond delay="0"/>
                                  </p:stCondLst>
                                  <p:childTnLst>
                                    <p:set>
                                      <p:cBhvr>
                                        <p:cTn id="208" dur="1" fill="hold">
                                          <p:stCondLst>
                                            <p:cond delay="0"/>
                                          </p:stCondLst>
                                        </p:cTn>
                                        <p:tgtEl>
                                          <p:spTgt spid="153"/>
                                        </p:tgtEl>
                                        <p:attrNameLst>
                                          <p:attrName>style.visibility</p:attrName>
                                        </p:attrNameLst>
                                      </p:cBhvr>
                                      <p:to>
                                        <p:strVal val="visible"/>
                                      </p:to>
                                    </p:set>
                                  </p:childTnLst>
                                </p:cTn>
                              </p:par>
                              <p:par>
                                <p:cTn id="209" presetID="1" presetClass="entr" fill="hold" nodeType="withEffect">
                                  <p:stCondLst>
                                    <p:cond delay="0"/>
                                  </p:stCondLst>
                                  <p:childTnLst>
                                    <p:set>
                                      <p:cBhvr>
                                        <p:cTn id="210" dur="1" fill="hold">
                                          <p:stCondLst>
                                            <p:cond delay="0"/>
                                          </p:stCondLst>
                                        </p:cTn>
                                        <p:tgtEl>
                                          <p:spTgt spid="154"/>
                                        </p:tgtEl>
                                        <p:attrNameLst>
                                          <p:attrName>style.visibility</p:attrName>
                                        </p:attrNameLst>
                                      </p:cBhvr>
                                      <p:to>
                                        <p:strVal val="visible"/>
                                      </p:to>
                                    </p:set>
                                  </p:childTnLst>
                                </p:cTn>
                              </p:par>
                              <p:par>
                                <p:cTn id="211" presetID="1" presetClass="entr" fill="hold" nodeType="withEffect">
                                  <p:stCondLst>
                                    <p:cond delay="0"/>
                                  </p:stCondLst>
                                  <p:childTnLst>
                                    <p:set>
                                      <p:cBhvr>
                                        <p:cTn id="212" dur="1" fill="hold">
                                          <p:stCondLst>
                                            <p:cond delay="0"/>
                                          </p:stCondLst>
                                        </p:cTn>
                                        <p:tgtEl>
                                          <p:spTgt spid="155"/>
                                        </p:tgtEl>
                                        <p:attrNameLst>
                                          <p:attrName>style.visibility</p:attrName>
                                        </p:attrNameLst>
                                      </p:cBhvr>
                                      <p:to>
                                        <p:strVal val="visible"/>
                                      </p:to>
                                    </p:set>
                                  </p:childTnLst>
                                </p:cTn>
                              </p:par>
                              <p:par>
                                <p:cTn id="213" presetID="1" presetClass="entr" fill="hold" nodeType="withEffect">
                                  <p:stCondLst>
                                    <p:cond delay="0"/>
                                  </p:stCondLst>
                                  <p:childTnLst>
                                    <p:set>
                                      <p:cBhvr>
                                        <p:cTn id="214" dur="1" fill="hold">
                                          <p:stCondLst>
                                            <p:cond delay="0"/>
                                          </p:stCondLst>
                                        </p:cTn>
                                        <p:tgtEl>
                                          <p:spTgt spid="156"/>
                                        </p:tgtEl>
                                        <p:attrNameLst>
                                          <p:attrName>style.visibility</p:attrName>
                                        </p:attrNameLst>
                                      </p:cBhvr>
                                      <p:to>
                                        <p:strVal val="visible"/>
                                      </p:to>
                                    </p:set>
                                  </p:childTnLst>
                                </p:cTn>
                              </p:par>
                            </p:childTnLst>
                          </p:cTn>
                        </p:par>
                      </p:childTnLst>
                    </p:cTn>
                  </p:par>
                  <p:par>
                    <p:cTn id="215" fill="hold">
                      <p:stCondLst>
                        <p:cond delay="indefinite"/>
                      </p:stCondLst>
                      <p:childTnLst>
                        <p:par>
                          <p:cTn id="216" fill="hold">
                            <p:stCondLst>
                              <p:cond delay="0"/>
                            </p:stCondLst>
                            <p:childTnLst>
                              <p:par>
                                <p:cTn id="217" presetID="1" presetClass="entr" fill="hold" nodeType="clickEffect">
                                  <p:stCondLst>
                                    <p:cond delay="0"/>
                                  </p:stCondLst>
                                  <p:childTnLst>
                                    <p:set>
                                      <p:cBhvr>
                                        <p:cTn id="218" dur="1" fill="hold">
                                          <p:stCondLst>
                                            <p:cond delay="0"/>
                                          </p:stCondLst>
                                        </p:cTn>
                                        <p:tgtEl>
                                          <p:spTgt spid="157"/>
                                        </p:tgtEl>
                                        <p:attrNameLst>
                                          <p:attrName>style.visibility</p:attrName>
                                        </p:attrNameLst>
                                      </p:cBhvr>
                                      <p:to>
                                        <p:strVal val="visible"/>
                                      </p:to>
                                    </p:set>
                                  </p:childTnLst>
                                </p:cTn>
                              </p:par>
                              <p:par>
                                <p:cTn id="219" presetID="1" presetClass="entr" fill="hold" nodeType="withEffect">
                                  <p:stCondLst>
                                    <p:cond delay="0"/>
                                  </p:stCondLst>
                                  <p:childTnLst>
                                    <p:set>
                                      <p:cBhvr>
                                        <p:cTn id="220" dur="1" fill="hold">
                                          <p:stCondLst>
                                            <p:cond delay="0"/>
                                          </p:stCondLst>
                                        </p:cTn>
                                        <p:tgtEl>
                                          <p:spTgt spid="158"/>
                                        </p:tgtEl>
                                        <p:attrNameLst>
                                          <p:attrName>style.visibility</p:attrName>
                                        </p:attrNameLst>
                                      </p:cBhvr>
                                      <p:to>
                                        <p:strVal val="visible"/>
                                      </p:to>
                                    </p:set>
                                  </p:childTnLst>
                                </p:cTn>
                              </p:par>
                              <p:par>
                                <p:cTn id="221" presetID="1" presetClass="entr" fill="hold" nodeType="withEffect">
                                  <p:stCondLst>
                                    <p:cond delay="0"/>
                                  </p:stCondLst>
                                  <p:childTnLst>
                                    <p:set>
                                      <p:cBhvr>
                                        <p:cTn id="222" dur="1" fill="hold">
                                          <p:stCondLst>
                                            <p:cond delay="0"/>
                                          </p:stCondLst>
                                        </p:cTn>
                                        <p:tgtEl>
                                          <p:spTgt spid="159"/>
                                        </p:tgtEl>
                                        <p:attrNameLst>
                                          <p:attrName>style.visibility</p:attrName>
                                        </p:attrNameLst>
                                      </p:cBhvr>
                                      <p:to>
                                        <p:strVal val="visible"/>
                                      </p:to>
                                    </p:set>
                                  </p:childTnLst>
                                </p:cTn>
                              </p:par>
                              <p:par>
                                <p:cTn id="223" presetID="1" presetClass="entr" fill="hold" nodeType="withEffect">
                                  <p:stCondLst>
                                    <p:cond delay="0"/>
                                  </p:stCondLst>
                                  <p:childTnLst>
                                    <p:set>
                                      <p:cBhvr>
                                        <p:cTn id="224"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163" name="Shape 0"/>
          <p:cNvSpPr/>
          <p:nvPr/>
        </p:nvSpPr>
        <p:spPr>
          <a:xfrm>
            <a:off x="6949440" y="457200"/>
            <a:ext cx="2371320" cy="313920"/>
          </a:xfrm>
          <a:prstGeom prst="parallelogram">
            <a:avLst>
              <a:gd name="adj" fmla="val 25000"/>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164" name="Text 1"/>
          <p:cNvSpPr/>
          <p:nvPr/>
        </p:nvSpPr>
        <p:spPr>
          <a:xfrm>
            <a:off x="457200" y="1188720"/>
            <a:ext cx="8223480" cy="99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5600" b="0" u="none" strike="noStrike">
                <a:solidFill>
                  <a:srgbClr val="FFFFFF"/>
                </a:solidFill>
                <a:effectLst/>
                <a:uFillTx/>
                <a:latin typeface="DejaVu Serif"/>
                <a:ea typeface="DejaVu Serif"/>
              </a:rPr>
              <a:t>Let's run it live</a:t>
            </a:r>
            <a:endParaRPr lang="de-DE" sz="5600" b="0" u="none" strike="noStrike">
              <a:solidFill>
                <a:srgbClr val="FFFFFF"/>
              </a:solidFill>
              <a:effectLst/>
              <a:uFillTx/>
              <a:latin typeface="Arial"/>
            </a:endParaRPr>
          </a:p>
        </p:txBody>
      </p:sp>
      <p:sp>
        <p:nvSpPr>
          <p:cNvPr id="165" name="Shape 2"/>
          <p:cNvSpPr/>
          <p:nvPr/>
        </p:nvSpPr>
        <p:spPr>
          <a:xfrm>
            <a:off x="4023360" y="2468880"/>
            <a:ext cx="1091160" cy="1091160"/>
          </a:xfrm>
          <a:prstGeom prst="ellipse">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166" name="Shape 3"/>
          <p:cNvSpPr/>
          <p:nvPr/>
        </p:nvSpPr>
        <p:spPr>
          <a:xfrm rot="5400000">
            <a:off x="4342320" y="2715480"/>
            <a:ext cx="588240" cy="598320"/>
          </a:xfrm>
          <a:prstGeom prst="triangle">
            <a:avLst>
              <a:gd name="adj" fmla="val 50000"/>
            </a:avLst>
          </a:prstGeom>
          <a:solidFill>
            <a:srgbClr val="FFFFFF"/>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167" name="Text 4"/>
          <p:cNvSpPr/>
          <p:nvPr/>
        </p:nvSpPr>
        <p:spPr>
          <a:xfrm>
            <a:off x="457200" y="3931920"/>
            <a:ext cx="822348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5429"/>
                </a:solidFill>
                <a:effectLst/>
                <a:uFillTx/>
                <a:latin typeface="DejaVu Serif"/>
                <a:ea typeface="DejaVu Serif"/>
              </a:rPr>
              <a:t>Scenario:</a:t>
            </a:r>
            <a:r>
              <a:rPr lang="en-US" sz="1600" b="1" u="none" strike="noStrike">
                <a:solidFill>
                  <a:srgbClr val="D04A02"/>
                </a:solidFill>
                <a:effectLst/>
                <a:uFillTx/>
                <a:latin typeface="DejaVu Serif"/>
                <a:ea typeface="DejaVu Serif"/>
              </a:rPr>
              <a:t> </a:t>
            </a:r>
            <a:r>
              <a:rPr lang="en-US" sz="1600" b="0" u="none" strike="noStrike">
                <a:solidFill>
                  <a:srgbClr val="FFFFFF"/>
                </a:solidFill>
                <a:effectLst/>
                <a:uFillTx/>
                <a:latin typeface="DejaVu Serif"/>
                <a:ea typeface="DejaVu Serif"/>
              </a:rPr>
              <a:t>Mind-change     </a:t>
            </a:r>
            <a:r>
              <a:rPr lang="en-US" sz="1600" b="1" u="none" strike="noStrike">
                <a:solidFill>
                  <a:srgbClr val="FF5429"/>
                </a:solidFill>
                <a:effectLst/>
                <a:uFillTx/>
                <a:latin typeface="DejaVu Serif"/>
                <a:ea typeface="DejaVu Serif"/>
              </a:rPr>
              <a:t>Pipeline:</a:t>
            </a:r>
            <a:r>
              <a:rPr lang="en-US" sz="1600" b="1" u="none" strike="noStrike">
                <a:solidFill>
                  <a:srgbClr val="D04A02"/>
                </a:solidFill>
                <a:effectLst/>
                <a:uFillTx/>
                <a:latin typeface="DejaVu Serif"/>
                <a:ea typeface="DejaVu Serif"/>
              </a:rPr>
              <a:t> </a:t>
            </a:r>
            <a:r>
              <a:rPr lang="en-US" sz="1600" b="0" u="none" strike="noStrike">
                <a:solidFill>
                  <a:srgbClr val="FFFFFF"/>
                </a:solidFill>
                <a:effectLst/>
                <a:uFillTx/>
                <a:latin typeface="DejaVu Serif"/>
                <a:ea typeface="DejaVu Serif"/>
              </a:rPr>
              <a:t>AssemblyAI + GPT-4o</a:t>
            </a:r>
            <a:endParaRPr lang="de-DE" sz="1600" b="0" u="none" strike="noStrike">
              <a:solidFill>
                <a:srgbClr val="FFFFFF"/>
              </a:solidFill>
              <a:effectLst/>
              <a:uFillTx/>
              <a:latin typeface="Arial"/>
            </a:endParaRPr>
          </a:p>
        </p:txBody>
      </p:sp>
      <p:sp>
        <p:nvSpPr>
          <p:cNvPr id="168" name="Text 5"/>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169" name="Text 6"/>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9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170"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Cloud beats local — noise beats everyone</a:t>
            </a:r>
            <a:endParaRPr lang="de-DE" sz="2400" b="0" u="none" strike="noStrike">
              <a:solidFill>
                <a:srgbClr val="FFFFFF"/>
              </a:solidFill>
              <a:effectLst/>
              <a:uFillTx/>
              <a:latin typeface="Arial"/>
            </a:endParaRPr>
          </a:p>
        </p:txBody>
      </p:sp>
      <p:sp>
        <p:nvSpPr>
          <p:cNvPr id="171" name="Shape 1"/>
          <p:cNvSpPr/>
          <p:nvPr/>
        </p:nvSpPr>
        <p:spPr>
          <a:xfrm>
            <a:off x="5852160" y="1097280"/>
            <a:ext cx="2919960" cy="3011400"/>
          </a:xfrm>
          <a:prstGeom prst="roundRect">
            <a:avLst>
              <a:gd name="adj" fmla="val 4688"/>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172" name="Text 2"/>
          <p:cNvSpPr/>
          <p:nvPr/>
        </p:nvSpPr>
        <p:spPr>
          <a:xfrm>
            <a:off x="5989320" y="1188720"/>
            <a:ext cx="2645640" cy="268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FFFF"/>
                </a:solidFill>
                <a:effectLst/>
                <a:uFillTx/>
                <a:latin typeface="DejaVu Serif"/>
                <a:ea typeface="DejaVu Serif"/>
              </a:rPr>
              <a:t>Outlier scenario:</a:t>
            </a:r>
            <a:endParaRPr lang="de-DE" sz="1300" b="0" u="none" strike="noStrike">
              <a:solidFill>
                <a:srgbClr val="FFFFFF"/>
              </a:solidFill>
              <a:effectLst/>
              <a:uFillTx/>
              <a:latin typeface="Arial"/>
            </a:endParaRPr>
          </a:p>
        </p:txBody>
      </p:sp>
      <p:sp>
        <p:nvSpPr>
          <p:cNvPr id="173" name="Text 3"/>
          <p:cNvSpPr/>
          <p:nvPr/>
        </p:nvSpPr>
        <p:spPr>
          <a:xfrm>
            <a:off x="5989320" y="1463040"/>
            <a:ext cx="2645640" cy="359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5429"/>
                </a:solidFill>
                <a:effectLst/>
                <a:uFillTx/>
                <a:latin typeface="DejaVu Serif"/>
                <a:ea typeface="DejaVu Serif"/>
              </a:rPr>
              <a:t>White Noise</a:t>
            </a:r>
            <a:endParaRPr lang="de-DE" sz="1600" b="0" u="none" strike="noStrike">
              <a:solidFill>
                <a:srgbClr val="FFFFFF"/>
              </a:solidFill>
              <a:effectLst/>
              <a:uFillTx/>
              <a:latin typeface="Arial"/>
            </a:endParaRPr>
          </a:p>
        </p:txBody>
      </p:sp>
      <p:sp>
        <p:nvSpPr>
          <p:cNvPr id="174" name="Text 4"/>
          <p:cNvSpPr/>
          <p:nvPr/>
        </p:nvSpPr>
        <p:spPr>
          <a:xfrm>
            <a:off x="5989320" y="2011680"/>
            <a:ext cx="2645640" cy="10911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Aft>
                <a:spcPts val="400"/>
              </a:spcAft>
              <a:tabLst>
                <a:tab pos="0" algn="l"/>
              </a:tabLst>
            </a:pPr>
            <a:r>
              <a:rPr lang="en-US" sz="1300" b="1" u="none" strike="noStrike">
                <a:solidFill>
                  <a:srgbClr val="E8E8E8"/>
                </a:solidFill>
                <a:effectLst/>
                <a:uFillTx/>
                <a:latin typeface="DejaVu Serif"/>
                <a:ea typeface="DejaVu Serif"/>
              </a:rPr>
              <a:t>Assembly: </a:t>
            </a:r>
            <a:r>
              <a:rPr lang="en-US" sz="1300" b="1" u="none" strike="noStrike">
                <a:solidFill>
                  <a:srgbClr val="FF5429"/>
                </a:solidFill>
                <a:effectLst/>
                <a:uFillTx/>
                <a:latin typeface="DejaVu Serif"/>
                <a:ea typeface="DejaVu Serif"/>
              </a:rPr>
              <a:t>33.2 %</a:t>
            </a:r>
            <a:endParaRPr lang="de-DE" sz="1300" b="0" u="none" strike="noStrike">
              <a:solidFill>
                <a:srgbClr val="FFFFFF"/>
              </a:solidFill>
              <a:effectLst/>
              <a:uFillTx/>
              <a:latin typeface="Arial"/>
            </a:endParaRPr>
          </a:p>
          <a:p>
            <a:pPr defTabSz="914400">
              <a:lnSpc>
                <a:spcPct val="100000"/>
              </a:lnSpc>
              <a:spcAft>
                <a:spcPts val="400"/>
              </a:spcAft>
              <a:tabLst>
                <a:tab pos="0" algn="l"/>
              </a:tabLst>
            </a:pPr>
            <a:r>
              <a:rPr lang="en-US" sz="1300" b="1" u="none" strike="noStrike">
                <a:solidFill>
                  <a:srgbClr val="E8E8E8"/>
                </a:solidFill>
                <a:effectLst/>
                <a:uFillTx/>
                <a:latin typeface="DejaVu Serif"/>
                <a:ea typeface="DejaVu Serif"/>
              </a:rPr>
              <a:t>Speechmatics: </a:t>
            </a:r>
            <a:r>
              <a:rPr lang="en-US" sz="1300" b="1" u="none" strike="noStrike">
                <a:solidFill>
                  <a:srgbClr val="FF5429"/>
                </a:solidFill>
                <a:effectLst/>
                <a:uFillTx/>
                <a:latin typeface="DejaVu Serif"/>
                <a:ea typeface="DejaVu Serif"/>
              </a:rPr>
              <a:t>30.6 %</a:t>
            </a:r>
            <a:endParaRPr lang="de-DE" sz="1300" b="0" u="none" strike="noStrike">
              <a:solidFill>
                <a:srgbClr val="FFFFFF"/>
              </a:solidFill>
              <a:effectLst/>
              <a:uFillTx/>
              <a:latin typeface="Arial"/>
            </a:endParaRPr>
          </a:p>
          <a:p>
            <a:pPr defTabSz="914400">
              <a:lnSpc>
                <a:spcPct val="100000"/>
              </a:lnSpc>
              <a:spcAft>
                <a:spcPts val="400"/>
              </a:spcAft>
              <a:tabLst>
                <a:tab pos="0" algn="l"/>
              </a:tabLst>
            </a:pPr>
            <a:r>
              <a:rPr lang="en-US" sz="1300" b="1" u="none" strike="noStrike">
                <a:solidFill>
                  <a:srgbClr val="E8E8E8"/>
                </a:solidFill>
                <a:effectLst/>
                <a:uFillTx/>
                <a:latin typeface="DejaVu Serif"/>
                <a:ea typeface="DejaVu Serif"/>
              </a:rPr>
              <a:t>Whisper-local: </a:t>
            </a:r>
            <a:r>
              <a:rPr lang="en-US" sz="1300" b="1" u="none" strike="noStrike">
                <a:solidFill>
                  <a:srgbClr val="FF5429"/>
                </a:solidFill>
                <a:effectLst/>
                <a:uFillTx/>
                <a:latin typeface="DejaVu Serif"/>
                <a:ea typeface="DejaVu Serif"/>
              </a:rPr>
              <a:t>41.0 %</a:t>
            </a:r>
            <a:endParaRPr lang="de-DE" sz="1300" b="0" u="none" strike="noStrike">
              <a:solidFill>
                <a:srgbClr val="FFFFFF"/>
              </a:solidFill>
              <a:effectLst/>
              <a:uFillTx/>
              <a:latin typeface="Arial"/>
            </a:endParaRPr>
          </a:p>
        </p:txBody>
      </p:sp>
      <p:sp>
        <p:nvSpPr>
          <p:cNvPr id="175" name="Shape 5"/>
          <p:cNvSpPr/>
          <p:nvPr/>
        </p:nvSpPr>
        <p:spPr>
          <a:xfrm>
            <a:off x="5989320" y="3200400"/>
            <a:ext cx="2560320" cy="360"/>
          </a:xfrm>
          <a:prstGeom prst="line">
            <a:avLst/>
          </a:prstGeom>
          <a:ln w="12600">
            <a:solidFill>
              <a:srgbClr val="3A3D42"/>
            </a:solidFill>
            <a:round/>
          </a:ln>
        </p:spPr>
        <p:style>
          <a:lnRef idx="0"/>
          <a:fillRef idx="0"/>
          <a:effectRef idx="0"/>
          <a:fontRef idx="minor"/>
        </p:style>
        <p:txBody>
          <a:bodyPr lIns="90000" tIns="-44640" rIns="90000" bIns="-44640" anchor="t">
            <a:noAutofit/>
          </a:bodyPr>
          <a:p>
            <a:pPr defTabSz="914400">
              <a:lnSpc>
                <a:spcPct val="100000"/>
              </a:lnSpc>
            </a:pPr>
            <a:endParaRPr lang="de-DE" sz="1800" b="0" u="none" strike="noStrike">
              <a:solidFill>
                <a:schemeClr val="dk1"/>
              </a:solidFill>
              <a:effectLst/>
              <a:uFillTx/>
              <a:latin typeface="Calibri"/>
            </a:endParaRPr>
          </a:p>
        </p:txBody>
      </p:sp>
      <p:sp>
        <p:nvSpPr>
          <p:cNvPr id="176" name="Text 6"/>
          <p:cNvSpPr/>
          <p:nvPr/>
        </p:nvSpPr>
        <p:spPr>
          <a:xfrm>
            <a:off x="5989320" y="3291840"/>
            <a:ext cx="264564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E8E8E8"/>
                </a:solidFill>
                <a:effectLst/>
                <a:uFillTx/>
                <a:latin typeface="DejaVu Serif"/>
                <a:ea typeface="DejaVu Serif"/>
              </a:rPr>
              <a:t>Microphone quality is the hard floor of AI performance.</a:t>
            </a:r>
            <a:endParaRPr lang="de-DE" sz="1300" b="0" u="none" strike="noStrike">
              <a:solidFill>
                <a:srgbClr val="FFFFFF"/>
              </a:solidFill>
              <a:effectLst/>
              <a:uFillTx/>
              <a:latin typeface="Arial"/>
            </a:endParaRPr>
          </a:p>
        </p:txBody>
      </p:sp>
      <p:sp>
        <p:nvSpPr>
          <p:cNvPr id="177" name="Text 7"/>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178" name="Text 8"/>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10 / 19</a:t>
            </a:r>
            <a:endParaRPr lang="de-DE" sz="800" b="0" u="none" strike="noStrike">
              <a:solidFill>
                <a:srgbClr val="FFFFFF"/>
              </a:solidFill>
              <a:effectLst/>
              <a:uFillTx/>
              <a:latin typeface="Arial"/>
            </a:endParaRPr>
          </a:p>
        </p:txBody>
      </p:sp>
      <p:sp>
        <p:nvSpPr>
          <p:cNvPr id="179" name="Rechteck 156"/>
          <p:cNvSpPr/>
          <p:nvPr/>
        </p:nvSpPr>
        <p:spPr>
          <a:xfrm>
            <a:off x="412920" y="2410560"/>
            <a:ext cx="354240" cy="35424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oAutofit/>
          </a:bodyPr>
          <a:p>
            <a:endParaRPr lang="de-DE" sz="1800" b="0" u="none" strike="noStrike">
              <a:solidFill>
                <a:srgbClr val="FFFFFF"/>
              </a:solidFill>
              <a:effectLst/>
              <a:uFillTx/>
              <a:latin typeface="Arial"/>
            </a:endParaRPr>
          </a:p>
        </p:txBody>
      </p:sp>
      <p:pic>
        <p:nvPicPr>
          <p:cNvPr id="180" name="Grafik 158"/>
          <p:cNvPicPr/>
          <p:nvPr/>
        </p:nvPicPr>
        <p:blipFill>
          <a:blip r:embed="rId1"/>
          <a:stretch/>
        </p:blipFill>
        <p:spPr>
          <a:xfrm>
            <a:off x="573480" y="2516400"/>
            <a:ext cx="174240" cy="94680"/>
          </a:xfrm>
          <a:prstGeom prst="rect">
            <a:avLst/>
          </a:prstGeom>
          <a:noFill/>
          <a:ln w="0">
            <a:noFill/>
          </a:ln>
        </p:spPr>
      </p:pic>
      <p:sp>
        <p:nvSpPr>
          <p:cNvPr id="181" name="Rechteck 159"/>
          <p:cNvSpPr/>
          <p:nvPr/>
        </p:nvSpPr>
        <p:spPr>
          <a:xfrm>
            <a:off x="1001520" y="3230280"/>
            <a:ext cx="354240" cy="35424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oAutofit/>
          </a:bodyPr>
          <a:p>
            <a:endParaRPr lang="de-DE" sz="1800" b="0" u="none" strike="noStrike">
              <a:solidFill>
                <a:srgbClr val="FFFFFF"/>
              </a:solidFill>
              <a:effectLst/>
              <a:uFillTx/>
              <a:latin typeface="Arial"/>
            </a:endParaRPr>
          </a:p>
        </p:txBody>
      </p:sp>
      <p:pic>
        <p:nvPicPr>
          <p:cNvPr id="182" name="Grafik 160"/>
          <p:cNvPicPr/>
          <p:nvPr/>
        </p:nvPicPr>
        <p:blipFill>
          <a:blip r:embed="rId2"/>
          <a:stretch/>
        </p:blipFill>
        <p:spPr>
          <a:xfrm>
            <a:off x="1162080" y="3336120"/>
            <a:ext cx="174240" cy="94680"/>
          </a:xfrm>
          <a:prstGeom prst="rect">
            <a:avLst/>
          </a:prstGeom>
          <a:noFill/>
          <a:ln w="0">
            <a:noFill/>
          </a:ln>
        </p:spPr>
      </p:pic>
      <p:graphicFrame>
        <p:nvGraphicFramePr>
          <p:cNvPr id="183" name="Chart 0"/>
          <p:cNvGraphicFramePr/>
          <p:nvPr/>
        </p:nvGraphicFramePr>
        <p:xfrm>
          <a:off x="457560" y="1177200"/>
          <a:ext cx="5297760" cy="3011760"/>
        </p:xfrm>
        <a:graphic>
          <a:graphicData uri="http://schemas.openxmlformats.org/drawingml/2006/chart">
            <c:chart xmlns:c="http://schemas.openxmlformats.org/drawingml/2006/chart" xmlns:r="http://schemas.openxmlformats.org/officeDocument/2006/relationships" r:id="rId3"/>
          </a:graphicData>
        </a:graphic>
      </p:graphicFrame>
      <p:sp>
        <p:nvSpPr>
          <p:cNvPr id="184" name="Rechteck 1"/>
          <p:cNvSpPr/>
          <p:nvPr/>
        </p:nvSpPr>
        <p:spPr>
          <a:xfrm>
            <a:off x="784440" y="3310920"/>
            <a:ext cx="354240" cy="35424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oAutofit/>
          </a:bodyPr>
          <a:p>
            <a:endParaRPr lang="de-DE" sz="1800" b="0" u="none" strike="noStrike">
              <a:solidFill>
                <a:srgbClr val="FFFFFF"/>
              </a:solidFill>
              <a:effectLst/>
              <a:uFillTx/>
              <a:latin typeface="Arial"/>
            </a:endParaRPr>
          </a:p>
        </p:txBody>
      </p:sp>
      <p:pic>
        <p:nvPicPr>
          <p:cNvPr id="185" name="Grafik 1"/>
          <p:cNvPicPr/>
          <p:nvPr/>
        </p:nvPicPr>
        <p:blipFill>
          <a:blip r:embed="rId4"/>
          <a:stretch/>
        </p:blipFill>
        <p:spPr>
          <a:xfrm>
            <a:off x="945000" y="3416760"/>
            <a:ext cx="174240" cy="94680"/>
          </a:xfrm>
          <a:prstGeom prst="rect">
            <a:avLst/>
          </a:prstGeom>
          <a:noFill/>
          <a:ln w="0">
            <a:noFill/>
          </a:ln>
        </p:spPr>
      </p:pic>
      <p:sp>
        <p:nvSpPr>
          <p:cNvPr id="186" name="Rechteck 2"/>
          <p:cNvSpPr/>
          <p:nvPr/>
        </p:nvSpPr>
        <p:spPr>
          <a:xfrm>
            <a:off x="412920" y="2410560"/>
            <a:ext cx="354240" cy="35424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oAutofit/>
          </a:bodyPr>
          <a:p>
            <a:endParaRPr lang="de-DE" sz="1800" b="0" u="none" strike="noStrike">
              <a:solidFill>
                <a:srgbClr val="FFFFFF"/>
              </a:solidFill>
              <a:effectLst/>
              <a:uFillTx/>
              <a:latin typeface="Arial"/>
            </a:endParaRPr>
          </a:p>
        </p:txBody>
      </p:sp>
      <p:pic>
        <p:nvPicPr>
          <p:cNvPr id="187" name="Grafik 2"/>
          <p:cNvPicPr/>
          <p:nvPr/>
        </p:nvPicPr>
        <p:blipFill>
          <a:blip r:embed="rId5"/>
          <a:stretch/>
        </p:blipFill>
        <p:spPr>
          <a:xfrm>
            <a:off x="573480" y="2516400"/>
            <a:ext cx="174240" cy="94680"/>
          </a:xfrm>
          <a:prstGeom prst="rect">
            <a:avLst/>
          </a:prstGeom>
          <a:noFill/>
          <a:ln w="0">
            <a:noFill/>
          </a:ln>
        </p:spPr>
      </p:pic>
      <p:sp>
        <p:nvSpPr>
          <p:cNvPr id="188" name="TextBox 241"/>
          <p:cNvSpPr/>
          <p:nvPr/>
        </p:nvSpPr>
        <p:spPr>
          <a:xfrm>
            <a:off x="457560" y="925920"/>
            <a:ext cx="5300280" cy="16704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100" b="0" u="none" strike="noStrike">
                <a:solidFill>
                  <a:srgbClr val="FFFFFF"/>
                </a:solidFill>
                <a:effectLst/>
                <a:uFillTx/>
                <a:latin typeface="DejaVu Serif"/>
                <a:ea typeface="DejaVu Sans"/>
              </a:rPr>
              <a:t>Average WER across standard scenarios</a:t>
            </a:r>
            <a:endParaRPr lang="de-DE" sz="1100" b="0" u="none" strike="noStrike">
              <a:solidFill>
                <a:srgbClr val="FFFFFF"/>
              </a:solidFill>
              <a:effectLst/>
              <a:uFillTx/>
              <a:latin typeface="Arial"/>
            </a:endParaRPr>
          </a:p>
        </p:txBody>
      </p:sp>
      <p:sp>
        <p:nvSpPr>
          <p:cNvPr id="189" name="TextBox 240"/>
          <p:cNvSpPr/>
          <p:nvPr/>
        </p:nvSpPr>
        <p:spPr>
          <a:xfrm>
            <a:off x="1005840" y="4227480"/>
            <a:ext cx="4751640" cy="16704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de-DE" sz="1100" b="0" u="none" strike="noStrike">
                <a:solidFill>
                  <a:srgbClr val="FFFFFF"/>
                </a:solidFill>
                <a:effectLst/>
                <a:uFillTx/>
                <a:latin typeface="DejaVu Serif"/>
                <a:ea typeface="DejaVu Sans"/>
              </a:rPr>
              <a:t>Word Error Rate (%) — lower is better</a:t>
            </a:r>
            <a:endParaRPr lang="de-DE"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225" dur="indefinite" restart="never" nodeType="tmRoot">
          <p:childTnLst>
            <p:seq>
              <p:cTn id="226" dur="indefinite" nodeType="mainSeq">
                <p:childTnLst>
                  <p:par>
                    <p:cTn id="227" fill="hold">
                      <p:stCondLst>
                        <p:cond delay="indefinite"/>
                      </p:stCondLst>
                      <p:childTnLst>
                        <p:par>
                          <p:cTn id="228" fill="hold">
                            <p:stCondLst>
                              <p:cond delay="0"/>
                            </p:stCondLst>
                            <p:childTnLst>
                              <p:par>
                                <p:cTn id="229" presetID="1" presetClass="entr" fill="hold" nodeType="clickEffect">
                                  <p:stCondLst>
                                    <p:cond delay="0"/>
                                  </p:stCondLst>
                                  <p:childTnLst>
                                    <p:set>
                                      <p:cBhvr>
                                        <p:cTn id="230" dur="1" fill="hold">
                                          <p:stCondLst>
                                            <p:cond delay="0"/>
                                          </p:stCondLst>
                                        </p:cTn>
                                        <p:tgtEl>
                                          <p:spTgt spid="171"/>
                                        </p:tgtEl>
                                        <p:attrNameLst>
                                          <p:attrName>style.visibility</p:attrName>
                                        </p:attrNameLst>
                                      </p:cBhvr>
                                      <p:to>
                                        <p:strVal val="visible"/>
                                      </p:to>
                                    </p:set>
                                  </p:childTnLst>
                                </p:cTn>
                              </p:par>
                              <p:par>
                                <p:cTn id="231" presetID="1" presetClass="entr" fill="hold" nodeType="withEffect">
                                  <p:stCondLst>
                                    <p:cond delay="0"/>
                                  </p:stCondLst>
                                  <p:childTnLst>
                                    <p:set>
                                      <p:cBhvr>
                                        <p:cTn id="232" dur="1" fill="hold">
                                          <p:stCondLst>
                                            <p:cond delay="0"/>
                                          </p:stCondLst>
                                        </p:cTn>
                                        <p:tgtEl>
                                          <p:spTgt spid="172"/>
                                        </p:tgtEl>
                                        <p:attrNameLst>
                                          <p:attrName>style.visibility</p:attrName>
                                        </p:attrNameLst>
                                      </p:cBhvr>
                                      <p:to>
                                        <p:strVal val="visible"/>
                                      </p:to>
                                    </p:set>
                                  </p:childTnLst>
                                </p:cTn>
                              </p:par>
                              <p:par>
                                <p:cTn id="233" presetID="1" presetClass="entr" fill="hold" nodeType="withEffect">
                                  <p:stCondLst>
                                    <p:cond delay="0"/>
                                  </p:stCondLst>
                                  <p:childTnLst>
                                    <p:set>
                                      <p:cBhvr>
                                        <p:cTn id="234" dur="1" fill="hold">
                                          <p:stCondLst>
                                            <p:cond delay="0"/>
                                          </p:stCondLst>
                                        </p:cTn>
                                        <p:tgtEl>
                                          <p:spTgt spid="173"/>
                                        </p:tgtEl>
                                        <p:attrNameLst>
                                          <p:attrName>style.visibility</p:attrName>
                                        </p:attrNameLst>
                                      </p:cBhvr>
                                      <p:to>
                                        <p:strVal val="visible"/>
                                      </p:to>
                                    </p:set>
                                  </p:childTnLst>
                                </p:cTn>
                              </p:par>
                              <p:par>
                                <p:cTn id="235" presetID="1" presetClass="entr" fill="hold" nodeType="withEffect">
                                  <p:stCondLst>
                                    <p:cond delay="0"/>
                                  </p:stCondLst>
                                  <p:childTnLst>
                                    <p:set>
                                      <p:cBhvr>
                                        <p:cTn id="236" dur="1" fill="hold">
                                          <p:stCondLst>
                                            <p:cond delay="0"/>
                                          </p:stCondLst>
                                        </p:cTn>
                                        <p:tgtEl>
                                          <p:spTgt spid="174"/>
                                        </p:tgtEl>
                                        <p:attrNameLst>
                                          <p:attrName>style.visibility</p:attrName>
                                        </p:attrNameLst>
                                      </p:cBhvr>
                                      <p:to>
                                        <p:strVal val="visible"/>
                                      </p:to>
                                    </p:set>
                                  </p:childTnLst>
                                </p:cTn>
                              </p:par>
                              <p:par>
                                <p:cTn id="237" presetID="1" presetClass="entr" fill="hold" nodeType="withEffect">
                                  <p:stCondLst>
                                    <p:cond delay="0"/>
                                  </p:stCondLst>
                                  <p:childTnLst>
                                    <p:set>
                                      <p:cBhvr>
                                        <p:cTn id="238" dur="1" fill="hold">
                                          <p:stCondLst>
                                            <p:cond delay="0"/>
                                          </p:stCondLst>
                                        </p:cTn>
                                        <p:tgtEl>
                                          <p:spTgt spid="175"/>
                                        </p:tgtEl>
                                        <p:attrNameLst>
                                          <p:attrName>style.visibility</p:attrName>
                                        </p:attrNameLst>
                                      </p:cBhvr>
                                      <p:to>
                                        <p:strVal val="visible"/>
                                      </p:to>
                                    </p:set>
                                  </p:childTnLst>
                                </p:cTn>
                              </p:par>
                              <p:par>
                                <p:cTn id="239" presetID="1" presetClass="entr" fill="hold" nodeType="withEffect">
                                  <p:stCondLst>
                                    <p:cond delay="0"/>
                                  </p:stCondLst>
                                  <p:childTnLst>
                                    <p:set>
                                      <p:cBhvr>
                                        <p:cTn id="240"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190"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2400" b="1" u="none" strike="noStrike">
                <a:solidFill>
                  <a:srgbClr val="E8E8E8"/>
                </a:solidFill>
                <a:effectLst/>
                <a:uFillTx/>
                <a:latin typeface="DejaVu Serif"/>
                <a:ea typeface="DejaVu Serif"/>
              </a:rPr>
              <a:t>Cloud listens — local rewrites</a:t>
            </a:r>
            <a:endParaRPr lang="de-DE" sz="2400" b="0" u="none" strike="noStrike">
              <a:solidFill>
                <a:srgbClr val="FFFFFF"/>
              </a:solidFill>
              <a:effectLst/>
              <a:uFillTx/>
              <a:latin typeface="Arial"/>
            </a:endParaRPr>
          </a:p>
        </p:txBody>
      </p:sp>
      <p:graphicFrame>
        <p:nvGraphicFramePr>
          <p:cNvPr id="191" name="Chart 0"/>
          <p:cNvGraphicFramePr/>
          <p:nvPr/>
        </p:nvGraphicFramePr>
        <p:xfrm>
          <a:off x="457200" y="1097280"/>
          <a:ext cx="7766280" cy="3194280"/>
        </p:xfrm>
        <a:graphic>
          <a:graphicData uri="http://schemas.openxmlformats.org/drawingml/2006/chart">
            <c:chart xmlns:c="http://schemas.openxmlformats.org/drawingml/2006/chart" xmlns:r="http://schemas.openxmlformats.org/officeDocument/2006/relationships" r:id="rId1"/>
          </a:graphicData>
        </a:graphic>
      </p:graphicFrame>
      <p:sp>
        <p:nvSpPr>
          <p:cNvPr id="192" name="Text 1"/>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193" name="Text 2"/>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11 / 19</a:t>
            </a:r>
            <a:endParaRPr lang="de-DE" sz="800" b="0" u="none" strike="noStrike">
              <a:solidFill>
                <a:srgbClr val="FFFFFF"/>
              </a:solidFill>
              <a:effectLst/>
              <a:uFillTx/>
              <a:latin typeface="Arial"/>
            </a:endParaRPr>
          </a:p>
        </p:txBody>
      </p:sp>
      <p:sp>
        <p:nvSpPr>
          <p:cNvPr id="194" name="Rechteck 165"/>
          <p:cNvSpPr/>
          <p:nvPr/>
        </p:nvSpPr>
        <p:spPr>
          <a:xfrm>
            <a:off x="468720" y="3497400"/>
            <a:ext cx="1642320" cy="35424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oAutofit/>
          </a:bodyPr>
          <a:p>
            <a:pPr defTabSz="914400">
              <a:lnSpc>
                <a:spcPct val="100000"/>
              </a:lnSpc>
            </a:pPr>
            <a:r>
              <a:rPr lang="de-DE" sz="1100" b="0" u="none" strike="noStrike">
                <a:solidFill>
                  <a:srgbClr val="FFFFFF"/>
                </a:solidFill>
                <a:effectLst/>
                <a:uFillTx/>
                <a:latin typeface="Arial"/>
                <a:ea typeface="DejaVu Sans"/>
              </a:rPr>
              <a:t>               GPT-4o (avg)</a:t>
            </a:r>
            <a:endParaRPr lang="de-DE" sz="1100" b="0" u="none" strike="noStrike">
              <a:solidFill>
                <a:srgbClr val="FFFFFF"/>
              </a:solidFill>
              <a:effectLst/>
              <a:uFillTx/>
              <a:latin typeface="Arial"/>
            </a:endParaRPr>
          </a:p>
        </p:txBody>
      </p:sp>
      <p:pic>
        <p:nvPicPr>
          <p:cNvPr id="195" name="Grafik 166"/>
          <p:cNvPicPr/>
          <p:nvPr/>
        </p:nvPicPr>
        <p:blipFill>
          <a:blip r:embed="rId2"/>
          <a:stretch/>
        </p:blipFill>
        <p:spPr>
          <a:xfrm>
            <a:off x="914760" y="3627360"/>
            <a:ext cx="174240" cy="94680"/>
          </a:xfrm>
          <a:prstGeom prst="rect">
            <a:avLst/>
          </a:prstGeom>
          <a:noFill/>
          <a:ln w="0">
            <a:noFill/>
          </a:ln>
        </p:spPr>
      </p:pic>
      <p:graphicFrame>
        <p:nvGraphicFramePr>
          <p:cNvPr id="196" name="Chart 0"/>
          <p:cNvGraphicFramePr/>
          <p:nvPr/>
        </p:nvGraphicFramePr>
        <p:xfrm>
          <a:off x="685800" y="1096920"/>
          <a:ext cx="7766640" cy="3194640"/>
        </p:xfrm>
        <a:graphic>
          <a:graphicData uri="http://schemas.openxmlformats.org/drawingml/2006/chart">
            <c:chart xmlns:c="http://schemas.openxmlformats.org/drawingml/2006/chart" xmlns:r="http://schemas.openxmlformats.org/officeDocument/2006/relationships" r:id="rId3"/>
          </a:graphicData>
        </a:graphic>
      </p:graphicFrame>
      <p:sp>
        <p:nvSpPr>
          <p:cNvPr id="197" name="Rechteck 3"/>
          <p:cNvSpPr/>
          <p:nvPr/>
        </p:nvSpPr>
        <p:spPr>
          <a:xfrm>
            <a:off x="691920" y="3499200"/>
            <a:ext cx="354240" cy="35424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oAutofit/>
          </a:bodyPr>
          <a:p>
            <a:endParaRPr lang="de-DE" sz="1800" b="0" u="none" strike="noStrike">
              <a:solidFill>
                <a:srgbClr val="FFFFFF"/>
              </a:solidFill>
              <a:effectLst/>
              <a:uFillTx/>
              <a:latin typeface="Arial"/>
            </a:endParaRPr>
          </a:p>
        </p:txBody>
      </p:sp>
      <p:pic>
        <p:nvPicPr>
          <p:cNvPr id="198" name="Grafik 3"/>
          <p:cNvPicPr/>
          <p:nvPr/>
        </p:nvPicPr>
        <p:blipFill>
          <a:blip r:embed="rId4"/>
          <a:stretch/>
        </p:blipFill>
        <p:spPr>
          <a:xfrm>
            <a:off x="852480" y="3605040"/>
            <a:ext cx="174240" cy="94680"/>
          </a:xfrm>
          <a:prstGeom prst="rect">
            <a:avLst/>
          </a:prstGeom>
          <a:noFill/>
          <a:ln w="0">
            <a:noFill/>
          </a:ln>
        </p:spPr>
      </p:pic>
      <p:sp>
        <p:nvSpPr>
          <p:cNvPr id="199" name="TextBox 191"/>
          <p:cNvSpPr/>
          <p:nvPr/>
        </p:nvSpPr>
        <p:spPr>
          <a:xfrm>
            <a:off x="457560" y="925920"/>
            <a:ext cx="7769160" cy="16704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100" b="0" u="none" strike="noStrike">
                <a:solidFill>
                  <a:srgbClr val="FFFFFF"/>
                </a:solidFill>
                <a:effectLst/>
                <a:uFillTx/>
                <a:latin typeface="DejaVu Serif"/>
                <a:ea typeface="DejaVu Sans"/>
              </a:rPr>
              <a:t>LLM Fidelity check — RAW STT vs. Formatted output</a:t>
            </a:r>
            <a:endParaRPr lang="de-DE" sz="1100" b="0" u="none" strike="noStrike">
              <a:solidFill>
                <a:srgbClr val="FFFFFF"/>
              </a:solidFill>
              <a:effectLst/>
              <a:uFillTx/>
              <a:latin typeface="Arial"/>
            </a:endParaRPr>
          </a:p>
        </p:txBody>
      </p:sp>
      <p:sp>
        <p:nvSpPr>
          <p:cNvPr id="200" name="TextBox 192"/>
          <p:cNvSpPr/>
          <p:nvPr/>
        </p:nvSpPr>
        <p:spPr>
          <a:xfrm>
            <a:off x="71280" y="4300920"/>
            <a:ext cx="7129080" cy="16704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de-DE" sz="1100" b="0" u="none" strike="noStrike">
                <a:solidFill>
                  <a:srgbClr val="FFFFFF"/>
                </a:solidFill>
                <a:effectLst/>
                <a:uFillTx/>
                <a:latin typeface="DejaVu Serif"/>
                <a:ea typeface="DejaVu Sans"/>
              </a:rPr>
              <a:t>Hallucination Rate (%) — lower is better</a:t>
            </a:r>
            <a:endParaRPr lang="de-DE"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201"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The Anamnese Catastrophe</a:t>
            </a:r>
            <a:endParaRPr lang="de-DE" sz="2400" b="0" u="none" strike="noStrike">
              <a:solidFill>
                <a:srgbClr val="FFFFFF"/>
              </a:solidFill>
              <a:effectLst/>
              <a:uFillTx/>
              <a:latin typeface="Arial"/>
            </a:endParaRPr>
          </a:p>
        </p:txBody>
      </p:sp>
      <p:graphicFrame>
        <p:nvGraphicFramePr>
          <p:cNvPr id="202" name="Chart 0"/>
          <p:cNvGraphicFramePr/>
          <p:nvPr/>
        </p:nvGraphicFramePr>
        <p:xfrm>
          <a:off x="457200" y="1368720"/>
          <a:ext cx="5480280" cy="2554200"/>
        </p:xfrm>
        <a:graphic>
          <a:graphicData uri="http://schemas.openxmlformats.org/drawingml/2006/chart">
            <c:chart xmlns:c="http://schemas.openxmlformats.org/drawingml/2006/chart" xmlns:r="http://schemas.openxmlformats.org/officeDocument/2006/relationships" r:id="rId1"/>
          </a:graphicData>
        </a:graphic>
      </p:graphicFrame>
      <p:sp>
        <p:nvSpPr>
          <p:cNvPr id="203" name="Text 1"/>
          <p:cNvSpPr/>
          <p:nvPr/>
        </p:nvSpPr>
        <p:spPr>
          <a:xfrm>
            <a:off x="6217920" y="1800000"/>
            <a:ext cx="2554200" cy="109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400" b="1" u="none" strike="noStrike">
                <a:solidFill>
                  <a:srgbClr val="FF5429"/>
                </a:solidFill>
                <a:effectLst/>
                <a:uFillTx/>
                <a:latin typeface="DejaVu Serif"/>
                <a:ea typeface="DejaVu Serif"/>
              </a:rPr>
              <a:t>–93%</a:t>
            </a:r>
            <a:endParaRPr lang="de-DE" sz="6400" b="0" u="none" strike="noStrike">
              <a:solidFill>
                <a:srgbClr val="FFFFFF"/>
              </a:solidFill>
              <a:effectLst/>
              <a:uFillTx/>
              <a:latin typeface="Arial"/>
            </a:endParaRPr>
          </a:p>
        </p:txBody>
      </p:sp>
      <p:sp>
        <p:nvSpPr>
          <p:cNvPr id="204" name="Text 2"/>
          <p:cNvSpPr/>
          <p:nvPr/>
        </p:nvSpPr>
        <p:spPr>
          <a:xfrm>
            <a:off x="6217920" y="2897280"/>
            <a:ext cx="2554200" cy="359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rgbClr val="E8E8E8"/>
                </a:solidFill>
                <a:effectLst/>
                <a:uFillTx/>
                <a:latin typeface="DejaVu Serif"/>
                <a:ea typeface="DejaVu Serif"/>
              </a:rPr>
              <a:t>content silently dropped</a:t>
            </a:r>
            <a:endParaRPr lang="de-DE" sz="1300" b="0" u="none" strike="noStrike">
              <a:solidFill>
                <a:srgbClr val="FFFFFF"/>
              </a:solidFill>
              <a:effectLst/>
              <a:uFillTx/>
              <a:latin typeface="Arial"/>
            </a:endParaRPr>
          </a:p>
        </p:txBody>
      </p:sp>
      <p:sp>
        <p:nvSpPr>
          <p:cNvPr id="205" name="Text 4"/>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206" name="Text 5"/>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12 / 19</a:t>
            </a:r>
            <a:endParaRPr lang="de-DE" sz="800" b="0" u="none" strike="noStrike">
              <a:solidFill>
                <a:srgbClr val="FFFFFF"/>
              </a:solidFill>
              <a:effectLst/>
              <a:uFillTx/>
              <a:latin typeface="Arial"/>
            </a:endParaRPr>
          </a:p>
        </p:txBody>
      </p:sp>
      <p:sp>
        <p:nvSpPr>
          <p:cNvPr id="207" name=""/>
          <p:cNvSpPr/>
          <p:nvPr/>
        </p:nvSpPr>
        <p:spPr>
          <a:xfrm>
            <a:off x="666000" y="1801080"/>
            <a:ext cx="1627560" cy="35532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chorCtr="1">
            <a:noAutofit/>
          </a:bodyPr>
          <a:p>
            <a:pPr algn="ctr">
              <a:lnSpc>
                <a:spcPct val="100000"/>
              </a:lnSpc>
            </a:pPr>
            <a:r>
              <a:rPr lang="de-DE" sz="1300" b="0" u="none" strike="noStrike">
                <a:solidFill>
                  <a:srgbClr val="FFFFFF"/>
                </a:solidFill>
                <a:effectLst/>
                <a:uFillTx/>
                <a:latin typeface="DejaVu Serif"/>
                <a:ea typeface="DejaVu Sans"/>
              </a:rPr>
              <a:t> </a:t>
            </a:r>
            <a:endParaRPr lang="de-DE" sz="1300" b="0" u="none" strike="noStrike">
              <a:solidFill>
                <a:srgbClr val="FFFFFF"/>
              </a:solidFill>
              <a:effectLst/>
              <a:uFillTx/>
              <a:latin typeface="Arial"/>
            </a:endParaRPr>
          </a:p>
        </p:txBody>
      </p:sp>
      <p:sp>
        <p:nvSpPr>
          <p:cNvPr id="208" name=""/>
          <p:cNvSpPr/>
          <p:nvPr/>
        </p:nvSpPr>
        <p:spPr>
          <a:xfrm>
            <a:off x="783720" y="1813320"/>
            <a:ext cx="1615320" cy="28800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de-DE" sz="1300" b="0" u="none" strike="noStrike">
                <a:solidFill>
                  <a:srgbClr val="FFFFFF"/>
                </a:solidFill>
                <a:effectLst/>
                <a:uFillTx/>
                <a:latin typeface="DejaVu Serif"/>
                <a:ea typeface="DejaVu Sans"/>
              </a:rPr>
              <a:t>Raw STT Output</a:t>
            </a:r>
            <a:endParaRPr lang="de-DE" sz="1300" b="0" u="none" strike="noStrike">
              <a:solidFill>
                <a:srgbClr val="FFFFFF"/>
              </a:solidFill>
              <a:effectLst/>
              <a:uFillTx/>
              <a:latin typeface="Arial"/>
            </a:endParaRPr>
          </a:p>
        </p:txBody>
      </p:sp>
      <p:sp>
        <p:nvSpPr>
          <p:cNvPr id="209" name="TextBox 249"/>
          <p:cNvSpPr/>
          <p:nvPr/>
        </p:nvSpPr>
        <p:spPr>
          <a:xfrm>
            <a:off x="457560" y="1105920"/>
            <a:ext cx="5483160" cy="16704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100" b="0" u="none" strike="noStrike">
                <a:solidFill>
                  <a:srgbClr val="FFFFFF"/>
                </a:solidFill>
                <a:effectLst/>
                <a:uFillTx/>
                <a:latin typeface="DejaVu Serif"/>
                <a:ea typeface="DejaVu Sans"/>
              </a:rPr>
              <a:t>Content volume — before vs. after LLM formatting step</a:t>
            </a:r>
            <a:endParaRPr lang="de-DE" sz="1100" b="0" u="none" strike="noStrike">
              <a:solidFill>
                <a:srgbClr val="FFFFFF"/>
              </a:solidFill>
              <a:effectLst/>
              <a:uFillTx/>
              <a:latin typeface="Arial"/>
            </a:endParaRPr>
          </a:p>
        </p:txBody>
      </p:sp>
      <p:sp>
        <p:nvSpPr>
          <p:cNvPr id="210" name=""/>
          <p:cNvSpPr/>
          <p:nvPr/>
        </p:nvSpPr>
        <p:spPr>
          <a:xfrm>
            <a:off x="3334680" y="3925800"/>
            <a:ext cx="1000800" cy="25740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de-DE" sz="1100" b="0" u="none" strike="noStrike">
                <a:solidFill>
                  <a:srgbClr val="FFFFFF"/>
                </a:solidFill>
                <a:effectLst/>
                <a:uFillTx/>
                <a:latin typeface="DejaVu Serif"/>
                <a:ea typeface="DejaVu Sans"/>
              </a:rPr>
              <a:t>Word count</a:t>
            </a:r>
            <a:endParaRPr lang="de-DE"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241" dur="indefinite" restart="never" nodeType="tmRoot">
          <p:childTnLst>
            <p:seq>
              <p:cTn id="242" dur="indefinite" nodeType="mainSeq">
                <p:childTnLst>
                  <p:par>
                    <p:cTn id="243" fill="hold">
                      <p:stCondLst>
                        <p:cond delay="indefinite"/>
                      </p:stCondLst>
                      <p:childTnLst>
                        <p:par>
                          <p:cTn id="244" fill="hold">
                            <p:stCondLst>
                              <p:cond delay="0"/>
                            </p:stCondLst>
                            <p:childTnLst>
                              <p:par>
                                <p:cTn id="245" presetID="1" presetClass="entr" fill="hold" nodeType="clickEffect">
                                  <p:stCondLst>
                                    <p:cond delay="0"/>
                                  </p:stCondLst>
                                  <p:childTnLst>
                                    <p:set>
                                      <p:cBhvr>
                                        <p:cTn id="246" dur="1" fill="hold">
                                          <p:stCondLst>
                                            <p:cond delay="0"/>
                                          </p:stCondLst>
                                        </p:cTn>
                                        <p:tgtEl>
                                          <p:spTgt spid="203"/>
                                        </p:tgtEl>
                                        <p:attrNameLst>
                                          <p:attrName>style.visibility</p:attrName>
                                        </p:attrNameLst>
                                      </p:cBhvr>
                                      <p:to>
                                        <p:strVal val="visible"/>
                                      </p:to>
                                    </p:set>
                                  </p:childTnLst>
                                </p:cTn>
                              </p:par>
                              <p:par>
                                <p:cTn id="247" presetID="1" presetClass="entr" fill="hold" nodeType="withEffect">
                                  <p:stCondLst>
                                    <p:cond delay="0"/>
                                  </p:stCondLst>
                                  <p:childTnLst>
                                    <p:set>
                                      <p:cBhvr>
                                        <p:cTn id="248"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211"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No model reached clinically acceptable quality</a:t>
            </a:r>
            <a:endParaRPr lang="de-DE" sz="2400" b="0" u="none" strike="noStrike">
              <a:solidFill>
                <a:srgbClr val="FFFFFF"/>
              </a:solidFill>
              <a:effectLst/>
              <a:uFillTx/>
              <a:latin typeface="Arial"/>
            </a:endParaRPr>
          </a:p>
        </p:txBody>
      </p:sp>
      <p:sp>
        <p:nvSpPr>
          <p:cNvPr id="212" name="Shape 9"/>
          <p:cNvSpPr/>
          <p:nvPr/>
        </p:nvSpPr>
        <p:spPr>
          <a:xfrm>
            <a:off x="5577840" y="1321560"/>
            <a:ext cx="3194280" cy="2279880"/>
          </a:xfrm>
          <a:prstGeom prst="roundRect">
            <a:avLst>
              <a:gd name="adj" fmla="val 6000"/>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213" name="Text 10"/>
          <p:cNvSpPr/>
          <p:nvPr/>
        </p:nvSpPr>
        <p:spPr>
          <a:xfrm>
            <a:off x="5715000" y="1394640"/>
            <a:ext cx="2919960" cy="268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5429"/>
                </a:solidFill>
                <a:effectLst/>
                <a:uFillTx/>
                <a:latin typeface="DejaVu Serif"/>
                <a:ea typeface="DejaVu Serif"/>
              </a:rPr>
              <a:t>Quality Distribution</a:t>
            </a:r>
            <a:endParaRPr lang="de-DE" sz="1300" b="0" u="none" strike="noStrike">
              <a:solidFill>
                <a:srgbClr val="FFFFFF"/>
              </a:solidFill>
              <a:effectLst/>
              <a:uFillTx/>
              <a:latin typeface="Arial"/>
            </a:endParaRPr>
          </a:p>
        </p:txBody>
      </p:sp>
      <p:graphicFrame>
        <p:nvGraphicFramePr>
          <p:cNvPr id="214" name="Table 0"/>
          <p:cNvGraphicFramePr/>
          <p:nvPr/>
        </p:nvGraphicFramePr>
        <p:xfrm>
          <a:off x="5669280" y="1733040"/>
          <a:ext cx="3016080" cy="1791000"/>
        </p:xfrm>
        <a:graphic>
          <a:graphicData uri="http://schemas.openxmlformats.org/drawingml/2006/table">
            <a:tbl>
              <a:tblPr/>
              <a:tblGrid>
                <a:gridCol w="1400760"/>
                <a:gridCol w="538560"/>
                <a:gridCol w="538560"/>
                <a:gridCol w="538560"/>
              </a:tblGrid>
              <a:tr h="358200">
                <a:tc>
                  <a:txBody>
                    <a:bodyPr anchor="t">
                      <a:noAutofit/>
                    </a:bodyPr>
                    <a:p>
                      <a:pPr defTabSz="914400">
                        <a:lnSpc>
                          <a:spcPct val="100000"/>
                        </a:lnSpc>
                        <a:tabLst>
                          <a:tab pos="0" algn="l"/>
                        </a:tabLst>
                      </a:pPr>
                      <a:r>
                        <a:rPr lang="en-US" sz="1100" b="1" u="none" strike="noStrike">
                          <a:solidFill>
                            <a:srgbClr val="FFFFFF"/>
                          </a:solidFill>
                          <a:effectLst/>
                          <a:uFillTx/>
                          <a:latin typeface="DejaVu Serif"/>
                          <a:ea typeface="DejaVu Serif"/>
                        </a:rPr>
                        <a:t>Model</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solidFill>
                      <a:srgbClr val="D04A02"/>
                    </a:solidFill>
                  </a:tcPr>
                </a:tc>
                <a:tc>
                  <a:txBody>
                    <a:bodyPr anchor="t">
                      <a:noAutofit/>
                    </a:bodyPr>
                    <a:p>
                      <a:pPr defTabSz="914400">
                        <a:lnSpc>
                          <a:spcPct val="100000"/>
                        </a:lnSpc>
                        <a:tabLst>
                          <a:tab pos="0" algn="l"/>
                        </a:tabLst>
                      </a:pPr>
                      <a:r>
                        <a:rPr lang="en-US" sz="1500" b="0" u="none" strike="noStrike">
                          <a:solidFill>
                            <a:srgbClr val="FFFFFF"/>
                          </a:solidFill>
                          <a:effectLst/>
                          <a:uFillTx/>
                          <a:latin typeface="DejaVu Serif"/>
                        </a:rPr>
                        <a:t>+</a:t>
                      </a:r>
                      <a:endParaRPr lang="de-DE" sz="15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solidFill>
                      <a:srgbClr val="D04A02"/>
                    </a:solidFill>
                  </a:tcPr>
                </a:tc>
                <a:tc>
                  <a:txBody>
                    <a:bodyPr anchor="t">
                      <a:noAutofit/>
                    </a:bodyPr>
                    <a:p>
                      <a:pPr defTabSz="914400">
                        <a:lnSpc>
                          <a:spcPct val="100000"/>
                        </a:lnSpc>
                        <a:tabLst>
                          <a:tab pos="0" algn="l"/>
                        </a:tabLst>
                      </a:pPr>
                      <a:r>
                        <a:rPr lang="en-US" sz="1500" b="0" u="none" strike="noStrike">
                          <a:solidFill>
                            <a:srgbClr val="FFFFFF"/>
                          </a:solidFill>
                          <a:effectLst/>
                          <a:uFillTx/>
                          <a:latin typeface="DejaVu Serif"/>
                        </a:rPr>
                        <a:t>o</a:t>
                      </a:r>
                      <a:endParaRPr lang="de-DE" sz="15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solidFill>
                      <a:srgbClr val="D04A02"/>
                    </a:solidFill>
                  </a:tcPr>
                </a:tc>
                <a:tc>
                  <a:txBody>
                    <a:bodyPr anchor="t">
                      <a:noAutofit/>
                    </a:bodyPr>
                    <a:p>
                      <a:pPr defTabSz="914400">
                        <a:lnSpc>
                          <a:spcPct val="100000"/>
                        </a:lnSpc>
                        <a:tabLst>
                          <a:tab pos="0" algn="l"/>
                        </a:tabLst>
                      </a:pPr>
                      <a:r>
                        <a:rPr lang="en-US" sz="1500" b="0" u="none" strike="noStrike">
                          <a:solidFill>
                            <a:srgbClr val="FFFFFF"/>
                          </a:solidFill>
                          <a:effectLst/>
                          <a:uFillTx/>
                          <a:latin typeface="DejaVu Serif"/>
                        </a:rPr>
                        <a:t>-</a:t>
                      </a:r>
                      <a:endParaRPr lang="de-DE" sz="15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solidFill>
                      <a:srgbClr val="D04A02"/>
                    </a:solidFill>
                  </a:tcPr>
                </a:tc>
              </a:tr>
              <a:tr h="358200">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GPT-4o</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0</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10</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1</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r h="358200">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Gemma</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0</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5</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6</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r h="358200">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Sauerkraut</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0</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4</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7</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r h="358200">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Llama 3.2</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0</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2</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c>
                  <a:txBody>
                    <a:bodyPr anchor="t">
                      <a:noAutofit/>
                    </a:bodyPr>
                    <a:p>
                      <a:pPr defTabSz="914400">
                        <a:lnSpc>
                          <a:spcPct val="100000"/>
                        </a:lnSpc>
                        <a:tabLst>
                          <a:tab pos="0" algn="l"/>
                        </a:tabLst>
                      </a:pPr>
                      <a:r>
                        <a:rPr lang="en-US" sz="1100" b="0" u="none" strike="noStrike">
                          <a:solidFill>
                            <a:srgbClr val="E8E8E8"/>
                          </a:solidFill>
                          <a:effectLst/>
                          <a:uFillTx/>
                          <a:latin typeface="DejaVu Serif"/>
                          <a:ea typeface="DejaVu Serif"/>
                        </a:rPr>
                        <a:t>9</a:t>
                      </a:r>
                      <a:endParaRPr lang="de-DE" sz="1100" b="0" u="none" strike="noStrike">
                        <a:solidFill>
                          <a:srgbClr val="FFFFFF"/>
                        </a:solidFill>
                        <a:effectLst/>
                        <a:uFillTx/>
                        <a:latin typeface="Arial"/>
                      </a:endParaRPr>
                    </a:p>
                  </a:txBody>
                  <a:tcPr anchor="t" marL="91440" marR="91440" marT="45720" marB="45720">
                    <a:lnL w="6480">
                      <a:solidFill>
                        <a:srgbClr val="3A3D42"/>
                      </a:solidFill>
                      <a:prstDash val="solid"/>
                    </a:lnL>
                    <a:lnR w="6480">
                      <a:solidFill>
                        <a:srgbClr val="3A3D42"/>
                      </a:solidFill>
                      <a:prstDash val="solid"/>
                    </a:lnR>
                    <a:lnT w="6480">
                      <a:solidFill>
                        <a:srgbClr val="3A3D42"/>
                      </a:solidFill>
                      <a:prstDash val="solid"/>
                    </a:lnT>
                    <a:lnB w="6480">
                      <a:solidFill>
                        <a:srgbClr val="3A3D42"/>
                      </a:solidFill>
                      <a:prstDash val="solid"/>
                    </a:lnB>
                    <a:noFill/>
                  </a:tcPr>
                </a:tc>
              </a:tr>
            </a:tbl>
          </a:graphicData>
        </a:graphic>
      </p:graphicFrame>
      <p:sp>
        <p:nvSpPr>
          <p:cNvPr id="215" name="Text 13"/>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216" name="Text 14"/>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13 / 19</a:t>
            </a:r>
            <a:endParaRPr lang="de-DE" sz="800" b="0" u="none" strike="noStrike">
              <a:solidFill>
                <a:srgbClr val="FFFFFF"/>
              </a:solidFill>
              <a:effectLst/>
              <a:uFillTx/>
              <a:latin typeface="Arial"/>
            </a:endParaRPr>
          </a:p>
        </p:txBody>
      </p:sp>
      <p:sp>
        <p:nvSpPr>
          <p:cNvPr id="217" name="Rechteck 191"/>
          <p:cNvSpPr/>
          <p:nvPr/>
        </p:nvSpPr>
        <p:spPr>
          <a:xfrm>
            <a:off x="510840" y="1440000"/>
            <a:ext cx="354240" cy="35424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oAutofit/>
          </a:bodyPr>
          <a:p>
            <a:endParaRPr lang="de-DE" sz="1800" b="0" u="none" strike="noStrike">
              <a:solidFill>
                <a:srgbClr val="FFFFFF"/>
              </a:solidFill>
              <a:effectLst/>
              <a:uFillTx/>
              <a:latin typeface="Arial"/>
            </a:endParaRPr>
          </a:p>
        </p:txBody>
      </p:sp>
      <p:graphicFrame>
        <p:nvGraphicFramePr>
          <p:cNvPr id="218" name="Chart 0"/>
          <p:cNvGraphicFramePr/>
          <p:nvPr/>
        </p:nvGraphicFramePr>
        <p:xfrm>
          <a:off x="360000" y="1229760"/>
          <a:ext cx="5074920" cy="2920320"/>
        </p:xfrm>
        <a:graphic>
          <a:graphicData uri="http://schemas.openxmlformats.org/drawingml/2006/chart">
            <c:chart xmlns:c="http://schemas.openxmlformats.org/drawingml/2006/chart" xmlns:r="http://schemas.openxmlformats.org/officeDocument/2006/relationships" r:id="rId1"/>
          </a:graphicData>
        </a:graphic>
      </p:graphicFrame>
      <p:sp>
        <p:nvSpPr>
          <p:cNvPr id="219" name="Shape 1"/>
          <p:cNvSpPr/>
          <p:nvPr/>
        </p:nvSpPr>
        <p:spPr>
          <a:xfrm>
            <a:off x="1078920" y="4288320"/>
            <a:ext cx="158760" cy="122400"/>
          </a:xfrm>
          <a:prstGeom prst="roundRect">
            <a:avLst>
              <a:gd name="adj" fmla="val 21429"/>
            </a:avLst>
          </a:prstGeom>
          <a:solidFill>
            <a:srgbClr val="D04A3A"/>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220" name="Text 2"/>
          <p:cNvSpPr/>
          <p:nvPr/>
        </p:nvSpPr>
        <p:spPr>
          <a:xfrm>
            <a:off x="1280160" y="4260960"/>
            <a:ext cx="1182960" cy="17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FFFFFF"/>
                </a:solidFill>
                <a:effectLst/>
                <a:uFillTx/>
                <a:latin typeface="DejaVu Serif"/>
                <a:ea typeface="DejaVu Serif"/>
              </a:rPr>
              <a:t>0–3 not usable</a:t>
            </a:r>
            <a:endParaRPr lang="de-DE" sz="800" b="0" u="none" strike="noStrike">
              <a:solidFill>
                <a:srgbClr val="FFFFFF"/>
              </a:solidFill>
              <a:effectLst/>
              <a:uFillTx/>
              <a:latin typeface="Arial"/>
            </a:endParaRPr>
          </a:p>
        </p:txBody>
      </p:sp>
      <p:sp>
        <p:nvSpPr>
          <p:cNvPr id="221" name="Shape 3"/>
          <p:cNvSpPr/>
          <p:nvPr/>
        </p:nvSpPr>
        <p:spPr>
          <a:xfrm>
            <a:off x="2541960" y="4288320"/>
            <a:ext cx="158760" cy="122400"/>
          </a:xfrm>
          <a:prstGeom prst="roundRect">
            <a:avLst>
              <a:gd name="adj" fmla="val 21429"/>
            </a:avLst>
          </a:prstGeom>
          <a:solidFill>
            <a:srgbClr val="D89614"/>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222" name="Text 4"/>
          <p:cNvSpPr/>
          <p:nvPr/>
        </p:nvSpPr>
        <p:spPr>
          <a:xfrm>
            <a:off x="2743200" y="4260960"/>
            <a:ext cx="1365840" cy="17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FFFFFF"/>
                </a:solidFill>
                <a:effectLst/>
                <a:uFillTx/>
                <a:latin typeface="DejaVu Serif"/>
                <a:ea typeface="DejaVu Serif"/>
              </a:rPr>
              <a:t>&gt;3–6 needs revision</a:t>
            </a:r>
            <a:endParaRPr lang="de-DE" sz="800" b="0" u="none" strike="noStrike">
              <a:solidFill>
                <a:srgbClr val="FFFFFF"/>
              </a:solidFill>
              <a:effectLst/>
              <a:uFillTx/>
              <a:latin typeface="Arial"/>
            </a:endParaRPr>
          </a:p>
        </p:txBody>
      </p:sp>
      <p:sp>
        <p:nvSpPr>
          <p:cNvPr id="223" name="Shape 5"/>
          <p:cNvSpPr/>
          <p:nvPr/>
        </p:nvSpPr>
        <p:spPr>
          <a:xfrm>
            <a:off x="4187880" y="4288320"/>
            <a:ext cx="158760" cy="122400"/>
          </a:xfrm>
          <a:prstGeom prst="roundRect">
            <a:avLst>
              <a:gd name="adj" fmla="val 21429"/>
            </a:avLst>
          </a:prstGeom>
          <a:solidFill>
            <a:srgbClr val="3DA070"/>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224" name="Text 6"/>
          <p:cNvSpPr/>
          <p:nvPr/>
        </p:nvSpPr>
        <p:spPr>
          <a:xfrm>
            <a:off x="4389120" y="4260960"/>
            <a:ext cx="1182960" cy="177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FFFFFF"/>
                </a:solidFill>
                <a:effectLst/>
                <a:uFillTx/>
                <a:latin typeface="DejaVu Serif"/>
                <a:ea typeface="DejaVu Serif"/>
              </a:rPr>
              <a:t>&gt;6 acceptable</a:t>
            </a:r>
            <a:endParaRPr lang="de-DE" sz="800" b="0" u="none" strike="noStrike">
              <a:solidFill>
                <a:srgbClr val="FFFFFF"/>
              </a:solidFill>
              <a:effectLst/>
              <a:uFillTx/>
              <a:latin typeface="Arial"/>
            </a:endParaRPr>
          </a:p>
        </p:txBody>
      </p:sp>
      <p:sp>
        <p:nvSpPr>
          <p:cNvPr id="225" name="Shape 1"/>
          <p:cNvSpPr/>
          <p:nvPr/>
        </p:nvSpPr>
        <p:spPr>
          <a:xfrm>
            <a:off x="4499640" y="1260000"/>
            <a:ext cx="360" cy="2671560"/>
          </a:xfrm>
          <a:prstGeom prst="line">
            <a:avLst/>
          </a:prstGeom>
          <a:ln w="25560">
            <a:solidFill>
              <a:srgbClr val="3DA070"/>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226" name="Rechteck 5"/>
          <p:cNvSpPr/>
          <p:nvPr/>
        </p:nvSpPr>
        <p:spPr>
          <a:xfrm>
            <a:off x="598680" y="1247760"/>
            <a:ext cx="354240" cy="354240"/>
          </a:xfrm>
          <a:prstGeom prst="rect">
            <a:avLst/>
          </a:prstGeom>
          <a:solidFill>
            <a:srgbClr val="1A1A1A"/>
          </a:solidFill>
          <a:ln w="0">
            <a:solidFill>
              <a:srgbClr val="1A1A1A"/>
            </a:solidFill>
          </a:ln>
        </p:spPr>
        <p:style>
          <a:lnRef idx="0"/>
          <a:fillRef idx="0"/>
          <a:effectRef idx="0"/>
          <a:fontRef idx="minor"/>
        </p:style>
        <p:txBody>
          <a:bodyPr lIns="90000" tIns="45000" rIns="90000" bIns="45000" anchor="ctr">
            <a:noAutofit/>
          </a:bodyPr>
          <a:p>
            <a:endParaRPr lang="de-DE" sz="1800" b="0" u="none" strike="noStrike">
              <a:solidFill>
                <a:srgbClr val="FFFFFF"/>
              </a:solidFill>
              <a:effectLst/>
              <a:uFillTx/>
              <a:latin typeface="Arial"/>
            </a:endParaRPr>
          </a:p>
        </p:txBody>
      </p:sp>
      <p:pic>
        <p:nvPicPr>
          <p:cNvPr id="227" name="Grafik 5"/>
          <p:cNvPicPr/>
          <p:nvPr/>
        </p:nvPicPr>
        <p:blipFill>
          <a:blip r:embed="rId2"/>
          <a:stretch/>
        </p:blipFill>
        <p:spPr>
          <a:xfrm>
            <a:off x="761400" y="1468080"/>
            <a:ext cx="174240" cy="94680"/>
          </a:xfrm>
          <a:prstGeom prst="rect">
            <a:avLst/>
          </a:prstGeom>
          <a:noFill/>
          <a:ln w="0">
            <a:noFill/>
          </a:ln>
        </p:spPr>
      </p:pic>
      <p:sp>
        <p:nvSpPr>
          <p:cNvPr id="228" name="TextBox 259"/>
          <p:cNvSpPr/>
          <p:nvPr/>
        </p:nvSpPr>
        <p:spPr>
          <a:xfrm>
            <a:off x="4115160" y="1005840"/>
            <a:ext cx="1185480" cy="13680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900" b="0" u="none" strike="noStrike">
                <a:solidFill>
                  <a:srgbClr val="2EBD8F"/>
                </a:solidFill>
                <a:effectLst/>
                <a:uFillTx/>
                <a:latin typeface="DejaVu Serif"/>
                <a:ea typeface="DejaVu Sans"/>
              </a:rPr>
              <a:t>Acceptable (&gt; 6)</a:t>
            </a:r>
            <a:endParaRPr lang="de-DE" sz="900" b="0" u="none" strike="noStrike">
              <a:solidFill>
                <a:srgbClr val="FFFFFF"/>
              </a:solidFill>
              <a:effectLst/>
              <a:uFillTx/>
              <a:latin typeface="Arial"/>
            </a:endParaRPr>
          </a:p>
        </p:txBody>
      </p:sp>
      <p:sp>
        <p:nvSpPr>
          <p:cNvPr id="229" name="TextBox 260"/>
          <p:cNvSpPr/>
          <p:nvPr/>
        </p:nvSpPr>
        <p:spPr>
          <a:xfrm>
            <a:off x="5669640" y="3665520"/>
            <a:ext cx="3014280" cy="167040"/>
          </a:xfrm>
          <a:prstGeom prst="rect">
            <a:avLst/>
          </a:prstGeom>
          <a:noFill/>
          <a:ln w="0">
            <a:noFill/>
          </a:ln>
        </p:spPr>
        <p:style>
          <a:lnRef idx="0"/>
          <a:fillRef idx="0"/>
          <a:effectRef idx="0"/>
          <a:fontRef idx="minor"/>
        </p:style>
        <p:txBody>
          <a:bodyPr lIns="0" tIns="0" rIns="0" bIns="0" anchor="ctr">
            <a:spAutoFit/>
          </a:bodyPr>
          <a:p>
            <a:pPr algn="ctr">
              <a:lnSpc>
                <a:spcPct val="100000"/>
              </a:lnSpc>
            </a:pPr>
            <a:r>
              <a:rPr lang="de-DE" sz="1100" b="0" u="none" strike="noStrike">
                <a:solidFill>
                  <a:srgbClr val="FFFFFF"/>
                </a:solidFill>
                <a:effectLst/>
                <a:uFillTx/>
                <a:latin typeface="DejaVu Serif"/>
                <a:ea typeface="DejaVu Sans"/>
              </a:rPr>
              <a:t>+ </a:t>
            </a:r>
            <a:r>
              <a:rPr lang="de-DE" sz="900" b="0" u="none" strike="noStrike">
                <a:solidFill>
                  <a:srgbClr val="FFFFFF"/>
                </a:solidFill>
                <a:effectLst/>
                <a:uFillTx/>
                <a:latin typeface="DejaVu Serif"/>
                <a:ea typeface="DejaVu Sans"/>
              </a:rPr>
              <a:t>acceptable   </a:t>
            </a:r>
            <a:r>
              <a:rPr lang="de-DE" sz="1100" b="0" u="none" strike="noStrike">
                <a:solidFill>
                  <a:srgbClr val="FFFFFF"/>
                </a:solidFill>
                <a:effectLst/>
                <a:uFillTx/>
                <a:latin typeface="DejaVu Serif"/>
                <a:ea typeface="DejaVu Sans"/>
              </a:rPr>
              <a:t>o </a:t>
            </a:r>
            <a:r>
              <a:rPr lang="de-DE" sz="900" b="0" u="none" strike="noStrike">
                <a:solidFill>
                  <a:srgbClr val="FFFFFF"/>
                </a:solidFill>
                <a:effectLst/>
                <a:uFillTx/>
                <a:latin typeface="DejaVu Serif"/>
                <a:ea typeface="DejaVu Sans"/>
              </a:rPr>
              <a:t>needs revision   </a:t>
            </a:r>
            <a:r>
              <a:rPr lang="de-DE" sz="1100" b="0" u="none" strike="noStrike">
                <a:solidFill>
                  <a:srgbClr val="FFFFFF"/>
                </a:solidFill>
                <a:effectLst/>
                <a:uFillTx/>
                <a:latin typeface="DejaVu Serif"/>
                <a:ea typeface="DejaVu Sans"/>
              </a:rPr>
              <a:t>− </a:t>
            </a:r>
            <a:r>
              <a:rPr lang="de-DE" sz="900" b="0" u="none" strike="noStrike">
                <a:solidFill>
                  <a:srgbClr val="FFFFFF"/>
                </a:solidFill>
                <a:effectLst/>
                <a:uFillTx/>
                <a:latin typeface="DejaVu Serif"/>
                <a:ea typeface="DejaVu Sans"/>
              </a:rPr>
              <a:t>not usable</a:t>
            </a:r>
            <a:endParaRPr lang="de-DE"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249" dur="indefinite" restart="never" nodeType="tmRoot">
          <p:childTnLst>
            <p:seq>
              <p:cTn id="250" dur="indefinite" nodeType="mainSeq">
                <p:childTnLst>
                  <p:par>
                    <p:cTn id="251" fill="hold">
                      <p:stCondLst>
                        <p:cond delay="indefinite"/>
                      </p:stCondLst>
                      <p:childTnLst>
                        <p:par>
                          <p:cTn id="252" fill="hold">
                            <p:stCondLst>
                              <p:cond delay="0"/>
                            </p:stCondLst>
                            <p:childTnLst>
                              <p:par>
                                <p:cTn id="253" presetID="1" presetClass="entr" fill="hold" nodeType="clickEffect">
                                  <p:stCondLst>
                                    <p:cond delay="0"/>
                                  </p:stCondLst>
                                  <p:childTnLst>
                                    <p:set>
                                      <p:cBhvr>
                                        <p:cTn id="254" dur="1" fill="hold">
                                          <p:stCondLst>
                                            <p:cond delay="0"/>
                                          </p:stCondLst>
                                        </p:cTn>
                                        <p:tgtEl>
                                          <p:spTgt spid="212"/>
                                        </p:tgtEl>
                                        <p:attrNameLst>
                                          <p:attrName>style.visibility</p:attrName>
                                        </p:attrNameLst>
                                      </p:cBhvr>
                                      <p:to>
                                        <p:strVal val="visible"/>
                                      </p:to>
                                    </p:set>
                                  </p:childTnLst>
                                </p:cTn>
                              </p:par>
                              <p:par>
                                <p:cTn id="255" presetID="1" presetClass="entr" fill="hold" nodeType="withEffect">
                                  <p:stCondLst>
                                    <p:cond delay="0"/>
                                  </p:stCondLst>
                                  <p:childTnLst>
                                    <p:set>
                                      <p:cBhvr>
                                        <p:cTn id="256" dur="1" fill="hold">
                                          <p:stCondLst>
                                            <p:cond delay="0"/>
                                          </p:stCondLst>
                                        </p:cTn>
                                        <p:tgtEl>
                                          <p:spTgt spid="213"/>
                                        </p:tgtEl>
                                        <p:attrNameLst>
                                          <p:attrName>style.visibility</p:attrName>
                                        </p:attrNameLst>
                                      </p:cBhvr>
                                      <p:to>
                                        <p:strVal val="visible"/>
                                      </p:to>
                                    </p:set>
                                  </p:childTnLst>
                                </p:cTn>
                              </p:par>
                              <p:par>
                                <p:cTn id="257" presetID="1" presetClass="entr" fill="hold" nodeType="withEffect">
                                  <p:stCondLst>
                                    <p:cond delay="0"/>
                                  </p:stCondLst>
                                  <p:childTnLst>
                                    <p:set>
                                      <p:cBhvr>
                                        <p:cTn id="258" dur="1" fill="hold">
                                          <p:stCondLst>
                                            <p:cond delay="0"/>
                                          </p:stCondLst>
                                        </p:cTn>
                                        <p:tgtEl>
                                          <p:spTgt spid="214"/>
                                        </p:tgtEl>
                                        <p:attrNameLst>
                                          <p:attrName>style.visibility</p:attrName>
                                        </p:attrNameLst>
                                      </p:cBhvr>
                                      <p:to>
                                        <p:strVal val="visible"/>
                                      </p:to>
                                    </p:set>
                                  </p:childTnLst>
                                </p:cTn>
                              </p:par>
                              <p:par>
                                <p:cTn id="259" presetID="1" presetClass="entr" fill="hold" nodeType="withEffect">
                                  <p:stCondLst>
                                    <p:cond delay="0"/>
                                  </p:stCondLst>
                                  <p:childTnLst>
                                    <p:set>
                                      <p:cBhvr>
                                        <p:cTn id="260"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230"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Technology assists — </a:t>
            </a:r>
            <a:r>
              <a:rPr lang="en-US" sz="2400" b="1" u="none" strike="noStrike">
                <a:solidFill>
                  <a:schemeClr val="lt1"/>
                </a:solidFill>
                <a:effectLst/>
                <a:uFillTx/>
                <a:latin typeface="DejaVu Serif"/>
                <a:ea typeface="DejaVu Serif"/>
              </a:rPr>
              <a:t>but doesn't yet replace a clinician's pen</a:t>
            </a:r>
            <a:endParaRPr lang="de-DE" sz="2400" b="0" u="none" strike="noStrike">
              <a:solidFill>
                <a:srgbClr val="FFFFFF"/>
              </a:solidFill>
              <a:effectLst/>
              <a:uFillTx/>
              <a:latin typeface="Arial"/>
            </a:endParaRPr>
          </a:p>
        </p:txBody>
      </p:sp>
      <p:sp>
        <p:nvSpPr>
          <p:cNvPr id="231" name="Shape 1"/>
          <p:cNvSpPr/>
          <p:nvPr/>
        </p:nvSpPr>
        <p:spPr>
          <a:xfrm>
            <a:off x="457200" y="1188720"/>
            <a:ext cx="3925800" cy="2645640"/>
          </a:xfrm>
          <a:prstGeom prst="roundRect">
            <a:avLst>
              <a:gd name="adj" fmla="val 5172"/>
            </a:avLst>
          </a:prstGeom>
          <a:solidFill>
            <a:srgbClr val="3A2510"/>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232" name="Text 2"/>
          <p:cNvSpPr/>
          <p:nvPr/>
        </p:nvSpPr>
        <p:spPr>
          <a:xfrm>
            <a:off x="640080" y="1325880"/>
            <a:ext cx="2737080" cy="268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5429"/>
                </a:solidFill>
                <a:effectLst/>
                <a:uFillTx/>
                <a:latin typeface="DejaVu Serif"/>
                <a:ea typeface="DejaVu Serif"/>
              </a:rPr>
              <a:t>Winners</a:t>
            </a:r>
            <a:endParaRPr lang="de-DE" sz="1300" b="0" u="none" strike="noStrike">
              <a:solidFill>
                <a:srgbClr val="FFFFFF"/>
              </a:solidFill>
              <a:effectLst/>
              <a:uFillTx/>
              <a:latin typeface="Arial"/>
            </a:endParaRPr>
          </a:p>
        </p:txBody>
      </p:sp>
      <p:sp>
        <p:nvSpPr>
          <p:cNvPr id="233" name="Text 3"/>
          <p:cNvSpPr/>
          <p:nvPr/>
        </p:nvSpPr>
        <p:spPr>
          <a:xfrm>
            <a:off x="640080" y="1645920"/>
            <a:ext cx="3560040" cy="405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DejaVu Serif"/>
              </a:rPr>
              <a:t>Assembly &amp; GPT-4o</a:t>
            </a:r>
            <a:endParaRPr lang="de-DE" sz="1600" b="0" u="none" strike="noStrike">
              <a:solidFill>
                <a:srgbClr val="FFFFFF"/>
              </a:solidFill>
              <a:effectLst/>
              <a:uFillTx/>
              <a:latin typeface="Arial"/>
            </a:endParaRPr>
          </a:p>
        </p:txBody>
      </p:sp>
      <p:sp>
        <p:nvSpPr>
          <p:cNvPr id="234" name="Text 4"/>
          <p:cNvSpPr/>
          <p:nvPr/>
        </p:nvSpPr>
        <p:spPr>
          <a:xfrm>
            <a:off x="640080" y="2240280"/>
            <a:ext cx="356004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E8E8E8"/>
                </a:solidFill>
                <a:effectLst/>
                <a:uFillTx/>
                <a:latin typeface="DejaVu Serif"/>
                <a:ea typeface="DejaVu Serif"/>
              </a:rPr>
              <a:t>+</a:t>
            </a:r>
            <a:r>
              <a:rPr lang="en-US" sz="1300" b="0" u="none" strike="noStrike">
                <a:solidFill>
                  <a:srgbClr val="E8E8E8"/>
                </a:solidFill>
                <a:effectLst/>
                <a:uFillTx/>
                <a:latin typeface="DejaVu Serif"/>
                <a:ea typeface="DejaVu Serif"/>
              </a:rPr>
              <a:t>  Lowest WER (8.9 %)</a:t>
            </a:r>
            <a:endParaRPr lang="de-DE" sz="1300" b="0" u="none" strike="noStrike">
              <a:solidFill>
                <a:srgbClr val="FFFFFF"/>
              </a:solidFill>
              <a:effectLst/>
              <a:uFillTx/>
              <a:latin typeface="Arial"/>
            </a:endParaRPr>
          </a:p>
        </p:txBody>
      </p:sp>
      <p:sp>
        <p:nvSpPr>
          <p:cNvPr id="235" name="Text 5"/>
          <p:cNvSpPr/>
          <p:nvPr/>
        </p:nvSpPr>
        <p:spPr>
          <a:xfrm>
            <a:off x="640080" y="2606040"/>
            <a:ext cx="356004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E8E8E8"/>
                </a:solidFill>
                <a:effectLst/>
                <a:uFillTx/>
                <a:latin typeface="DejaVu Serif"/>
                <a:ea typeface="DejaVu Serif"/>
              </a:rPr>
              <a:t>+</a:t>
            </a:r>
            <a:r>
              <a:rPr lang="en-US" sz="1300" b="0" u="none" strike="noStrike">
                <a:solidFill>
                  <a:srgbClr val="E8E8E8"/>
                </a:solidFill>
                <a:effectLst/>
                <a:uFillTx/>
                <a:latin typeface="DejaVu Serif"/>
                <a:ea typeface="DejaVu Serif"/>
              </a:rPr>
              <a:t>  Lowest hallucination rate (0.0 %)</a:t>
            </a:r>
            <a:endParaRPr lang="de-DE" sz="1300" b="0" u="none" strike="noStrike">
              <a:solidFill>
                <a:srgbClr val="FFFFFF"/>
              </a:solidFill>
              <a:effectLst/>
              <a:uFillTx/>
              <a:latin typeface="Arial"/>
            </a:endParaRPr>
          </a:p>
        </p:txBody>
      </p:sp>
      <p:sp>
        <p:nvSpPr>
          <p:cNvPr id="236" name="Text 6"/>
          <p:cNvSpPr/>
          <p:nvPr/>
        </p:nvSpPr>
        <p:spPr>
          <a:xfrm>
            <a:off x="640080" y="2971800"/>
            <a:ext cx="356004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E8E8E8"/>
                </a:solidFill>
                <a:effectLst/>
                <a:uFillTx/>
                <a:latin typeface="DejaVu Serif"/>
                <a:ea typeface="DejaVu Serif"/>
              </a:rPr>
              <a:t>+</a:t>
            </a:r>
            <a:r>
              <a:rPr lang="en-US" sz="1300" b="0" u="none" strike="noStrike">
                <a:solidFill>
                  <a:srgbClr val="E8E8E8"/>
                </a:solidFill>
                <a:effectLst/>
                <a:uFillTx/>
                <a:latin typeface="DejaVu Serif"/>
                <a:ea typeface="DejaVu Serif"/>
              </a:rPr>
              <a:t>  Best SOAP score (4.4 / 8)</a:t>
            </a:r>
            <a:endParaRPr lang="de-DE" sz="1300" b="0" u="none" strike="noStrike">
              <a:solidFill>
                <a:srgbClr val="FFFFFF"/>
              </a:solidFill>
              <a:effectLst/>
              <a:uFillTx/>
              <a:latin typeface="Arial"/>
            </a:endParaRPr>
          </a:p>
        </p:txBody>
      </p:sp>
      <p:sp>
        <p:nvSpPr>
          <p:cNvPr id="237" name="Shape 7"/>
          <p:cNvSpPr/>
          <p:nvPr/>
        </p:nvSpPr>
        <p:spPr>
          <a:xfrm>
            <a:off x="4754880" y="1188720"/>
            <a:ext cx="3925800" cy="2645640"/>
          </a:xfrm>
          <a:prstGeom prst="roundRect">
            <a:avLst>
              <a:gd name="adj" fmla="val 5172"/>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chemeClr val="dk1"/>
              </a:solidFill>
              <a:effectLst/>
              <a:uFillTx/>
              <a:latin typeface="Calibri"/>
            </a:endParaRPr>
          </a:p>
        </p:txBody>
      </p:sp>
      <p:sp>
        <p:nvSpPr>
          <p:cNvPr id="238" name="Text 8"/>
          <p:cNvSpPr/>
          <p:nvPr/>
        </p:nvSpPr>
        <p:spPr>
          <a:xfrm>
            <a:off x="4937760" y="1325880"/>
            <a:ext cx="2737080" cy="268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5429"/>
                </a:solidFill>
                <a:effectLst/>
                <a:uFillTx/>
                <a:latin typeface="DejaVu Serif"/>
                <a:ea typeface="DejaVu Serif"/>
              </a:rPr>
              <a:t>But</a:t>
            </a:r>
            <a:endParaRPr lang="de-DE" sz="1300" b="0" u="none" strike="noStrike">
              <a:solidFill>
                <a:srgbClr val="FFFFFF"/>
              </a:solidFill>
              <a:effectLst/>
              <a:uFillTx/>
              <a:latin typeface="Arial"/>
            </a:endParaRPr>
          </a:p>
        </p:txBody>
      </p:sp>
      <p:sp>
        <p:nvSpPr>
          <p:cNvPr id="239" name="Text 9"/>
          <p:cNvSpPr/>
          <p:nvPr/>
        </p:nvSpPr>
        <p:spPr>
          <a:xfrm>
            <a:off x="4937760" y="1645920"/>
            <a:ext cx="3560040" cy="405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DejaVu Serif"/>
              </a:rPr>
              <a:t>Still not clinically usable</a:t>
            </a:r>
            <a:endParaRPr lang="de-DE" sz="1600" b="0" u="none" strike="noStrike">
              <a:solidFill>
                <a:srgbClr val="FFFFFF"/>
              </a:solidFill>
              <a:effectLst/>
              <a:uFillTx/>
              <a:latin typeface="Arial"/>
            </a:endParaRPr>
          </a:p>
        </p:txBody>
      </p:sp>
      <p:sp>
        <p:nvSpPr>
          <p:cNvPr id="240" name="Text 10"/>
          <p:cNvSpPr/>
          <p:nvPr/>
        </p:nvSpPr>
        <p:spPr>
          <a:xfrm>
            <a:off x="4937760" y="2240280"/>
            <a:ext cx="356004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E8E8E8"/>
                </a:solidFill>
                <a:effectLst/>
                <a:uFillTx/>
                <a:latin typeface="DejaVu Serif"/>
                <a:ea typeface="DejaVu Serif"/>
              </a:rPr>
              <a:t>-</a:t>
            </a:r>
            <a:r>
              <a:rPr lang="en-US" sz="1300" b="0" u="none" strike="noStrike">
                <a:solidFill>
                  <a:srgbClr val="E8E8E8"/>
                </a:solidFill>
                <a:effectLst/>
                <a:uFillTx/>
                <a:latin typeface="DejaVu Serif"/>
                <a:ea typeface="DejaVu Serif"/>
              </a:rPr>
              <a:t>  Zero runs reached 'acceptable'</a:t>
            </a:r>
            <a:endParaRPr lang="de-DE" sz="1300" b="0" u="none" strike="noStrike">
              <a:solidFill>
                <a:srgbClr val="FFFFFF"/>
              </a:solidFill>
              <a:effectLst/>
              <a:uFillTx/>
              <a:latin typeface="Arial"/>
            </a:endParaRPr>
          </a:p>
        </p:txBody>
      </p:sp>
      <p:sp>
        <p:nvSpPr>
          <p:cNvPr id="241" name="Text 11"/>
          <p:cNvSpPr/>
          <p:nvPr/>
        </p:nvSpPr>
        <p:spPr>
          <a:xfrm>
            <a:off x="4937760" y="2606040"/>
            <a:ext cx="356004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E8E8E8"/>
                </a:solidFill>
                <a:effectLst/>
                <a:uFillTx/>
                <a:latin typeface="DejaVu Serif"/>
                <a:ea typeface="DejaVu Serif"/>
              </a:rPr>
              <a:t>-</a:t>
            </a:r>
            <a:r>
              <a:rPr lang="en-US" sz="1300" b="0" u="none" strike="noStrike">
                <a:solidFill>
                  <a:srgbClr val="E8E8E8"/>
                </a:solidFill>
                <a:effectLst/>
                <a:uFillTx/>
                <a:latin typeface="DejaVu Serif"/>
                <a:ea typeface="DejaVu Serif"/>
              </a:rPr>
              <a:t>  Plan section averaged 0.1 / 2</a:t>
            </a:r>
            <a:endParaRPr lang="de-DE" sz="1300" b="0" u="none" strike="noStrike">
              <a:solidFill>
                <a:srgbClr val="FFFFFF"/>
              </a:solidFill>
              <a:effectLst/>
              <a:uFillTx/>
              <a:latin typeface="Arial"/>
            </a:endParaRPr>
          </a:p>
        </p:txBody>
      </p:sp>
      <p:sp>
        <p:nvSpPr>
          <p:cNvPr id="242" name="Text 12"/>
          <p:cNvSpPr/>
          <p:nvPr/>
        </p:nvSpPr>
        <p:spPr>
          <a:xfrm>
            <a:off x="4937760" y="2971800"/>
            <a:ext cx="356004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E8E8E8"/>
                </a:solidFill>
                <a:effectLst/>
                <a:uFillTx/>
                <a:latin typeface="DejaVu Serif"/>
                <a:ea typeface="DejaVu Serif"/>
              </a:rPr>
              <a:t>-</a:t>
            </a:r>
            <a:r>
              <a:rPr lang="en-US" sz="1300" b="0" u="none" strike="noStrike">
                <a:solidFill>
                  <a:srgbClr val="E8E8E8"/>
                </a:solidFill>
                <a:effectLst/>
                <a:uFillTx/>
                <a:latin typeface="DejaVu Serif"/>
                <a:ea typeface="DejaVu Serif"/>
              </a:rPr>
              <a:t>  Performance collapses with bad audio</a:t>
            </a:r>
            <a:endParaRPr lang="de-DE" sz="1300" b="0" u="none" strike="noStrike">
              <a:solidFill>
                <a:srgbClr val="FFFFFF"/>
              </a:solidFill>
              <a:effectLst/>
              <a:uFillTx/>
              <a:latin typeface="Arial"/>
            </a:endParaRPr>
          </a:p>
        </p:txBody>
      </p:sp>
      <p:sp>
        <p:nvSpPr>
          <p:cNvPr id="243" name="Text 13"/>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244" name="Text 14"/>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14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261" dur="indefinite" restart="never" nodeType="tmRoot">
          <p:childTnLst>
            <p:seq>
              <p:cTn id="262" dur="indefinite" nodeType="mainSeq">
                <p:childTnLst>
                  <p:par>
                    <p:cTn id="263" fill="hold">
                      <p:stCondLst>
                        <p:cond delay="indefinite"/>
                      </p:stCondLst>
                      <p:childTnLst>
                        <p:par>
                          <p:cTn id="264" fill="hold">
                            <p:stCondLst>
                              <p:cond delay="0"/>
                            </p:stCondLst>
                            <p:childTnLst>
                              <p:par>
                                <p:cTn id="265" presetID="1" presetClass="entr" fill="hold" nodeType="clickEffect">
                                  <p:stCondLst>
                                    <p:cond delay="0"/>
                                  </p:stCondLst>
                                  <p:childTnLst>
                                    <p:set>
                                      <p:cBhvr>
                                        <p:cTn id="266" dur="1" fill="hold">
                                          <p:stCondLst>
                                            <p:cond delay="0"/>
                                          </p:stCondLst>
                                        </p:cTn>
                                        <p:tgtEl>
                                          <p:spTgt spid="237"/>
                                        </p:tgtEl>
                                        <p:attrNameLst>
                                          <p:attrName>style.visibility</p:attrName>
                                        </p:attrNameLst>
                                      </p:cBhvr>
                                      <p:to>
                                        <p:strVal val="visible"/>
                                      </p:to>
                                    </p:set>
                                  </p:childTnLst>
                                </p:cTn>
                              </p:par>
                              <p:par>
                                <p:cTn id="267" presetID="1" presetClass="entr" fill="hold" nodeType="withEffect">
                                  <p:stCondLst>
                                    <p:cond delay="0"/>
                                  </p:stCondLst>
                                  <p:childTnLst>
                                    <p:set>
                                      <p:cBhvr>
                                        <p:cTn id="268" dur="1" fill="hold">
                                          <p:stCondLst>
                                            <p:cond delay="0"/>
                                          </p:stCondLst>
                                        </p:cTn>
                                        <p:tgtEl>
                                          <p:spTgt spid="238"/>
                                        </p:tgtEl>
                                        <p:attrNameLst>
                                          <p:attrName>style.visibility</p:attrName>
                                        </p:attrNameLst>
                                      </p:cBhvr>
                                      <p:to>
                                        <p:strVal val="visible"/>
                                      </p:to>
                                    </p:set>
                                  </p:childTnLst>
                                </p:cTn>
                              </p:par>
                              <p:par>
                                <p:cTn id="269" presetID="1" presetClass="entr" fill="hold" nodeType="withEffect">
                                  <p:stCondLst>
                                    <p:cond delay="0"/>
                                  </p:stCondLst>
                                  <p:childTnLst>
                                    <p:set>
                                      <p:cBhvr>
                                        <p:cTn id="270" dur="1" fill="hold">
                                          <p:stCondLst>
                                            <p:cond delay="0"/>
                                          </p:stCondLst>
                                        </p:cTn>
                                        <p:tgtEl>
                                          <p:spTgt spid="239"/>
                                        </p:tgtEl>
                                        <p:attrNameLst>
                                          <p:attrName>style.visibility</p:attrName>
                                        </p:attrNameLst>
                                      </p:cBhvr>
                                      <p:to>
                                        <p:strVal val="visible"/>
                                      </p:to>
                                    </p:set>
                                  </p:childTnLst>
                                </p:cTn>
                              </p:par>
                              <p:par>
                                <p:cTn id="271" presetID="1" presetClass="entr" fill="hold" nodeType="withEffect">
                                  <p:stCondLst>
                                    <p:cond delay="0"/>
                                  </p:stCondLst>
                                  <p:childTnLst>
                                    <p:set>
                                      <p:cBhvr>
                                        <p:cTn id="272" dur="1" fill="hold">
                                          <p:stCondLst>
                                            <p:cond delay="0"/>
                                          </p:stCondLst>
                                        </p:cTn>
                                        <p:tgtEl>
                                          <p:spTgt spid="240"/>
                                        </p:tgtEl>
                                        <p:attrNameLst>
                                          <p:attrName>style.visibility</p:attrName>
                                        </p:attrNameLst>
                                      </p:cBhvr>
                                      <p:to>
                                        <p:strVal val="visible"/>
                                      </p:to>
                                    </p:set>
                                  </p:childTnLst>
                                </p:cTn>
                              </p:par>
                              <p:par>
                                <p:cTn id="273" presetID="1" presetClass="entr" fill="hold" nodeType="withEffect">
                                  <p:stCondLst>
                                    <p:cond delay="0"/>
                                  </p:stCondLst>
                                  <p:childTnLst>
                                    <p:set>
                                      <p:cBhvr>
                                        <p:cTn id="274" dur="1" fill="hold">
                                          <p:stCondLst>
                                            <p:cond delay="0"/>
                                          </p:stCondLst>
                                        </p:cTn>
                                        <p:tgtEl>
                                          <p:spTgt spid="241"/>
                                        </p:tgtEl>
                                        <p:attrNameLst>
                                          <p:attrName>style.visibility</p:attrName>
                                        </p:attrNameLst>
                                      </p:cBhvr>
                                      <p:to>
                                        <p:strVal val="visible"/>
                                      </p:to>
                                    </p:set>
                                  </p:childTnLst>
                                </p:cTn>
                              </p:par>
                              <p:par>
                                <p:cTn id="275" presetID="1" presetClass="entr" fill="hold" nodeType="withEffect">
                                  <p:stCondLst>
                                    <p:cond delay="0"/>
                                  </p:stCondLst>
                                  <p:childTnLst>
                                    <p:set>
                                      <p:cBhvr>
                                        <p:cTn id="276"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245"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What we deliberately left out</a:t>
            </a:r>
            <a:endParaRPr lang="de-DE" sz="2400" b="0" u="none" strike="noStrike">
              <a:solidFill>
                <a:srgbClr val="FFFFFF"/>
              </a:solidFill>
              <a:effectLst/>
              <a:uFillTx/>
              <a:latin typeface="Arial"/>
            </a:endParaRPr>
          </a:p>
        </p:txBody>
      </p:sp>
      <p:sp>
        <p:nvSpPr>
          <p:cNvPr id="246" name="Shape 1"/>
          <p:cNvSpPr/>
          <p:nvPr/>
        </p:nvSpPr>
        <p:spPr>
          <a:xfrm>
            <a:off x="411480" y="1280160"/>
            <a:ext cx="2645640" cy="2554200"/>
          </a:xfrm>
          <a:prstGeom prst="roundRect">
            <a:avLst>
              <a:gd name="adj" fmla="val 5357"/>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247" name="Shape 2"/>
          <p:cNvSpPr/>
          <p:nvPr/>
        </p:nvSpPr>
        <p:spPr>
          <a:xfrm>
            <a:off x="411480" y="1280160"/>
            <a:ext cx="66960" cy="2554200"/>
          </a:xfrm>
          <a:prstGeom prst="roundRect">
            <a:avLst>
              <a:gd name="adj" fmla="val 16667"/>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248" name="Text 3"/>
          <p:cNvSpPr/>
          <p:nvPr/>
        </p:nvSpPr>
        <p:spPr>
          <a:xfrm>
            <a:off x="640080" y="1463040"/>
            <a:ext cx="542520" cy="45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0" u="none" strike="noStrike">
                <a:solidFill>
                  <a:srgbClr val="000000"/>
                </a:solidFill>
                <a:effectLst/>
                <a:uFillTx/>
                <a:latin typeface="Calibri"/>
                <a:ea typeface="DejaVu Sans"/>
              </a:rPr>
              <a:t>⏱</a:t>
            </a:r>
            <a:endParaRPr lang="de-DE" sz="2400" b="0" u="none" strike="noStrike">
              <a:solidFill>
                <a:srgbClr val="FFFFFF"/>
              </a:solidFill>
              <a:effectLst/>
              <a:uFillTx/>
              <a:latin typeface="Arial"/>
            </a:endParaRPr>
          </a:p>
        </p:txBody>
      </p:sp>
      <p:sp>
        <p:nvSpPr>
          <p:cNvPr id="249" name="Text 4"/>
          <p:cNvSpPr/>
          <p:nvPr/>
        </p:nvSpPr>
        <p:spPr>
          <a:xfrm>
            <a:off x="640080" y="2011680"/>
            <a:ext cx="2279880" cy="359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DejaVu Serif"/>
              </a:rPr>
              <a:t>No real-time mode</a:t>
            </a:r>
            <a:endParaRPr lang="de-DE" sz="1600" b="0" u="none" strike="noStrike">
              <a:solidFill>
                <a:srgbClr val="FFFFFF"/>
              </a:solidFill>
              <a:effectLst/>
              <a:uFillTx/>
              <a:latin typeface="Arial"/>
            </a:endParaRPr>
          </a:p>
        </p:txBody>
      </p:sp>
      <p:sp>
        <p:nvSpPr>
          <p:cNvPr id="250" name="Text 5"/>
          <p:cNvSpPr/>
          <p:nvPr/>
        </p:nvSpPr>
        <p:spPr>
          <a:xfrm>
            <a:off x="640080" y="2514600"/>
            <a:ext cx="2279880" cy="10911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1300" b="0" u="none" strike="noStrike">
                <a:solidFill>
                  <a:srgbClr val="FFFFFF"/>
                </a:solidFill>
                <a:effectLst/>
                <a:uFillTx/>
                <a:latin typeface="DejaVu Serif"/>
                <a:ea typeface="DejaVu Serif"/>
              </a:rPr>
              <a:t>Quality first, speed next</a:t>
            </a:r>
            <a:endParaRPr lang="de-DE" sz="1300" b="0" u="none" strike="noStrike">
              <a:solidFill>
                <a:srgbClr val="FFFFFF"/>
              </a:solidFill>
              <a:effectLst/>
              <a:uFillTx/>
              <a:latin typeface="Arial"/>
            </a:endParaRPr>
          </a:p>
        </p:txBody>
      </p:sp>
      <p:sp>
        <p:nvSpPr>
          <p:cNvPr id="251" name="Shape 6"/>
          <p:cNvSpPr/>
          <p:nvPr/>
        </p:nvSpPr>
        <p:spPr>
          <a:xfrm>
            <a:off x="3246120" y="1280160"/>
            <a:ext cx="2645640" cy="2554200"/>
          </a:xfrm>
          <a:prstGeom prst="roundRect">
            <a:avLst>
              <a:gd name="adj" fmla="val 5357"/>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252" name="Shape 7"/>
          <p:cNvSpPr/>
          <p:nvPr/>
        </p:nvSpPr>
        <p:spPr>
          <a:xfrm>
            <a:off x="3246120" y="1280160"/>
            <a:ext cx="66960" cy="2554200"/>
          </a:xfrm>
          <a:prstGeom prst="roundRect">
            <a:avLst>
              <a:gd name="adj" fmla="val 16667"/>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253" name="Text 8"/>
          <p:cNvSpPr/>
          <p:nvPr/>
        </p:nvSpPr>
        <p:spPr>
          <a:xfrm>
            <a:off x="3474720" y="1463040"/>
            <a:ext cx="542520" cy="45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0" u="none" strike="noStrike">
                <a:solidFill>
                  <a:srgbClr val="000000"/>
                </a:solidFill>
                <a:effectLst/>
                <a:uFillTx/>
                <a:latin typeface="Calibri"/>
                <a:ea typeface="DejaVu Sans"/>
              </a:rPr>
              <a:t>🔄</a:t>
            </a:r>
            <a:endParaRPr lang="de-DE" sz="2400" b="0" u="none" strike="noStrike">
              <a:solidFill>
                <a:srgbClr val="FFFFFF"/>
              </a:solidFill>
              <a:effectLst/>
              <a:uFillTx/>
              <a:latin typeface="Arial"/>
            </a:endParaRPr>
          </a:p>
        </p:txBody>
      </p:sp>
      <p:sp>
        <p:nvSpPr>
          <p:cNvPr id="254" name="Text 9"/>
          <p:cNvSpPr/>
          <p:nvPr/>
        </p:nvSpPr>
        <p:spPr>
          <a:xfrm>
            <a:off x="3474720" y="2011680"/>
            <a:ext cx="2279880" cy="359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DejaVu Serif"/>
              </a:rPr>
              <a:t>No prompt iteration</a:t>
            </a:r>
            <a:endParaRPr lang="de-DE" sz="1600" b="0" u="none" strike="noStrike">
              <a:solidFill>
                <a:srgbClr val="FFFFFF"/>
              </a:solidFill>
              <a:effectLst/>
              <a:uFillTx/>
              <a:latin typeface="Arial"/>
            </a:endParaRPr>
          </a:p>
        </p:txBody>
      </p:sp>
      <p:sp>
        <p:nvSpPr>
          <p:cNvPr id="255" name="Text 10"/>
          <p:cNvSpPr/>
          <p:nvPr/>
        </p:nvSpPr>
        <p:spPr>
          <a:xfrm>
            <a:off x="3474720" y="2514600"/>
            <a:ext cx="2279880" cy="10911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1300" b="0" u="none" strike="noStrike">
                <a:solidFill>
                  <a:srgbClr val="FFFFFF"/>
                </a:solidFill>
                <a:effectLst/>
                <a:uFillTx/>
                <a:latin typeface="DejaVu Serif"/>
                <a:ea typeface="DejaVu Serif"/>
              </a:rPr>
              <a:t>Fair comparison, untapped potential</a:t>
            </a:r>
            <a:endParaRPr lang="de-DE" sz="1300" b="0" u="none" strike="noStrike">
              <a:solidFill>
                <a:srgbClr val="FFFFFF"/>
              </a:solidFill>
              <a:effectLst/>
              <a:uFillTx/>
              <a:latin typeface="Arial"/>
            </a:endParaRPr>
          </a:p>
        </p:txBody>
      </p:sp>
      <p:sp>
        <p:nvSpPr>
          <p:cNvPr id="256" name="Shape 11"/>
          <p:cNvSpPr/>
          <p:nvPr/>
        </p:nvSpPr>
        <p:spPr>
          <a:xfrm>
            <a:off x="6120000" y="1280160"/>
            <a:ext cx="2645640" cy="2554200"/>
          </a:xfrm>
          <a:prstGeom prst="roundRect">
            <a:avLst>
              <a:gd name="adj" fmla="val 5357"/>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257" name="Shape 12"/>
          <p:cNvSpPr/>
          <p:nvPr/>
        </p:nvSpPr>
        <p:spPr>
          <a:xfrm>
            <a:off x="6080760" y="1280160"/>
            <a:ext cx="66960" cy="2554200"/>
          </a:xfrm>
          <a:prstGeom prst="roundRect">
            <a:avLst>
              <a:gd name="adj" fmla="val 16667"/>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258" name="Text 13"/>
          <p:cNvSpPr/>
          <p:nvPr/>
        </p:nvSpPr>
        <p:spPr>
          <a:xfrm>
            <a:off x="6309360" y="1463040"/>
            <a:ext cx="542520" cy="451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endParaRPr lang="de-DE" sz="1800" b="0" u="none" strike="noStrike">
              <a:solidFill>
                <a:srgbClr val="FFFFFF"/>
              </a:solidFill>
              <a:effectLst/>
              <a:uFillTx/>
              <a:latin typeface="Arial"/>
            </a:endParaRPr>
          </a:p>
        </p:txBody>
      </p:sp>
      <p:sp>
        <p:nvSpPr>
          <p:cNvPr id="259" name="Text 14"/>
          <p:cNvSpPr/>
          <p:nvPr/>
        </p:nvSpPr>
        <p:spPr>
          <a:xfrm>
            <a:off x="6309360" y="2011680"/>
            <a:ext cx="2279880" cy="359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DejaVu Serif"/>
              </a:rPr>
              <a:t>German only</a:t>
            </a:r>
            <a:endParaRPr lang="de-DE" sz="1600" b="0" u="none" strike="noStrike">
              <a:solidFill>
                <a:srgbClr val="FFFFFF"/>
              </a:solidFill>
              <a:effectLst/>
              <a:uFillTx/>
              <a:latin typeface="Arial"/>
            </a:endParaRPr>
          </a:p>
        </p:txBody>
      </p:sp>
      <p:sp>
        <p:nvSpPr>
          <p:cNvPr id="260" name="Text 15"/>
          <p:cNvSpPr/>
          <p:nvPr/>
        </p:nvSpPr>
        <p:spPr>
          <a:xfrm>
            <a:off x="6309360" y="2514600"/>
            <a:ext cx="2279880" cy="109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FFFF"/>
                </a:solidFill>
                <a:effectLst/>
                <a:uFillTx/>
                <a:latin typeface="DejaVu Serif"/>
                <a:ea typeface="DejaVu Serif"/>
              </a:rPr>
              <a:t>Generalization to other languages untested.</a:t>
            </a:r>
            <a:endParaRPr lang="de-DE" sz="1300" b="0" u="none" strike="noStrike">
              <a:solidFill>
                <a:srgbClr val="FFFFFF"/>
              </a:solidFill>
              <a:effectLst/>
              <a:uFillTx/>
              <a:latin typeface="Arial"/>
            </a:endParaRPr>
          </a:p>
        </p:txBody>
      </p:sp>
      <p:sp>
        <p:nvSpPr>
          <p:cNvPr id="261" name="Text 16"/>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262" name="Text 17"/>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15 / 19</a:t>
            </a:r>
            <a:endParaRPr lang="de-DE" sz="800" b="0" u="none" strike="noStrike">
              <a:solidFill>
                <a:srgbClr val="FFFFFF"/>
              </a:solidFill>
              <a:effectLst/>
              <a:uFillTx/>
              <a:latin typeface="Arial"/>
            </a:endParaRPr>
          </a:p>
        </p:txBody>
      </p:sp>
      <p:pic>
        <p:nvPicPr>
          <p:cNvPr id="263" name=""/>
          <p:cNvPicPr/>
          <p:nvPr/>
        </p:nvPicPr>
        <p:blipFill>
          <a:blip r:embed="rId1"/>
          <a:stretch/>
        </p:blipFill>
        <p:spPr>
          <a:xfrm>
            <a:off x="6342840" y="1585080"/>
            <a:ext cx="356760" cy="271080"/>
          </a:xfrm>
          <a:prstGeom prst="rect">
            <a:avLst/>
          </a:prstGeom>
          <a:noFill/>
          <a:ln w="0">
            <a:noFill/>
          </a:ln>
        </p:spPr>
      </p:pic>
    </p:spTree>
  </p:cSld>
  <mc:AlternateContent>
    <mc:Choice Requires="p14">
      <p:transition spd="slow" p14:dur="2000"/>
    </mc:Choice>
    <mc:Fallback>
      <p:transition spd="slow"/>
    </mc:Fallback>
  </mc:AlternateContent>
  <p:timing>
    <p:tnLst>
      <p:par>
        <p:cTn id="277" dur="indefinite" restart="never" nodeType="tmRoot">
          <p:childTnLst>
            <p:seq>
              <p:cTn id="278" dur="indefinite" nodeType="mainSeq">
                <p:childTnLst>
                  <p:par>
                    <p:cTn id="279" fill="hold">
                      <p:stCondLst>
                        <p:cond delay="indefinite"/>
                      </p:stCondLst>
                      <p:childTnLst>
                        <p:par>
                          <p:cTn id="280" fill="hold">
                            <p:stCondLst>
                              <p:cond delay="0"/>
                            </p:stCondLst>
                            <p:childTnLst>
                              <p:par>
                                <p:cTn id="281" presetID="1" presetClass="entr" fill="hold" nodeType="clickEffect">
                                  <p:stCondLst>
                                    <p:cond delay="0"/>
                                  </p:stCondLst>
                                  <p:childTnLst>
                                    <p:set>
                                      <p:cBhvr>
                                        <p:cTn id="282" dur="1" fill="hold">
                                          <p:stCondLst>
                                            <p:cond delay="0"/>
                                          </p:stCondLst>
                                        </p:cTn>
                                        <p:tgtEl>
                                          <p:spTgt spid="246"/>
                                        </p:tgtEl>
                                        <p:attrNameLst>
                                          <p:attrName>style.visibility</p:attrName>
                                        </p:attrNameLst>
                                      </p:cBhvr>
                                      <p:to>
                                        <p:strVal val="visible"/>
                                      </p:to>
                                    </p:set>
                                  </p:childTnLst>
                                </p:cTn>
                              </p:par>
                              <p:par>
                                <p:cTn id="283" presetID="1" presetClass="entr" fill="hold" nodeType="withEffect">
                                  <p:stCondLst>
                                    <p:cond delay="0"/>
                                  </p:stCondLst>
                                  <p:childTnLst>
                                    <p:set>
                                      <p:cBhvr>
                                        <p:cTn id="284" dur="1" fill="hold">
                                          <p:stCondLst>
                                            <p:cond delay="0"/>
                                          </p:stCondLst>
                                        </p:cTn>
                                        <p:tgtEl>
                                          <p:spTgt spid="247"/>
                                        </p:tgtEl>
                                        <p:attrNameLst>
                                          <p:attrName>style.visibility</p:attrName>
                                        </p:attrNameLst>
                                      </p:cBhvr>
                                      <p:to>
                                        <p:strVal val="visible"/>
                                      </p:to>
                                    </p:set>
                                  </p:childTnLst>
                                </p:cTn>
                              </p:par>
                              <p:par>
                                <p:cTn id="285" presetID="1" presetClass="entr" fill="hold" nodeType="withEffect">
                                  <p:stCondLst>
                                    <p:cond delay="0"/>
                                  </p:stCondLst>
                                  <p:childTnLst>
                                    <p:set>
                                      <p:cBhvr>
                                        <p:cTn id="286" dur="1" fill="hold">
                                          <p:stCondLst>
                                            <p:cond delay="0"/>
                                          </p:stCondLst>
                                        </p:cTn>
                                        <p:tgtEl>
                                          <p:spTgt spid="248"/>
                                        </p:tgtEl>
                                        <p:attrNameLst>
                                          <p:attrName>style.visibility</p:attrName>
                                        </p:attrNameLst>
                                      </p:cBhvr>
                                      <p:to>
                                        <p:strVal val="visible"/>
                                      </p:to>
                                    </p:set>
                                  </p:childTnLst>
                                </p:cTn>
                              </p:par>
                              <p:par>
                                <p:cTn id="287" presetID="1" presetClass="entr" fill="hold" nodeType="withEffect">
                                  <p:stCondLst>
                                    <p:cond delay="0"/>
                                  </p:stCondLst>
                                  <p:childTnLst>
                                    <p:set>
                                      <p:cBhvr>
                                        <p:cTn id="288" dur="1" fill="hold">
                                          <p:stCondLst>
                                            <p:cond delay="0"/>
                                          </p:stCondLst>
                                        </p:cTn>
                                        <p:tgtEl>
                                          <p:spTgt spid="249"/>
                                        </p:tgtEl>
                                        <p:attrNameLst>
                                          <p:attrName>style.visibility</p:attrName>
                                        </p:attrNameLst>
                                      </p:cBhvr>
                                      <p:to>
                                        <p:strVal val="visible"/>
                                      </p:to>
                                    </p:set>
                                  </p:childTnLst>
                                </p:cTn>
                              </p:par>
                              <p:par>
                                <p:cTn id="289" presetID="1" presetClass="entr" fill="hold" nodeType="withEffect">
                                  <p:stCondLst>
                                    <p:cond delay="0"/>
                                  </p:stCondLst>
                                  <p:childTnLst>
                                    <p:set>
                                      <p:cBhvr>
                                        <p:cTn id="290" dur="1" fill="hold">
                                          <p:stCondLst>
                                            <p:cond delay="0"/>
                                          </p:stCondLst>
                                        </p:cTn>
                                        <p:tgtEl>
                                          <p:spTgt spid="250"/>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presetID="1" presetClass="entr" fill="hold" nodeType="clickEffect">
                                  <p:stCondLst>
                                    <p:cond delay="0"/>
                                  </p:stCondLst>
                                  <p:childTnLst>
                                    <p:set>
                                      <p:cBhvr>
                                        <p:cTn id="294" dur="1" fill="hold">
                                          <p:stCondLst>
                                            <p:cond delay="0"/>
                                          </p:stCondLst>
                                        </p:cTn>
                                        <p:tgtEl>
                                          <p:spTgt spid="251"/>
                                        </p:tgtEl>
                                        <p:attrNameLst>
                                          <p:attrName>style.visibility</p:attrName>
                                        </p:attrNameLst>
                                      </p:cBhvr>
                                      <p:to>
                                        <p:strVal val="visible"/>
                                      </p:to>
                                    </p:set>
                                  </p:childTnLst>
                                </p:cTn>
                              </p:par>
                              <p:par>
                                <p:cTn id="295" presetID="1" presetClass="entr" fill="hold" nodeType="withEffect">
                                  <p:stCondLst>
                                    <p:cond delay="0"/>
                                  </p:stCondLst>
                                  <p:childTnLst>
                                    <p:set>
                                      <p:cBhvr>
                                        <p:cTn id="296" dur="1" fill="hold">
                                          <p:stCondLst>
                                            <p:cond delay="0"/>
                                          </p:stCondLst>
                                        </p:cTn>
                                        <p:tgtEl>
                                          <p:spTgt spid="252"/>
                                        </p:tgtEl>
                                        <p:attrNameLst>
                                          <p:attrName>style.visibility</p:attrName>
                                        </p:attrNameLst>
                                      </p:cBhvr>
                                      <p:to>
                                        <p:strVal val="visible"/>
                                      </p:to>
                                    </p:set>
                                  </p:childTnLst>
                                </p:cTn>
                              </p:par>
                              <p:par>
                                <p:cTn id="297" presetID="1" presetClass="entr" fill="hold" nodeType="withEffect">
                                  <p:stCondLst>
                                    <p:cond delay="0"/>
                                  </p:stCondLst>
                                  <p:childTnLst>
                                    <p:set>
                                      <p:cBhvr>
                                        <p:cTn id="298" dur="1" fill="hold">
                                          <p:stCondLst>
                                            <p:cond delay="0"/>
                                          </p:stCondLst>
                                        </p:cTn>
                                        <p:tgtEl>
                                          <p:spTgt spid="253"/>
                                        </p:tgtEl>
                                        <p:attrNameLst>
                                          <p:attrName>style.visibility</p:attrName>
                                        </p:attrNameLst>
                                      </p:cBhvr>
                                      <p:to>
                                        <p:strVal val="visible"/>
                                      </p:to>
                                    </p:set>
                                  </p:childTnLst>
                                </p:cTn>
                              </p:par>
                              <p:par>
                                <p:cTn id="299" presetID="1" presetClass="entr" fill="hold" nodeType="withEffect">
                                  <p:stCondLst>
                                    <p:cond delay="0"/>
                                  </p:stCondLst>
                                  <p:childTnLst>
                                    <p:set>
                                      <p:cBhvr>
                                        <p:cTn id="300" dur="1" fill="hold">
                                          <p:stCondLst>
                                            <p:cond delay="0"/>
                                          </p:stCondLst>
                                        </p:cTn>
                                        <p:tgtEl>
                                          <p:spTgt spid="254"/>
                                        </p:tgtEl>
                                        <p:attrNameLst>
                                          <p:attrName>style.visibility</p:attrName>
                                        </p:attrNameLst>
                                      </p:cBhvr>
                                      <p:to>
                                        <p:strVal val="visible"/>
                                      </p:to>
                                    </p:set>
                                  </p:childTnLst>
                                </p:cTn>
                              </p:par>
                              <p:par>
                                <p:cTn id="301" presetID="1" presetClass="entr" fill="hold" nodeType="withEffect">
                                  <p:stCondLst>
                                    <p:cond delay="0"/>
                                  </p:stCondLst>
                                  <p:childTnLst>
                                    <p:set>
                                      <p:cBhvr>
                                        <p:cTn id="302" dur="1" fill="hold">
                                          <p:stCondLst>
                                            <p:cond delay="0"/>
                                          </p:stCondLst>
                                        </p:cTn>
                                        <p:tgtEl>
                                          <p:spTgt spid="255"/>
                                        </p:tgtEl>
                                        <p:attrNameLst>
                                          <p:attrName>style.visibility</p:attrName>
                                        </p:attrNameLst>
                                      </p:cBhvr>
                                      <p:to>
                                        <p:strVal val="visible"/>
                                      </p:to>
                                    </p:set>
                                  </p:childTnLst>
                                </p:cTn>
                              </p:par>
                            </p:childTnLst>
                          </p:cTn>
                        </p:par>
                      </p:childTnLst>
                    </p:cTn>
                  </p:par>
                  <p:par>
                    <p:cTn id="303" fill="hold">
                      <p:stCondLst>
                        <p:cond delay="indefinite"/>
                      </p:stCondLst>
                      <p:childTnLst>
                        <p:par>
                          <p:cTn id="304" fill="hold">
                            <p:stCondLst>
                              <p:cond delay="0"/>
                            </p:stCondLst>
                            <p:childTnLst>
                              <p:par>
                                <p:cTn id="305" presetID="1" presetClass="entr" fill="hold" nodeType="clickEffect">
                                  <p:stCondLst>
                                    <p:cond delay="0"/>
                                  </p:stCondLst>
                                  <p:childTnLst>
                                    <p:set>
                                      <p:cBhvr>
                                        <p:cTn id="306" dur="1" fill="hold">
                                          <p:stCondLst>
                                            <p:cond delay="0"/>
                                          </p:stCondLst>
                                        </p:cTn>
                                        <p:tgtEl>
                                          <p:spTgt spid="256"/>
                                        </p:tgtEl>
                                        <p:attrNameLst>
                                          <p:attrName>style.visibility</p:attrName>
                                        </p:attrNameLst>
                                      </p:cBhvr>
                                      <p:to>
                                        <p:strVal val="visible"/>
                                      </p:to>
                                    </p:set>
                                  </p:childTnLst>
                                </p:cTn>
                              </p:par>
                              <p:par>
                                <p:cTn id="307" presetID="1" presetClass="entr" fill="hold" nodeType="withEffect">
                                  <p:stCondLst>
                                    <p:cond delay="0"/>
                                  </p:stCondLst>
                                  <p:childTnLst>
                                    <p:set>
                                      <p:cBhvr>
                                        <p:cTn id="308" dur="1" fill="hold">
                                          <p:stCondLst>
                                            <p:cond delay="0"/>
                                          </p:stCondLst>
                                        </p:cTn>
                                        <p:tgtEl>
                                          <p:spTgt spid="257"/>
                                        </p:tgtEl>
                                        <p:attrNameLst>
                                          <p:attrName>style.visibility</p:attrName>
                                        </p:attrNameLst>
                                      </p:cBhvr>
                                      <p:to>
                                        <p:strVal val="visible"/>
                                      </p:to>
                                    </p:set>
                                  </p:childTnLst>
                                </p:cTn>
                              </p:par>
                              <p:par>
                                <p:cTn id="309" presetID="1" presetClass="entr" fill="hold" nodeType="withEffect">
                                  <p:stCondLst>
                                    <p:cond delay="0"/>
                                  </p:stCondLst>
                                  <p:childTnLst>
                                    <p:set>
                                      <p:cBhvr>
                                        <p:cTn id="310" dur="1" fill="hold">
                                          <p:stCondLst>
                                            <p:cond delay="0"/>
                                          </p:stCondLst>
                                        </p:cTn>
                                        <p:tgtEl>
                                          <p:spTgt spid="258"/>
                                        </p:tgtEl>
                                        <p:attrNameLst>
                                          <p:attrName>style.visibility</p:attrName>
                                        </p:attrNameLst>
                                      </p:cBhvr>
                                      <p:to>
                                        <p:strVal val="visible"/>
                                      </p:to>
                                    </p:set>
                                  </p:childTnLst>
                                </p:cTn>
                              </p:par>
                              <p:par>
                                <p:cTn id="311" presetID="1" presetClass="entr" fill="hold" nodeType="withEffect">
                                  <p:stCondLst>
                                    <p:cond delay="0"/>
                                  </p:stCondLst>
                                  <p:childTnLst>
                                    <p:set>
                                      <p:cBhvr>
                                        <p:cTn id="312" dur="1" fill="hold">
                                          <p:stCondLst>
                                            <p:cond delay="0"/>
                                          </p:stCondLst>
                                        </p:cTn>
                                        <p:tgtEl>
                                          <p:spTgt spid="259"/>
                                        </p:tgtEl>
                                        <p:attrNameLst>
                                          <p:attrName>style.visibility</p:attrName>
                                        </p:attrNameLst>
                                      </p:cBhvr>
                                      <p:to>
                                        <p:strVal val="visible"/>
                                      </p:to>
                                    </p:set>
                                  </p:childTnLst>
                                </p:cTn>
                              </p:par>
                              <p:par>
                                <p:cTn id="313" presetID="1" presetClass="entr" fill="hold" nodeType="withEffect">
                                  <p:stCondLst>
                                    <p:cond delay="0"/>
                                  </p:stCondLst>
                                  <p:childTnLst>
                                    <p:set>
                                      <p:cBhvr>
                                        <p:cTn id="314" dur="1" fill="hold">
                                          <p:stCondLst>
                                            <p:cond delay="0"/>
                                          </p:stCondLst>
                                        </p:cTn>
                                        <p:tgtEl>
                                          <p:spTgt spid="260"/>
                                        </p:tgtEl>
                                        <p:attrNameLst>
                                          <p:attrName>style.visibility</p:attrName>
                                        </p:attrNameLst>
                                      </p:cBhvr>
                                      <p:to>
                                        <p:strVal val="visible"/>
                                      </p:to>
                                    </p:set>
                                  </p:childTnLst>
                                </p:cTn>
                              </p:par>
                              <p:par>
                                <p:cTn id="315" presetID="1" presetClass="entr" fill="hold" nodeType="withEffect">
                                  <p:stCondLst>
                                    <p:cond delay="0"/>
                                  </p:stCondLst>
                                  <p:childTnLst>
                                    <p:set>
                                      <p:cBhvr>
                                        <p:cTn id="316" dur="1" fill="hold">
                                          <p:stCondLst>
                                            <p:cond delay="0"/>
                                          </p:stCondLst>
                                        </p:cTn>
                                        <p:tgtEl>
                                          <p:spTgt spid="2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264" name="Text 28"/>
          <p:cNvSpPr/>
          <p:nvPr/>
        </p:nvSpPr>
        <p:spPr>
          <a:xfrm>
            <a:off x="274320" y="201240"/>
            <a:ext cx="8592480" cy="54576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2400" b="1" u="none" strike="noStrike">
                <a:solidFill>
                  <a:srgbClr val="E8E8E8"/>
                </a:solidFill>
                <a:effectLst/>
                <a:uFillTx/>
                <a:latin typeface="DejaVu Serif"/>
                <a:ea typeface="DejaVu Serif"/>
              </a:rPr>
              <a:t>Two steps closer — one to go</a:t>
            </a:r>
            <a:endParaRPr lang="de-DE" sz="2400" b="0" u="none" strike="noStrike">
              <a:solidFill>
                <a:srgbClr val="FFFFFF"/>
              </a:solidFill>
              <a:effectLst/>
              <a:uFillTx/>
              <a:latin typeface="Arial"/>
            </a:endParaRPr>
          </a:p>
        </p:txBody>
      </p:sp>
      <p:sp>
        <p:nvSpPr>
          <p:cNvPr id="265" name="Shape 18"/>
          <p:cNvSpPr/>
          <p:nvPr/>
        </p:nvSpPr>
        <p:spPr>
          <a:xfrm>
            <a:off x="274320" y="1104120"/>
            <a:ext cx="2740320" cy="2997360"/>
          </a:xfrm>
          <a:prstGeom prst="rect">
            <a:avLst/>
          </a:prstGeom>
          <a:solidFill>
            <a:srgbClr val="242424"/>
          </a:solidFill>
          <a:ln w="6350">
            <a:solidFill>
              <a:srgbClr val="3A3D42"/>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266" name="Shape 23"/>
          <p:cNvSpPr/>
          <p:nvPr/>
        </p:nvSpPr>
        <p:spPr>
          <a:xfrm>
            <a:off x="274320" y="1104120"/>
            <a:ext cx="2740320" cy="61200"/>
          </a:xfrm>
          <a:prstGeom prst="rect">
            <a:avLst/>
          </a:prstGeom>
          <a:solidFill>
            <a:srgbClr val="3EAF46"/>
          </a:solidFill>
          <a:ln w="12700">
            <a:solidFill>
              <a:srgbClr val="3FAF46"/>
            </a:solidFill>
            <a:round/>
          </a:ln>
        </p:spPr>
        <p:style>
          <a:lnRef idx="0"/>
          <a:fillRef idx="0"/>
          <a:effectRef idx="0"/>
          <a:fontRef idx="minor"/>
        </p:style>
        <p:txBody>
          <a:bodyPr lIns="90000" tIns="19080" rIns="90000" bIns="19080" anchor="t">
            <a:noAutofit/>
          </a:bodyPr>
          <a:p>
            <a:pPr>
              <a:lnSpc>
                <a:spcPct val="100000"/>
              </a:lnSpc>
            </a:pPr>
            <a:endParaRPr lang="de-DE" sz="1800" b="0" u="none" strike="noStrike">
              <a:solidFill>
                <a:srgbClr val="FFFFFF"/>
              </a:solidFill>
              <a:effectLst/>
              <a:uFillTx/>
              <a:latin typeface="Arial"/>
            </a:endParaRPr>
          </a:p>
        </p:txBody>
      </p:sp>
      <p:sp>
        <p:nvSpPr>
          <p:cNvPr id="267" name="Text 30"/>
          <p:cNvSpPr/>
          <p:nvPr/>
        </p:nvSpPr>
        <p:spPr>
          <a:xfrm>
            <a:off x="475560" y="1268640"/>
            <a:ext cx="2337840" cy="36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DejaVu Serif"/>
                <a:ea typeface="Arial"/>
              </a:rPr>
              <a:t>Fully on-premise</a:t>
            </a:r>
            <a:endParaRPr lang="de-DE" sz="1600" b="0" u="none" strike="noStrike">
              <a:solidFill>
                <a:srgbClr val="FFFFFF"/>
              </a:solidFill>
              <a:effectLst/>
              <a:uFillTx/>
              <a:latin typeface="Arial"/>
            </a:endParaRPr>
          </a:p>
        </p:txBody>
      </p:sp>
      <p:sp>
        <p:nvSpPr>
          <p:cNvPr id="268" name="Text 31"/>
          <p:cNvSpPr/>
          <p:nvPr/>
        </p:nvSpPr>
        <p:spPr>
          <a:xfrm>
            <a:off x="475560" y="1671120"/>
            <a:ext cx="2337840" cy="50004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100" b="0" u="none" strike="noStrike">
                <a:solidFill>
                  <a:srgbClr val="FFFFFF"/>
                </a:solidFill>
                <a:effectLst/>
                <a:uFillTx/>
                <a:latin typeface="DejaVu Serif"/>
                <a:ea typeface="Arial"/>
              </a:rPr>
              <a:t>Llama 3.2 · Gemma · Sauerkraut</a:t>
            </a:r>
            <a:endParaRPr lang="de-DE" sz="1100" b="0" u="none" strike="noStrike">
              <a:solidFill>
                <a:srgbClr val="FFFFFF"/>
              </a:solidFill>
              <a:effectLst/>
              <a:uFillTx/>
              <a:latin typeface="Arial"/>
            </a:endParaRPr>
          </a:p>
        </p:txBody>
      </p:sp>
      <p:sp>
        <p:nvSpPr>
          <p:cNvPr id="269" name="Shape 26"/>
          <p:cNvSpPr/>
          <p:nvPr/>
        </p:nvSpPr>
        <p:spPr>
          <a:xfrm>
            <a:off x="475200" y="2310840"/>
            <a:ext cx="2341080" cy="360"/>
          </a:xfrm>
          <a:prstGeom prst="line">
            <a:avLst/>
          </a:prstGeom>
          <a:ln w="6350">
            <a:solidFill>
              <a:srgbClr val="3A3D42"/>
            </a:solidFill>
            <a:round/>
          </a:ln>
        </p:spPr>
        <p:style>
          <a:lnRef idx="0"/>
          <a:fillRef idx="0"/>
          <a:effectRef idx="0"/>
          <a:fontRef idx="minor"/>
        </p:style>
        <p:txBody>
          <a:bodyPr lIns="90000" tIns="-44640" rIns="90000" bIns="-44640" anchor="t" anchorCtr="1">
            <a:noAutofit/>
          </a:bodyPr>
          <a:p>
            <a:pPr>
              <a:lnSpc>
                <a:spcPct val="100000"/>
              </a:lnSpc>
            </a:pPr>
            <a:endParaRPr lang="de-DE" sz="1800" b="0" u="none" strike="noStrike">
              <a:solidFill>
                <a:srgbClr val="FFFFFF"/>
              </a:solidFill>
              <a:effectLst/>
              <a:uFillTx/>
              <a:latin typeface="Arial"/>
            </a:endParaRPr>
          </a:p>
        </p:txBody>
      </p:sp>
      <p:sp>
        <p:nvSpPr>
          <p:cNvPr id="270" name="Text 32"/>
          <p:cNvSpPr/>
          <p:nvPr/>
        </p:nvSpPr>
        <p:spPr>
          <a:xfrm>
            <a:off x="475560" y="2402640"/>
            <a:ext cx="2337840" cy="19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pc="147" strike="noStrike">
                <a:solidFill>
                  <a:srgbClr val="FFFFFF"/>
                </a:solidFill>
                <a:effectLst/>
                <a:uFillTx/>
                <a:latin typeface="DejaVu Serif"/>
                <a:ea typeface="Arial"/>
              </a:rPr>
              <a:t>SOAP QUALITY</a:t>
            </a:r>
            <a:endParaRPr lang="de-DE" sz="900" b="0" u="none" strike="noStrike">
              <a:solidFill>
                <a:srgbClr val="FFFFFF"/>
              </a:solidFill>
              <a:effectLst/>
              <a:uFillTx/>
              <a:latin typeface="Arial"/>
            </a:endParaRPr>
          </a:p>
        </p:txBody>
      </p:sp>
      <p:sp>
        <p:nvSpPr>
          <p:cNvPr id="271" name="Text 33"/>
          <p:cNvSpPr/>
          <p:nvPr/>
        </p:nvSpPr>
        <p:spPr>
          <a:xfrm>
            <a:off x="475560" y="2612880"/>
            <a:ext cx="2337840" cy="5000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2800" b="1" u="none" strike="noStrike">
                <a:solidFill>
                  <a:srgbClr val="3FAF46"/>
                </a:solidFill>
                <a:effectLst/>
                <a:uFillTx/>
                <a:latin typeface="DejaVu Serif"/>
                <a:ea typeface="DejaVu Serif"/>
              </a:rPr>
              <a:t>Low</a:t>
            </a:r>
            <a:endParaRPr lang="de-DE" sz="2800" b="0" u="none" strike="noStrike">
              <a:solidFill>
                <a:srgbClr val="FFFFFF"/>
              </a:solidFill>
              <a:effectLst/>
              <a:uFillTx/>
              <a:latin typeface="Arial"/>
            </a:endParaRPr>
          </a:p>
        </p:txBody>
      </p:sp>
      <p:sp>
        <p:nvSpPr>
          <p:cNvPr id="272" name="Text 57"/>
          <p:cNvSpPr/>
          <p:nvPr/>
        </p:nvSpPr>
        <p:spPr>
          <a:xfrm>
            <a:off x="475560" y="3291840"/>
            <a:ext cx="2337840" cy="19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pc="147" strike="noStrike">
                <a:solidFill>
                  <a:srgbClr val="FFFFFF"/>
                </a:solidFill>
                <a:effectLst/>
                <a:uFillTx/>
                <a:latin typeface="DejaVu Serif"/>
                <a:ea typeface="Arial"/>
              </a:rPr>
              <a:t>DATA SOVEREIGNTY</a:t>
            </a:r>
            <a:endParaRPr lang="de-DE" sz="900" b="0" u="none" strike="noStrike">
              <a:solidFill>
                <a:srgbClr val="FFFFFF"/>
              </a:solidFill>
              <a:effectLst/>
              <a:uFillTx/>
              <a:latin typeface="Arial"/>
            </a:endParaRPr>
          </a:p>
        </p:txBody>
      </p:sp>
      <p:sp>
        <p:nvSpPr>
          <p:cNvPr id="273" name="Shape 29"/>
          <p:cNvSpPr/>
          <p:nvPr/>
        </p:nvSpPr>
        <p:spPr>
          <a:xfrm>
            <a:off x="475560" y="3520440"/>
            <a:ext cx="289800" cy="106920"/>
          </a:xfrm>
          <a:prstGeom prst="rect">
            <a:avLst/>
          </a:prstGeom>
          <a:solidFill>
            <a:srgbClr val="3FAF46"/>
          </a:solidFill>
          <a:ln w="12700">
            <a:solidFill>
              <a:srgbClr val="3FAF46"/>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274" name="Shape 32"/>
          <p:cNvSpPr/>
          <p:nvPr/>
        </p:nvSpPr>
        <p:spPr>
          <a:xfrm>
            <a:off x="841320" y="3520440"/>
            <a:ext cx="289800" cy="106920"/>
          </a:xfrm>
          <a:prstGeom prst="rect">
            <a:avLst/>
          </a:prstGeom>
          <a:solidFill>
            <a:srgbClr val="3FAF46"/>
          </a:solidFill>
          <a:ln w="12700">
            <a:solidFill>
              <a:srgbClr val="3FAF46"/>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275" name="Shape 37"/>
          <p:cNvSpPr/>
          <p:nvPr/>
        </p:nvSpPr>
        <p:spPr>
          <a:xfrm>
            <a:off x="1207080" y="3520440"/>
            <a:ext cx="289800" cy="106920"/>
          </a:xfrm>
          <a:prstGeom prst="rect">
            <a:avLst/>
          </a:prstGeom>
          <a:solidFill>
            <a:srgbClr val="3FAF46"/>
          </a:solidFill>
          <a:ln w="12700">
            <a:solidFill>
              <a:srgbClr val="3FAF46"/>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276" name="Text 60"/>
          <p:cNvSpPr/>
          <p:nvPr/>
        </p:nvSpPr>
        <p:spPr>
          <a:xfrm>
            <a:off x="475560" y="3675960"/>
            <a:ext cx="2337840" cy="225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3FAF46"/>
                </a:solidFill>
                <a:effectLst/>
                <a:uFillTx/>
                <a:latin typeface="DejaVu Serif"/>
                <a:ea typeface="Arial"/>
              </a:rPr>
              <a:t>Full</a:t>
            </a:r>
            <a:endParaRPr lang="de-DE" sz="1100" b="0" u="none" strike="noStrike">
              <a:solidFill>
                <a:srgbClr val="FFFFFF"/>
              </a:solidFill>
              <a:effectLst/>
              <a:uFillTx/>
              <a:latin typeface="Arial"/>
            </a:endParaRPr>
          </a:p>
        </p:txBody>
      </p:sp>
      <p:sp>
        <p:nvSpPr>
          <p:cNvPr id="277" name="Shape 38"/>
          <p:cNvSpPr/>
          <p:nvPr/>
        </p:nvSpPr>
        <p:spPr>
          <a:xfrm>
            <a:off x="3200400" y="1104120"/>
            <a:ext cx="2740320" cy="2997360"/>
          </a:xfrm>
          <a:prstGeom prst="rect">
            <a:avLst/>
          </a:prstGeom>
          <a:solidFill>
            <a:srgbClr val="242424"/>
          </a:solidFill>
          <a:ln w="6350">
            <a:solidFill>
              <a:srgbClr val="3A3D42"/>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278" name="Shape 39"/>
          <p:cNvSpPr/>
          <p:nvPr/>
        </p:nvSpPr>
        <p:spPr>
          <a:xfrm>
            <a:off x="3200400" y="1104120"/>
            <a:ext cx="2740320" cy="61200"/>
          </a:xfrm>
          <a:prstGeom prst="rect">
            <a:avLst/>
          </a:prstGeom>
          <a:solidFill>
            <a:srgbClr val="FFD428"/>
          </a:solidFill>
          <a:ln w="12700">
            <a:solidFill>
              <a:srgbClr val="FFD428"/>
            </a:solidFill>
            <a:round/>
          </a:ln>
        </p:spPr>
        <p:style>
          <a:lnRef idx="0"/>
          <a:fillRef idx="0"/>
          <a:effectRef idx="0"/>
          <a:fontRef idx="minor"/>
        </p:style>
        <p:txBody>
          <a:bodyPr lIns="90000" tIns="19080" rIns="90000" bIns="19080" anchor="t">
            <a:noAutofit/>
          </a:bodyPr>
          <a:p>
            <a:pPr>
              <a:lnSpc>
                <a:spcPct val="100000"/>
              </a:lnSpc>
            </a:pPr>
            <a:endParaRPr lang="de-DE" sz="1800" b="0" u="none" strike="noStrike">
              <a:solidFill>
                <a:srgbClr val="000000"/>
              </a:solidFill>
              <a:effectLst/>
              <a:uFillTx/>
              <a:latin typeface="Arial"/>
            </a:endParaRPr>
          </a:p>
        </p:txBody>
      </p:sp>
      <p:sp>
        <p:nvSpPr>
          <p:cNvPr id="279" name="Text 65"/>
          <p:cNvSpPr/>
          <p:nvPr/>
        </p:nvSpPr>
        <p:spPr>
          <a:xfrm>
            <a:off x="3401640" y="1268640"/>
            <a:ext cx="2337840" cy="36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DejaVu Serif"/>
                <a:ea typeface="Arial"/>
              </a:rPr>
              <a:t>EU Cloud</a:t>
            </a:r>
            <a:endParaRPr lang="de-DE" sz="1600" b="0" u="none" strike="noStrike">
              <a:solidFill>
                <a:srgbClr val="FFFFFF"/>
              </a:solidFill>
              <a:effectLst/>
              <a:uFillTx/>
              <a:latin typeface="Arial"/>
            </a:endParaRPr>
          </a:p>
        </p:txBody>
      </p:sp>
      <p:sp>
        <p:nvSpPr>
          <p:cNvPr id="280" name="Text 68"/>
          <p:cNvSpPr/>
          <p:nvPr/>
        </p:nvSpPr>
        <p:spPr>
          <a:xfrm>
            <a:off x="3401640" y="1671120"/>
            <a:ext cx="2337840" cy="50004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100" b="0" u="none" strike="noStrike">
                <a:solidFill>
                  <a:srgbClr val="FFFFFF"/>
                </a:solidFill>
                <a:effectLst/>
                <a:uFillTx/>
                <a:latin typeface="DejaVu Serif"/>
                <a:ea typeface="Arial"/>
              </a:rPr>
              <a:t>Assembly · Speechmatics · GPT-4o</a:t>
            </a:r>
            <a:endParaRPr lang="de-DE" sz="1100" b="0" u="none" strike="noStrike">
              <a:solidFill>
                <a:srgbClr val="FFFFFF"/>
              </a:solidFill>
              <a:effectLst/>
              <a:uFillTx/>
              <a:latin typeface="Arial"/>
            </a:endParaRPr>
          </a:p>
        </p:txBody>
      </p:sp>
      <p:sp>
        <p:nvSpPr>
          <p:cNvPr id="281" name="Shape 50"/>
          <p:cNvSpPr/>
          <p:nvPr/>
        </p:nvSpPr>
        <p:spPr>
          <a:xfrm>
            <a:off x="3401280" y="2310840"/>
            <a:ext cx="2341080" cy="360"/>
          </a:xfrm>
          <a:prstGeom prst="line">
            <a:avLst/>
          </a:prstGeom>
          <a:ln w="6350">
            <a:solidFill>
              <a:srgbClr val="3A3D42"/>
            </a:solidFill>
            <a:round/>
          </a:ln>
        </p:spPr>
        <p:style>
          <a:lnRef idx="0"/>
          <a:fillRef idx="0"/>
          <a:effectRef idx="0"/>
          <a:fontRef idx="minor"/>
        </p:style>
        <p:txBody>
          <a:bodyPr lIns="90000" tIns="-44640" rIns="90000" bIns="-44640" anchor="t" anchorCtr="1">
            <a:noAutofit/>
          </a:bodyPr>
          <a:p>
            <a:pPr>
              <a:lnSpc>
                <a:spcPct val="100000"/>
              </a:lnSpc>
            </a:pPr>
            <a:endParaRPr lang="de-DE" sz="1800" b="0" u="none" strike="noStrike">
              <a:solidFill>
                <a:srgbClr val="FFFFFF"/>
              </a:solidFill>
              <a:effectLst/>
              <a:uFillTx/>
              <a:latin typeface="Arial"/>
            </a:endParaRPr>
          </a:p>
        </p:txBody>
      </p:sp>
      <p:sp>
        <p:nvSpPr>
          <p:cNvPr id="282" name="Text 73"/>
          <p:cNvSpPr/>
          <p:nvPr/>
        </p:nvSpPr>
        <p:spPr>
          <a:xfrm>
            <a:off x="3401640" y="2402640"/>
            <a:ext cx="2337840" cy="19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pc="147" strike="noStrike">
                <a:solidFill>
                  <a:srgbClr val="FFFFFF"/>
                </a:solidFill>
                <a:effectLst/>
                <a:uFillTx/>
                <a:latin typeface="DejaVu Serif"/>
                <a:ea typeface="Arial"/>
              </a:rPr>
              <a:t>SOAP QUALITY</a:t>
            </a:r>
            <a:endParaRPr lang="de-DE" sz="900" b="0" u="none" strike="noStrike">
              <a:solidFill>
                <a:srgbClr val="FFFFFF"/>
              </a:solidFill>
              <a:effectLst/>
              <a:uFillTx/>
              <a:latin typeface="Arial"/>
            </a:endParaRPr>
          </a:p>
        </p:txBody>
      </p:sp>
      <p:sp>
        <p:nvSpPr>
          <p:cNvPr id="283" name="Text 76"/>
          <p:cNvSpPr/>
          <p:nvPr/>
        </p:nvSpPr>
        <p:spPr>
          <a:xfrm>
            <a:off x="3401640" y="2612880"/>
            <a:ext cx="2337840" cy="500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FD428"/>
                </a:solidFill>
                <a:effectLst/>
                <a:uFillTx/>
                <a:latin typeface="DejaVu Serif"/>
                <a:ea typeface="DejaVu Serif"/>
              </a:rPr>
              <a:t>Mid</a:t>
            </a:r>
            <a:endParaRPr lang="de-DE" sz="2800" b="0" u="none" strike="noStrike">
              <a:solidFill>
                <a:srgbClr val="FFFFFF"/>
              </a:solidFill>
              <a:effectLst/>
              <a:uFillTx/>
              <a:latin typeface="Arial"/>
            </a:endParaRPr>
          </a:p>
        </p:txBody>
      </p:sp>
      <p:sp>
        <p:nvSpPr>
          <p:cNvPr id="284" name="Text 77"/>
          <p:cNvSpPr/>
          <p:nvPr/>
        </p:nvSpPr>
        <p:spPr>
          <a:xfrm>
            <a:off x="3401640" y="3291840"/>
            <a:ext cx="2337840" cy="19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pc="147" strike="noStrike">
                <a:solidFill>
                  <a:srgbClr val="FFFFFF"/>
                </a:solidFill>
                <a:effectLst/>
                <a:uFillTx/>
                <a:latin typeface="DejaVu Serif"/>
                <a:ea typeface="Arial"/>
              </a:rPr>
              <a:t>DATA SOVEREIGNTY</a:t>
            </a:r>
            <a:endParaRPr lang="de-DE" sz="900" b="0" u="none" strike="noStrike">
              <a:solidFill>
                <a:srgbClr val="FFFFFF"/>
              </a:solidFill>
              <a:effectLst/>
              <a:uFillTx/>
              <a:latin typeface="Arial"/>
            </a:endParaRPr>
          </a:p>
        </p:txBody>
      </p:sp>
      <p:sp>
        <p:nvSpPr>
          <p:cNvPr id="285" name="Shape 51"/>
          <p:cNvSpPr/>
          <p:nvPr/>
        </p:nvSpPr>
        <p:spPr>
          <a:xfrm>
            <a:off x="3401640" y="3520440"/>
            <a:ext cx="289800" cy="106920"/>
          </a:xfrm>
          <a:prstGeom prst="rect">
            <a:avLst/>
          </a:prstGeom>
          <a:solidFill>
            <a:srgbClr val="FFD428"/>
          </a:solidFill>
          <a:ln w="12700">
            <a:solidFill>
              <a:srgbClr val="FFD428"/>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000000"/>
              </a:solidFill>
              <a:effectLst/>
              <a:uFillTx/>
              <a:latin typeface="Arial"/>
            </a:endParaRPr>
          </a:p>
        </p:txBody>
      </p:sp>
      <p:sp>
        <p:nvSpPr>
          <p:cNvPr id="286" name="Shape 52"/>
          <p:cNvSpPr/>
          <p:nvPr/>
        </p:nvSpPr>
        <p:spPr>
          <a:xfrm>
            <a:off x="3767400" y="3520440"/>
            <a:ext cx="289800" cy="106920"/>
          </a:xfrm>
          <a:prstGeom prst="rect">
            <a:avLst/>
          </a:prstGeom>
          <a:solidFill>
            <a:srgbClr val="FFD428"/>
          </a:solidFill>
          <a:ln w="12700">
            <a:solidFill>
              <a:srgbClr val="FFD428"/>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000000"/>
              </a:solidFill>
              <a:effectLst/>
              <a:uFillTx/>
              <a:latin typeface="Arial"/>
            </a:endParaRPr>
          </a:p>
        </p:txBody>
      </p:sp>
      <p:sp>
        <p:nvSpPr>
          <p:cNvPr id="287" name="Shape 53"/>
          <p:cNvSpPr/>
          <p:nvPr/>
        </p:nvSpPr>
        <p:spPr>
          <a:xfrm>
            <a:off x="4133160" y="3520440"/>
            <a:ext cx="289800" cy="106920"/>
          </a:xfrm>
          <a:prstGeom prst="rect">
            <a:avLst/>
          </a:prstGeom>
          <a:solidFill>
            <a:srgbClr val="3A3D42"/>
          </a:solidFill>
          <a:ln w="12700">
            <a:solidFill>
              <a:srgbClr val="3A3D42"/>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288" name="Text 78"/>
          <p:cNvSpPr/>
          <p:nvPr/>
        </p:nvSpPr>
        <p:spPr>
          <a:xfrm>
            <a:off x="3401640" y="3675960"/>
            <a:ext cx="2337840" cy="225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D428"/>
                </a:solidFill>
                <a:effectLst/>
                <a:uFillTx/>
                <a:latin typeface="DejaVu Serif"/>
                <a:ea typeface="Arial"/>
              </a:rPr>
              <a:t>GDPR-compliant, third-party</a:t>
            </a:r>
            <a:endParaRPr lang="de-DE" sz="1100" b="0" u="none" strike="noStrike">
              <a:solidFill>
                <a:srgbClr val="FFFFFF"/>
              </a:solidFill>
              <a:effectLst/>
              <a:uFillTx/>
              <a:latin typeface="Arial"/>
            </a:endParaRPr>
          </a:p>
        </p:txBody>
      </p:sp>
      <p:sp>
        <p:nvSpPr>
          <p:cNvPr id="289" name="Shape 54"/>
          <p:cNvSpPr/>
          <p:nvPr/>
        </p:nvSpPr>
        <p:spPr>
          <a:xfrm>
            <a:off x="6126480" y="1104120"/>
            <a:ext cx="2740320" cy="2997360"/>
          </a:xfrm>
          <a:prstGeom prst="rect">
            <a:avLst/>
          </a:prstGeom>
          <a:solidFill>
            <a:srgbClr val="242424"/>
          </a:solidFill>
          <a:ln w="19050">
            <a:solidFill>
              <a:srgbClr val="E8E8E8"/>
            </a:solidFill>
            <a:prstDash val="dash"/>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FFFFFF"/>
              </a:solidFill>
              <a:effectLst/>
              <a:uFillTx/>
              <a:latin typeface="Arial"/>
            </a:endParaRPr>
          </a:p>
        </p:txBody>
      </p:sp>
      <p:sp>
        <p:nvSpPr>
          <p:cNvPr id="290" name="Text 79"/>
          <p:cNvSpPr/>
          <p:nvPr/>
        </p:nvSpPr>
        <p:spPr>
          <a:xfrm>
            <a:off x="6327720" y="1268640"/>
            <a:ext cx="2337840" cy="362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Arial"/>
              </a:rPr>
              <a:t>Where we want </a:t>
            </a:r>
            <a:endParaRPr lang="de-DE" sz="1600" b="0" u="none" strike="noStrike">
              <a:solidFill>
                <a:srgbClr val="FFFFFF"/>
              </a:solidFill>
              <a:effectLst/>
              <a:uFillTx/>
              <a:latin typeface="Arial"/>
            </a:endParaRPr>
          </a:p>
          <a:p>
            <a:pPr defTabSz="914400">
              <a:lnSpc>
                <a:spcPct val="100000"/>
              </a:lnSpc>
              <a:tabLst>
                <a:tab pos="0" algn="l"/>
              </a:tabLst>
            </a:pPr>
            <a:r>
              <a:rPr lang="en-US" sz="1600" b="1" u="none" strike="noStrike">
                <a:solidFill>
                  <a:srgbClr val="E8E8E8"/>
                </a:solidFill>
                <a:effectLst/>
                <a:uFillTx/>
                <a:latin typeface="DejaVu Serif"/>
                <a:ea typeface="Arial"/>
              </a:rPr>
              <a:t>to be</a:t>
            </a:r>
            <a:endParaRPr lang="de-DE" sz="1600" b="0" u="none" strike="noStrike">
              <a:solidFill>
                <a:srgbClr val="FFFFFF"/>
              </a:solidFill>
              <a:effectLst/>
              <a:uFillTx/>
              <a:latin typeface="Arial"/>
            </a:endParaRPr>
          </a:p>
        </p:txBody>
      </p:sp>
      <p:sp>
        <p:nvSpPr>
          <p:cNvPr id="291" name="Text 80"/>
          <p:cNvSpPr/>
          <p:nvPr/>
        </p:nvSpPr>
        <p:spPr>
          <a:xfrm>
            <a:off x="6327720" y="1671120"/>
            <a:ext cx="2337840" cy="500040"/>
          </a:xfrm>
          <a:prstGeom prst="rect">
            <a:avLst/>
          </a:prstGeom>
          <a:noFill/>
          <a:ln w="0">
            <a:noFill/>
          </a:ln>
        </p:spPr>
        <p:style>
          <a:lnRef idx="0"/>
          <a:fillRef idx="0"/>
          <a:effectRef idx="0"/>
          <a:fontRef idx="minor"/>
        </p:style>
        <p:txBody>
          <a:bodyPr lIns="0" tIns="0" rIns="0" bIns="0" anchor="ctr">
            <a:noAutofit/>
          </a:bodyPr>
          <a:p>
            <a:pPr defTabSz="914400">
              <a:lnSpc>
                <a:spcPct val="115000"/>
              </a:lnSpc>
              <a:tabLst>
                <a:tab pos="0" algn="l"/>
              </a:tabLst>
            </a:pPr>
            <a:r>
              <a:rPr lang="en-US" sz="1100" b="0" u="none" strike="noStrike">
                <a:solidFill>
                  <a:srgbClr val="FFFFFF"/>
                </a:solidFill>
                <a:effectLst/>
                <a:uFillTx/>
                <a:latin typeface="DejaVu Serif"/>
                <a:ea typeface="Arial"/>
              </a:rPr>
              <a:t>On-prem at scale</a:t>
            </a:r>
            <a:endParaRPr lang="de-DE" sz="1100" b="0" u="none" strike="noStrike">
              <a:solidFill>
                <a:srgbClr val="FFFFFF"/>
              </a:solidFill>
              <a:effectLst/>
              <a:uFillTx/>
              <a:latin typeface="Arial"/>
            </a:endParaRPr>
          </a:p>
        </p:txBody>
      </p:sp>
      <p:sp>
        <p:nvSpPr>
          <p:cNvPr id="292" name="Shape 55"/>
          <p:cNvSpPr/>
          <p:nvPr/>
        </p:nvSpPr>
        <p:spPr>
          <a:xfrm>
            <a:off x="6327360" y="2310840"/>
            <a:ext cx="2341080" cy="360"/>
          </a:xfrm>
          <a:prstGeom prst="line">
            <a:avLst/>
          </a:prstGeom>
          <a:ln w="6350">
            <a:solidFill>
              <a:srgbClr val="3A3D42"/>
            </a:solidFill>
            <a:round/>
          </a:ln>
        </p:spPr>
        <p:style>
          <a:lnRef idx="0"/>
          <a:fillRef idx="0"/>
          <a:effectRef idx="0"/>
          <a:fontRef idx="minor"/>
        </p:style>
        <p:txBody>
          <a:bodyPr lIns="90000" tIns="-44640" rIns="90000" bIns="-44640" anchor="t" anchorCtr="1">
            <a:noAutofit/>
          </a:bodyPr>
          <a:p>
            <a:pPr>
              <a:lnSpc>
                <a:spcPct val="100000"/>
              </a:lnSpc>
            </a:pPr>
            <a:endParaRPr lang="de-DE" sz="1800" b="0" u="none" strike="noStrike">
              <a:solidFill>
                <a:srgbClr val="FFFFFF"/>
              </a:solidFill>
              <a:effectLst/>
              <a:uFillTx/>
              <a:latin typeface="Arial"/>
            </a:endParaRPr>
          </a:p>
        </p:txBody>
      </p:sp>
      <p:sp>
        <p:nvSpPr>
          <p:cNvPr id="293" name="Text 81"/>
          <p:cNvSpPr/>
          <p:nvPr/>
        </p:nvSpPr>
        <p:spPr>
          <a:xfrm>
            <a:off x="6327720" y="2402640"/>
            <a:ext cx="2337840" cy="19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pc="147" strike="noStrike">
                <a:solidFill>
                  <a:srgbClr val="FFFFFF"/>
                </a:solidFill>
                <a:effectLst/>
                <a:uFillTx/>
                <a:latin typeface="DejaVu Serif"/>
                <a:ea typeface="Arial"/>
              </a:rPr>
              <a:t>SOAP QUALITY</a:t>
            </a:r>
            <a:endParaRPr lang="de-DE" sz="900" b="0" u="none" strike="noStrike">
              <a:solidFill>
                <a:srgbClr val="FFFFFF"/>
              </a:solidFill>
              <a:effectLst/>
              <a:uFillTx/>
              <a:latin typeface="Arial"/>
            </a:endParaRPr>
          </a:p>
        </p:txBody>
      </p:sp>
      <p:sp>
        <p:nvSpPr>
          <p:cNvPr id="294" name="Text 82"/>
          <p:cNvSpPr/>
          <p:nvPr/>
        </p:nvSpPr>
        <p:spPr>
          <a:xfrm>
            <a:off x="6327720" y="2612880"/>
            <a:ext cx="2337840" cy="500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E8E8E8"/>
                </a:solidFill>
                <a:effectLst/>
                <a:uFillTx/>
                <a:latin typeface="DejaVu Serif"/>
                <a:ea typeface="DejaVu Serif"/>
              </a:rPr>
              <a:t>High</a:t>
            </a:r>
            <a:endParaRPr lang="de-DE" sz="2800" b="0" u="none" strike="noStrike">
              <a:solidFill>
                <a:srgbClr val="FFFFFF"/>
              </a:solidFill>
              <a:effectLst/>
              <a:uFillTx/>
              <a:latin typeface="Arial"/>
            </a:endParaRPr>
          </a:p>
        </p:txBody>
      </p:sp>
      <p:sp>
        <p:nvSpPr>
          <p:cNvPr id="295" name="Text 83"/>
          <p:cNvSpPr/>
          <p:nvPr/>
        </p:nvSpPr>
        <p:spPr>
          <a:xfrm>
            <a:off x="6327720" y="3291840"/>
            <a:ext cx="2337840" cy="19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pc="147" strike="noStrike">
                <a:solidFill>
                  <a:srgbClr val="FFFFFF"/>
                </a:solidFill>
                <a:effectLst/>
                <a:uFillTx/>
                <a:latin typeface="DejaVu Serif"/>
                <a:ea typeface="Arial"/>
              </a:rPr>
              <a:t>DATA SOVEREIGNTY</a:t>
            </a:r>
            <a:endParaRPr lang="de-DE" sz="900" b="0" u="none" strike="noStrike">
              <a:solidFill>
                <a:srgbClr val="FFFFFF"/>
              </a:solidFill>
              <a:effectLst/>
              <a:uFillTx/>
              <a:latin typeface="Arial"/>
            </a:endParaRPr>
          </a:p>
        </p:txBody>
      </p:sp>
      <p:sp>
        <p:nvSpPr>
          <p:cNvPr id="296" name="Shape 56"/>
          <p:cNvSpPr/>
          <p:nvPr/>
        </p:nvSpPr>
        <p:spPr>
          <a:xfrm>
            <a:off x="6327720" y="3520440"/>
            <a:ext cx="289800" cy="106920"/>
          </a:xfrm>
          <a:prstGeom prst="rect">
            <a:avLst/>
          </a:prstGeom>
          <a:solidFill>
            <a:srgbClr val="E8E8E8"/>
          </a:solidFill>
          <a:ln w="12700">
            <a:solidFill>
              <a:srgbClr val="E8E8E8"/>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000000"/>
              </a:solidFill>
              <a:effectLst/>
              <a:uFillTx/>
              <a:latin typeface="Arial"/>
            </a:endParaRPr>
          </a:p>
        </p:txBody>
      </p:sp>
      <p:sp>
        <p:nvSpPr>
          <p:cNvPr id="297" name="Shape 57"/>
          <p:cNvSpPr/>
          <p:nvPr/>
        </p:nvSpPr>
        <p:spPr>
          <a:xfrm>
            <a:off x="6693480" y="3520440"/>
            <a:ext cx="289800" cy="106920"/>
          </a:xfrm>
          <a:prstGeom prst="rect">
            <a:avLst/>
          </a:prstGeom>
          <a:solidFill>
            <a:srgbClr val="E8E8E8"/>
          </a:solidFill>
          <a:ln w="12700">
            <a:solidFill>
              <a:srgbClr val="E8E8E8"/>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000000"/>
              </a:solidFill>
              <a:effectLst/>
              <a:uFillTx/>
              <a:latin typeface="Arial"/>
            </a:endParaRPr>
          </a:p>
        </p:txBody>
      </p:sp>
      <p:sp>
        <p:nvSpPr>
          <p:cNvPr id="298" name="Shape 58"/>
          <p:cNvSpPr/>
          <p:nvPr/>
        </p:nvSpPr>
        <p:spPr>
          <a:xfrm>
            <a:off x="7059240" y="3520440"/>
            <a:ext cx="289800" cy="106920"/>
          </a:xfrm>
          <a:prstGeom prst="rect">
            <a:avLst/>
          </a:prstGeom>
          <a:solidFill>
            <a:srgbClr val="E8E8E8"/>
          </a:solidFill>
          <a:ln w="12700">
            <a:solidFill>
              <a:srgbClr val="E8E8E8"/>
            </a:solidFill>
            <a:round/>
          </a:ln>
        </p:spPr>
        <p:style>
          <a:lnRef idx="0"/>
          <a:fillRef idx="0"/>
          <a:effectRef idx="0"/>
          <a:fontRef idx="minor"/>
        </p:style>
        <p:txBody>
          <a:bodyPr lIns="90000" tIns="45000" rIns="90000" bIns="45000" anchor="t">
            <a:noAutofit/>
          </a:bodyPr>
          <a:p>
            <a:pPr>
              <a:lnSpc>
                <a:spcPct val="100000"/>
              </a:lnSpc>
            </a:pPr>
            <a:endParaRPr lang="de-DE" sz="1800" b="0" u="none" strike="noStrike">
              <a:solidFill>
                <a:srgbClr val="000000"/>
              </a:solidFill>
              <a:effectLst/>
              <a:uFillTx/>
              <a:latin typeface="Arial"/>
            </a:endParaRPr>
          </a:p>
        </p:txBody>
      </p:sp>
      <p:sp>
        <p:nvSpPr>
          <p:cNvPr id="299" name="Text 84"/>
          <p:cNvSpPr/>
          <p:nvPr/>
        </p:nvSpPr>
        <p:spPr>
          <a:xfrm>
            <a:off x="6327720" y="3675960"/>
            <a:ext cx="2337840" cy="225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E8E8E8"/>
                </a:solidFill>
                <a:effectLst/>
                <a:uFillTx/>
                <a:latin typeface="DejaVu Serif"/>
                <a:ea typeface="Arial"/>
              </a:rPr>
              <a:t>Full</a:t>
            </a:r>
            <a:endParaRPr lang="de-DE" sz="1100" b="0" u="none" strike="noStrike">
              <a:solidFill>
                <a:srgbClr val="FFFFFF"/>
              </a:solidFill>
              <a:effectLst/>
              <a:uFillTx/>
              <a:latin typeface="Arial"/>
            </a:endParaRPr>
          </a:p>
        </p:txBody>
      </p:sp>
      <p:sp>
        <p:nvSpPr>
          <p:cNvPr id="300" name="Text 85"/>
          <p:cNvSpPr/>
          <p:nvPr/>
        </p:nvSpPr>
        <p:spPr>
          <a:xfrm>
            <a:off x="7772400" y="486504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16 / 19</a:t>
            </a:r>
            <a:endParaRPr lang="de-DE" sz="800" b="0" u="none" strike="noStrike">
              <a:solidFill>
                <a:srgbClr val="FFFFFF"/>
              </a:solidFill>
              <a:effectLst/>
              <a:uFillTx/>
              <a:latin typeface="Arial"/>
            </a:endParaRPr>
          </a:p>
        </p:txBody>
      </p:sp>
      <p:sp>
        <p:nvSpPr>
          <p:cNvPr id="301" name="Text 86"/>
          <p:cNvSpPr/>
          <p:nvPr/>
        </p:nvSpPr>
        <p:spPr>
          <a:xfrm>
            <a:off x="365760" y="486504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317" dur="indefinite" restart="never" nodeType="tmRoot">
          <p:childTnLst>
            <p:seq>
              <p:cTn id="318" dur="indefinite" nodeType="mainSeq">
                <p:childTnLst>
                  <p:par>
                    <p:cTn id="319" fill="hold">
                      <p:stCondLst>
                        <p:cond delay="indefinite"/>
                      </p:stCondLst>
                      <p:childTnLst>
                        <p:par>
                          <p:cTn id="320" fill="hold">
                            <p:stCondLst>
                              <p:cond delay="0"/>
                            </p:stCondLst>
                            <p:childTnLst>
                              <p:par>
                                <p:cTn id="321" presetID="1" presetClass="entr" fill="hold" nodeType="clickEffect">
                                  <p:stCondLst>
                                    <p:cond delay="0"/>
                                  </p:stCondLst>
                                  <p:childTnLst>
                                    <p:set>
                                      <p:cBhvr>
                                        <p:cTn id="322" dur="1" fill="hold">
                                          <p:stCondLst>
                                            <p:cond delay="0"/>
                                          </p:stCondLst>
                                        </p:cTn>
                                        <p:tgtEl>
                                          <p:spTgt spid="265"/>
                                        </p:tgtEl>
                                        <p:attrNameLst>
                                          <p:attrName>style.visibility</p:attrName>
                                        </p:attrNameLst>
                                      </p:cBhvr>
                                      <p:to>
                                        <p:strVal val="visible"/>
                                      </p:to>
                                    </p:set>
                                  </p:childTnLst>
                                </p:cTn>
                              </p:par>
                              <p:par>
                                <p:cTn id="323" presetID="1" presetClass="entr" fill="hold" nodeType="withEffect">
                                  <p:stCondLst>
                                    <p:cond delay="0"/>
                                  </p:stCondLst>
                                  <p:childTnLst>
                                    <p:set>
                                      <p:cBhvr>
                                        <p:cTn id="324" dur="1" fill="hold">
                                          <p:stCondLst>
                                            <p:cond delay="0"/>
                                          </p:stCondLst>
                                        </p:cTn>
                                        <p:tgtEl>
                                          <p:spTgt spid="266"/>
                                        </p:tgtEl>
                                        <p:attrNameLst>
                                          <p:attrName>style.visibility</p:attrName>
                                        </p:attrNameLst>
                                      </p:cBhvr>
                                      <p:to>
                                        <p:strVal val="visible"/>
                                      </p:to>
                                    </p:set>
                                  </p:childTnLst>
                                </p:cTn>
                              </p:par>
                              <p:par>
                                <p:cTn id="325" presetID="1" presetClass="entr" fill="hold" nodeType="withEffect">
                                  <p:stCondLst>
                                    <p:cond delay="0"/>
                                  </p:stCondLst>
                                  <p:childTnLst>
                                    <p:set>
                                      <p:cBhvr>
                                        <p:cTn id="326" dur="1" fill="hold">
                                          <p:stCondLst>
                                            <p:cond delay="0"/>
                                          </p:stCondLst>
                                        </p:cTn>
                                        <p:tgtEl>
                                          <p:spTgt spid="267"/>
                                        </p:tgtEl>
                                        <p:attrNameLst>
                                          <p:attrName>style.visibility</p:attrName>
                                        </p:attrNameLst>
                                      </p:cBhvr>
                                      <p:to>
                                        <p:strVal val="visible"/>
                                      </p:to>
                                    </p:set>
                                  </p:childTnLst>
                                </p:cTn>
                              </p:par>
                              <p:par>
                                <p:cTn id="327" presetID="1" presetClass="entr" fill="hold" nodeType="withEffect">
                                  <p:stCondLst>
                                    <p:cond delay="0"/>
                                  </p:stCondLst>
                                  <p:childTnLst>
                                    <p:set>
                                      <p:cBhvr>
                                        <p:cTn id="328" dur="1" fill="hold">
                                          <p:stCondLst>
                                            <p:cond delay="0"/>
                                          </p:stCondLst>
                                        </p:cTn>
                                        <p:tgtEl>
                                          <p:spTgt spid="268"/>
                                        </p:tgtEl>
                                        <p:attrNameLst>
                                          <p:attrName>style.visibility</p:attrName>
                                        </p:attrNameLst>
                                      </p:cBhvr>
                                      <p:to>
                                        <p:strVal val="visible"/>
                                      </p:to>
                                    </p:set>
                                  </p:childTnLst>
                                </p:cTn>
                              </p:par>
                              <p:par>
                                <p:cTn id="329" presetID="1" presetClass="entr" fill="hold" nodeType="withEffect">
                                  <p:stCondLst>
                                    <p:cond delay="0"/>
                                  </p:stCondLst>
                                  <p:childTnLst>
                                    <p:set>
                                      <p:cBhvr>
                                        <p:cTn id="330" dur="1" fill="hold">
                                          <p:stCondLst>
                                            <p:cond delay="0"/>
                                          </p:stCondLst>
                                        </p:cTn>
                                        <p:tgtEl>
                                          <p:spTgt spid="269"/>
                                        </p:tgtEl>
                                        <p:attrNameLst>
                                          <p:attrName>style.visibility</p:attrName>
                                        </p:attrNameLst>
                                      </p:cBhvr>
                                      <p:to>
                                        <p:strVal val="visible"/>
                                      </p:to>
                                    </p:set>
                                  </p:childTnLst>
                                </p:cTn>
                              </p:par>
                              <p:par>
                                <p:cTn id="331" presetID="1" presetClass="entr" fill="hold" nodeType="withEffect">
                                  <p:stCondLst>
                                    <p:cond delay="0"/>
                                  </p:stCondLst>
                                  <p:childTnLst>
                                    <p:set>
                                      <p:cBhvr>
                                        <p:cTn id="332" dur="1" fill="hold">
                                          <p:stCondLst>
                                            <p:cond delay="0"/>
                                          </p:stCondLst>
                                        </p:cTn>
                                        <p:tgtEl>
                                          <p:spTgt spid="270"/>
                                        </p:tgtEl>
                                        <p:attrNameLst>
                                          <p:attrName>style.visibility</p:attrName>
                                        </p:attrNameLst>
                                      </p:cBhvr>
                                      <p:to>
                                        <p:strVal val="visible"/>
                                      </p:to>
                                    </p:set>
                                  </p:childTnLst>
                                </p:cTn>
                              </p:par>
                              <p:par>
                                <p:cTn id="333" presetID="1" presetClass="entr" fill="hold" nodeType="withEffect">
                                  <p:stCondLst>
                                    <p:cond delay="0"/>
                                  </p:stCondLst>
                                  <p:childTnLst>
                                    <p:set>
                                      <p:cBhvr>
                                        <p:cTn id="334" dur="1" fill="hold">
                                          <p:stCondLst>
                                            <p:cond delay="0"/>
                                          </p:stCondLst>
                                        </p:cTn>
                                        <p:tgtEl>
                                          <p:spTgt spid="271"/>
                                        </p:tgtEl>
                                        <p:attrNameLst>
                                          <p:attrName>style.visibility</p:attrName>
                                        </p:attrNameLst>
                                      </p:cBhvr>
                                      <p:to>
                                        <p:strVal val="visible"/>
                                      </p:to>
                                    </p:set>
                                  </p:childTnLst>
                                </p:cTn>
                              </p:par>
                              <p:par>
                                <p:cTn id="335" presetID="1" presetClass="entr" fill="hold" nodeType="withEffect">
                                  <p:stCondLst>
                                    <p:cond delay="0"/>
                                  </p:stCondLst>
                                  <p:childTnLst>
                                    <p:set>
                                      <p:cBhvr>
                                        <p:cTn id="336" dur="1" fill="hold">
                                          <p:stCondLst>
                                            <p:cond delay="0"/>
                                          </p:stCondLst>
                                        </p:cTn>
                                        <p:tgtEl>
                                          <p:spTgt spid="272"/>
                                        </p:tgtEl>
                                        <p:attrNameLst>
                                          <p:attrName>style.visibility</p:attrName>
                                        </p:attrNameLst>
                                      </p:cBhvr>
                                      <p:to>
                                        <p:strVal val="visible"/>
                                      </p:to>
                                    </p:set>
                                  </p:childTnLst>
                                </p:cTn>
                              </p:par>
                              <p:par>
                                <p:cTn id="337" presetID="1" presetClass="entr" fill="hold" nodeType="withEffect">
                                  <p:stCondLst>
                                    <p:cond delay="0"/>
                                  </p:stCondLst>
                                  <p:childTnLst>
                                    <p:set>
                                      <p:cBhvr>
                                        <p:cTn id="338" dur="1" fill="hold">
                                          <p:stCondLst>
                                            <p:cond delay="0"/>
                                          </p:stCondLst>
                                        </p:cTn>
                                        <p:tgtEl>
                                          <p:spTgt spid="273"/>
                                        </p:tgtEl>
                                        <p:attrNameLst>
                                          <p:attrName>style.visibility</p:attrName>
                                        </p:attrNameLst>
                                      </p:cBhvr>
                                      <p:to>
                                        <p:strVal val="visible"/>
                                      </p:to>
                                    </p:set>
                                  </p:childTnLst>
                                </p:cTn>
                              </p:par>
                              <p:par>
                                <p:cTn id="339" presetID="1" presetClass="entr" fill="hold" nodeType="withEffect">
                                  <p:stCondLst>
                                    <p:cond delay="0"/>
                                  </p:stCondLst>
                                  <p:childTnLst>
                                    <p:set>
                                      <p:cBhvr>
                                        <p:cTn id="340" dur="1" fill="hold">
                                          <p:stCondLst>
                                            <p:cond delay="0"/>
                                          </p:stCondLst>
                                        </p:cTn>
                                        <p:tgtEl>
                                          <p:spTgt spid="274"/>
                                        </p:tgtEl>
                                        <p:attrNameLst>
                                          <p:attrName>style.visibility</p:attrName>
                                        </p:attrNameLst>
                                      </p:cBhvr>
                                      <p:to>
                                        <p:strVal val="visible"/>
                                      </p:to>
                                    </p:set>
                                  </p:childTnLst>
                                </p:cTn>
                              </p:par>
                              <p:par>
                                <p:cTn id="341" presetID="1" presetClass="entr" fill="hold" nodeType="withEffect">
                                  <p:stCondLst>
                                    <p:cond delay="0"/>
                                  </p:stCondLst>
                                  <p:childTnLst>
                                    <p:set>
                                      <p:cBhvr>
                                        <p:cTn id="342" dur="1" fill="hold">
                                          <p:stCondLst>
                                            <p:cond delay="0"/>
                                          </p:stCondLst>
                                        </p:cTn>
                                        <p:tgtEl>
                                          <p:spTgt spid="275"/>
                                        </p:tgtEl>
                                        <p:attrNameLst>
                                          <p:attrName>style.visibility</p:attrName>
                                        </p:attrNameLst>
                                      </p:cBhvr>
                                      <p:to>
                                        <p:strVal val="visible"/>
                                      </p:to>
                                    </p:set>
                                  </p:childTnLst>
                                </p:cTn>
                              </p:par>
                              <p:par>
                                <p:cTn id="343" presetID="1" presetClass="entr" fill="hold" nodeType="withEffect">
                                  <p:stCondLst>
                                    <p:cond delay="0"/>
                                  </p:stCondLst>
                                  <p:childTnLst>
                                    <p:set>
                                      <p:cBhvr>
                                        <p:cTn id="344" dur="1" fill="hold">
                                          <p:stCondLst>
                                            <p:cond delay="0"/>
                                          </p:stCondLst>
                                        </p:cTn>
                                        <p:tgtEl>
                                          <p:spTgt spid="276"/>
                                        </p:tgtEl>
                                        <p:attrNameLst>
                                          <p:attrName>style.visibility</p:attrName>
                                        </p:attrNameLst>
                                      </p:cBhvr>
                                      <p:to>
                                        <p:strVal val="visible"/>
                                      </p:to>
                                    </p:set>
                                  </p:childTnLst>
                                </p:cTn>
                              </p:par>
                            </p:childTnLst>
                          </p:cTn>
                        </p:par>
                      </p:childTnLst>
                    </p:cTn>
                  </p:par>
                  <p:par>
                    <p:cTn id="345" fill="hold">
                      <p:stCondLst>
                        <p:cond delay="indefinite"/>
                      </p:stCondLst>
                      <p:childTnLst>
                        <p:par>
                          <p:cTn id="346" fill="hold">
                            <p:stCondLst>
                              <p:cond delay="0"/>
                            </p:stCondLst>
                            <p:childTnLst>
                              <p:par>
                                <p:cTn id="347" presetID="1" presetClass="entr" fill="hold" nodeType="clickEffect">
                                  <p:stCondLst>
                                    <p:cond delay="0"/>
                                  </p:stCondLst>
                                  <p:childTnLst>
                                    <p:set>
                                      <p:cBhvr>
                                        <p:cTn id="348" dur="1" fill="hold">
                                          <p:stCondLst>
                                            <p:cond delay="0"/>
                                          </p:stCondLst>
                                        </p:cTn>
                                        <p:tgtEl>
                                          <p:spTgt spid="277"/>
                                        </p:tgtEl>
                                        <p:attrNameLst>
                                          <p:attrName>style.visibility</p:attrName>
                                        </p:attrNameLst>
                                      </p:cBhvr>
                                      <p:to>
                                        <p:strVal val="visible"/>
                                      </p:to>
                                    </p:set>
                                  </p:childTnLst>
                                </p:cTn>
                              </p:par>
                              <p:par>
                                <p:cTn id="349" presetID="1" presetClass="entr" fill="hold" nodeType="withEffect">
                                  <p:stCondLst>
                                    <p:cond delay="0"/>
                                  </p:stCondLst>
                                  <p:childTnLst>
                                    <p:set>
                                      <p:cBhvr>
                                        <p:cTn id="350" dur="1" fill="hold">
                                          <p:stCondLst>
                                            <p:cond delay="0"/>
                                          </p:stCondLst>
                                        </p:cTn>
                                        <p:tgtEl>
                                          <p:spTgt spid="278"/>
                                        </p:tgtEl>
                                        <p:attrNameLst>
                                          <p:attrName>style.visibility</p:attrName>
                                        </p:attrNameLst>
                                      </p:cBhvr>
                                      <p:to>
                                        <p:strVal val="visible"/>
                                      </p:to>
                                    </p:set>
                                  </p:childTnLst>
                                </p:cTn>
                              </p:par>
                              <p:par>
                                <p:cTn id="351" presetID="1" presetClass="entr" fill="hold" nodeType="withEffect">
                                  <p:stCondLst>
                                    <p:cond delay="0"/>
                                  </p:stCondLst>
                                  <p:childTnLst>
                                    <p:set>
                                      <p:cBhvr>
                                        <p:cTn id="352" dur="1" fill="hold">
                                          <p:stCondLst>
                                            <p:cond delay="0"/>
                                          </p:stCondLst>
                                        </p:cTn>
                                        <p:tgtEl>
                                          <p:spTgt spid="279"/>
                                        </p:tgtEl>
                                        <p:attrNameLst>
                                          <p:attrName>style.visibility</p:attrName>
                                        </p:attrNameLst>
                                      </p:cBhvr>
                                      <p:to>
                                        <p:strVal val="visible"/>
                                      </p:to>
                                    </p:set>
                                  </p:childTnLst>
                                </p:cTn>
                              </p:par>
                              <p:par>
                                <p:cTn id="353" presetID="1" presetClass="entr" fill="hold" nodeType="withEffect">
                                  <p:stCondLst>
                                    <p:cond delay="0"/>
                                  </p:stCondLst>
                                  <p:childTnLst>
                                    <p:set>
                                      <p:cBhvr>
                                        <p:cTn id="354" dur="1" fill="hold">
                                          <p:stCondLst>
                                            <p:cond delay="0"/>
                                          </p:stCondLst>
                                        </p:cTn>
                                        <p:tgtEl>
                                          <p:spTgt spid="280"/>
                                        </p:tgtEl>
                                        <p:attrNameLst>
                                          <p:attrName>style.visibility</p:attrName>
                                        </p:attrNameLst>
                                      </p:cBhvr>
                                      <p:to>
                                        <p:strVal val="visible"/>
                                      </p:to>
                                    </p:set>
                                  </p:childTnLst>
                                </p:cTn>
                              </p:par>
                              <p:par>
                                <p:cTn id="355" presetID="1" presetClass="entr" fill="hold" nodeType="withEffect">
                                  <p:stCondLst>
                                    <p:cond delay="0"/>
                                  </p:stCondLst>
                                  <p:childTnLst>
                                    <p:set>
                                      <p:cBhvr>
                                        <p:cTn id="356" dur="1" fill="hold">
                                          <p:stCondLst>
                                            <p:cond delay="0"/>
                                          </p:stCondLst>
                                        </p:cTn>
                                        <p:tgtEl>
                                          <p:spTgt spid="281"/>
                                        </p:tgtEl>
                                        <p:attrNameLst>
                                          <p:attrName>style.visibility</p:attrName>
                                        </p:attrNameLst>
                                      </p:cBhvr>
                                      <p:to>
                                        <p:strVal val="visible"/>
                                      </p:to>
                                    </p:set>
                                  </p:childTnLst>
                                </p:cTn>
                              </p:par>
                              <p:par>
                                <p:cTn id="357" presetID="1" presetClass="entr" fill="hold" nodeType="withEffect">
                                  <p:stCondLst>
                                    <p:cond delay="0"/>
                                  </p:stCondLst>
                                  <p:childTnLst>
                                    <p:set>
                                      <p:cBhvr>
                                        <p:cTn id="358" dur="1" fill="hold">
                                          <p:stCondLst>
                                            <p:cond delay="0"/>
                                          </p:stCondLst>
                                        </p:cTn>
                                        <p:tgtEl>
                                          <p:spTgt spid="282"/>
                                        </p:tgtEl>
                                        <p:attrNameLst>
                                          <p:attrName>style.visibility</p:attrName>
                                        </p:attrNameLst>
                                      </p:cBhvr>
                                      <p:to>
                                        <p:strVal val="visible"/>
                                      </p:to>
                                    </p:set>
                                  </p:childTnLst>
                                </p:cTn>
                              </p:par>
                              <p:par>
                                <p:cTn id="359" presetID="1" presetClass="entr" fill="hold" nodeType="withEffect">
                                  <p:stCondLst>
                                    <p:cond delay="0"/>
                                  </p:stCondLst>
                                  <p:childTnLst>
                                    <p:set>
                                      <p:cBhvr>
                                        <p:cTn id="360" dur="1" fill="hold">
                                          <p:stCondLst>
                                            <p:cond delay="0"/>
                                          </p:stCondLst>
                                        </p:cTn>
                                        <p:tgtEl>
                                          <p:spTgt spid="283"/>
                                        </p:tgtEl>
                                        <p:attrNameLst>
                                          <p:attrName>style.visibility</p:attrName>
                                        </p:attrNameLst>
                                      </p:cBhvr>
                                      <p:to>
                                        <p:strVal val="visible"/>
                                      </p:to>
                                    </p:set>
                                  </p:childTnLst>
                                </p:cTn>
                              </p:par>
                              <p:par>
                                <p:cTn id="361" presetID="1" presetClass="entr" fill="hold" nodeType="withEffect">
                                  <p:stCondLst>
                                    <p:cond delay="0"/>
                                  </p:stCondLst>
                                  <p:childTnLst>
                                    <p:set>
                                      <p:cBhvr>
                                        <p:cTn id="362" dur="1" fill="hold">
                                          <p:stCondLst>
                                            <p:cond delay="0"/>
                                          </p:stCondLst>
                                        </p:cTn>
                                        <p:tgtEl>
                                          <p:spTgt spid="284"/>
                                        </p:tgtEl>
                                        <p:attrNameLst>
                                          <p:attrName>style.visibility</p:attrName>
                                        </p:attrNameLst>
                                      </p:cBhvr>
                                      <p:to>
                                        <p:strVal val="visible"/>
                                      </p:to>
                                    </p:set>
                                  </p:childTnLst>
                                </p:cTn>
                              </p:par>
                              <p:par>
                                <p:cTn id="363" presetID="1" presetClass="entr" fill="hold" nodeType="withEffect">
                                  <p:stCondLst>
                                    <p:cond delay="0"/>
                                  </p:stCondLst>
                                  <p:childTnLst>
                                    <p:set>
                                      <p:cBhvr>
                                        <p:cTn id="364" dur="1" fill="hold">
                                          <p:stCondLst>
                                            <p:cond delay="0"/>
                                          </p:stCondLst>
                                        </p:cTn>
                                        <p:tgtEl>
                                          <p:spTgt spid="285"/>
                                        </p:tgtEl>
                                        <p:attrNameLst>
                                          <p:attrName>style.visibility</p:attrName>
                                        </p:attrNameLst>
                                      </p:cBhvr>
                                      <p:to>
                                        <p:strVal val="visible"/>
                                      </p:to>
                                    </p:set>
                                  </p:childTnLst>
                                </p:cTn>
                              </p:par>
                              <p:par>
                                <p:cTn id="365" presetID="1" presetClass="entr" fill="hold" nodeType="withEffect">
                                  <p:stCondLst>
                                    <p:cond delay="0"/>
                                  </p:stCondLst>
                                  <p:childTnLst>
                                    <p:set>
                                      <p:cBhvr>
                                        <p:cTn id="366" dur="1" fill="hold">
                                          <p:stCondLst>
                                            <p:cond delay="0"/>
                                          </p:stCondLst>
                                        </p:cTn>
                                        <p:tgtEl>
                                          <p:spTgt spid="286"/>
                                        </p:tgtEl>
                                        <p:attrNameLst>
                                          <p:attrName>style.visibility</p:attrName>
                                        </p:attrNameLst>
                                      </p:cBhvr>
                                      <p:to>
                                        <p:strVal val="visible"/>
                                      </p:to>
                                    </p:set>
                                  </p:childTnLst>
                                </p:cTn>
                              </p:par>
                              <p:par>
                                <p:cTn id="367" presetID="1" presetClass="entr" fill="hold" nodeType="withEffect">
                                  <p:stCondLst>
                                    <p:cond delay="0"/>
                                  </p:stCondLst>
                                  <p:childTnLst>
                                    <p:set>
                                      <p:cBhvr>
                                        <p:cTn id="368" dur="1" fill="hold">
                                          <p:stCondLst>
                                            <p:cond delay="0"/>
                                          </p:stCondLst>
                                        </p:cTn>
                                        <p:tgtEl>
                                          <p:spTgt spid="287"/>
                                        </p:tgtEl>
                                        <p:attrNameLst>
                                          <p:attrName>style.visibility</p:attrName>
                                        </p:attrNameLst>
                                      </p:cBhvr>
                                      <p:to>
                                        <p:strVal val="visible"/>
                                      </p:to>
                                    </p:set>
                                  </p:childTnLst>
                                </p:cTn>
                              </p:par>
                              <p:par>
                                <p:cTn id="369" presetID="1" presetClass="entr" fill="hold" nodeType="withEffect">
                                  <p:stCondLst>
                                    <p:cond delay="0"/>
                                  </p:stCondLst>
                                  <p:childTnLst>
                                    <p:set>
                                      <p:cBhvr>
                                        <p:cTn id="370" dur="1" fill="hold">
                                          <p:stCondLst>
                                            <p:cond delay="0"/>
                                          </p:stCondLst>
                                        </p:cTn>
                                        <p:tgtEl>
                                          <p:spTgt spid="288"/>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presetID="1" presetClass="entr" fill="hold" nodeType="clickEffect">
                                  <p:stCondLst>
                                    <p:cond delay="0"/>
                                  </p:stCondLst>
                                  <p:childTnLst>
                                    <p:set>
                                      <p:cBhvr>
                                        <p:cTn id="374" dur="1" fill="hold">
                                          <p:stCondLst>
                                            <p:cond delay="0"/>
                                          </p:stCondLst>
                                        </p:cTn>
                                        <p:tgtEl>
                                          <p:spTgt spid="289"/>
                                        </p:tgtEl>
                                        <p:attrNameLst>
                                          <p:attrName>style.visibility</p:attrName>
                                        </p:attrNameLst>
                                      </p:cBhvr>
                                      <p:to>
                                        <p:strVal val="visible"/>
                                      </p:to>
                                    </p:set>
                                  </p:childTnLst>
                                </p:cTn>
                              </p:par>
                              <p:par>
                                <p:cTn id="375" presetID="1" presetClass="entr" fill="hold" nodeType="withEffect">
                                  <p:stCondLst>
                                    <p:cond delay="0"/>
                                  </p:stCondLst>
                                  <p:childTnLst>
                                    <p:set>
                                      <p:cBhvr>
                                        <p:cTn id="376" dur="1" fill="hold">
                                          <p:stCondLst>
                                            <p:cond delay="0"/>
                                          </p:stCondLst>
                                        </p:cTn>
                                        <p:tgtEl>
                                          <p:spTgt spid="290"/>
                                        </p:tgtEl>
                                        <p:attrNameLst>
                                          <p:attrName>style.visibility</p:attrName>
                                        </p:attrNameLst>
                                      </p:cBhvr>
                                      <p:to>
                                        <p:strVal val="visible"/>
                                      </p:to>
                                    </p:set>
                                  </p:childTnLst>
                                </p:cTn>
                              </p:par>
                              <p:par>
                                <p:cTn id="377" presetID="1" presetClass="entr" fill="hold" nodeType="withEffect">
                                  <p:stCondLst>
                                    <p:cond delay="0"/>
                                  </p:stCondLst>
                                  <p:childTnLst>
                                    <p:set>
                                      <p:cBhvr>
                                        <p:cTn id="378" dur="1" fill="hold">
                                          <p:stCondLst>
                                            <p:cond delay="0"/>
                                          </p:stCondLst>
                                        </p:cTn>
                                        <p:tgtEl>
                                          <p:spTgt spid="291"/>
                                        </p:tgtEl>
                                        <p:attrNameLst>
                                          <p:attrName>style.visibility</p:attrName>
                                        </p:attrNameLst>
                                      </p:cBhvr>
                                      <p:to>
                                        <p:strVal val="visible"/>
                                      </p:to>
                                    </p:set>
                                  </p:childTnLst>
                                </p:cTn>
                              </p:par>
                              <p:par>
                                <p:cTn id="379" presetID="1" presetClass="entr" fill="hold" nodeType="withEffect">
                                  <p:stCondLst>
                                    <p:cond delay="0"/>
                                  </p:stCondLst>
                                  <p:childTnLst>
                                    <p:set>
                                      <p:cBhvr>
                                        <p:cTn id="380" dur="1" fill="hold">
                                          <p:stCondLst>
                                            <p:cond delay="0"/>
                                          </p:stCondLst>
                                        </p:cTn>
                                        <p:tgtEl>
                                          <p:spTgt spid="292"/>
                                        </p:tgtEl>
                                        <p:attrNameLst>
                                          <p:attrName>style.visibility</p:attrName>
                                        </p:attrNameLst>
                                      </p:cBhvr>
                                      <p:to>
                                        <p:strVal val="visible"/>
                                      </p:to>
                                    </p:set>
                                  </p:childTnLst>
                                </p:cTn>
                              </p:par>
                              <p:par>
                                <p:cTn id="381" presetID="1" presetClass="entr" fill="hold" nodeType="withEffect">
                                  <p:stCondLst>
                                    <p:cond delay="0"/>
                                  </p:stCondLst>
                                  <p:childTnLst>
                                    <p:set>
                                      <p:cBhvr>
                                        <p:cTn id="382" dur="1" fill="hold">
                                          <p:stCondLst>
                                            <p:cond delay="0"/>
                                          </p:stCondLst>
                                        </p:cTn>
                                        <p:tgtEl>
                                          <p:spTgt spid="293"/>
                                        </p:tgtEl>
                                        <p:attrNameLst>
                                          <p:attrName>style.visibility</p:attrName>
                                        </p:attrNameLst>
                                      </p:cBhvr>
                                      <p:to>
                                        <p:strVal val="visible"/>
                                      </p:to>
                                    </p:set>
                                  </p:childTnLst>
                                </p:cTn>
                              </p:par>
                              <p:par>
                                <p:cTn id="383" presetID="1" presetClass="entr" fill="hold" nodeType="withEffect">
                                  <p:stCondLst>
                                    <p:cond delay="0"/>
                                  </p:stCondLst>
                                  <p:childTnLst>
                                    <p:set>
                                      <p:cBhvr>
                                        <p:cTn id="384" dur="1" fill="hold">
                                          <p:stCondLst>
                                            <p:cond delay="0"/>
                                          </p:stCondLst>
                                        </p:cTn>
                                        <p:tgtEl>
                                          <p:spTgt spid="294"/>
                                        </p:tgtEl>
                                        <p:attrNameLst>
                                          <p:attrName>style.visibility</p:attrName>
                                        </p:attrNameLst>
                                      </p:cBhvr>
                                      <p:to>
                                        <p:strVal val="visible"/>
                                      </p:to>
                                    </p:set>
                                  </p:childTnLst>
                                </p:cTn>
                              </p:par>
                              <p:par>
                                <p:cTn id="385" presetID="1" presetClass="entr" fill="hold" nodeType="withEffect">
                                  <p:stCondLst>
                                    <p:cond delay="0"/>
                                  </p:stCondLst>
                                  <p:childTnLst>
                                    <p:set>
                                      <p:cBhvr>
                                        <p:cTn id="386" dur="1" fill="hold">
                                          <p:stCondLst>
                                            <p:cond delay="0"/>
                                          </p:stCondLst>
                                        </p:cTn>
                                        <p:tgtEl>
                                          <p:spTgt spid="295"/>
                                        </p:tgtEl>
                                        <p:attrNameLst>
                                          <p:attrName>style.visibility</p:attrName>
                                        </p:attrNameLst>
                                      </p:cBhvr>
                                      <p:to>
                                        <p:strVal val="visible"/>
                                      </p:to>
                                    </p:set>
                                  </p:childTnLst>
                                </p:cTn>
                              </p:par>
                              <p:par>
                                <p:cTn id="387" presetID="1" presetClass="entr" fill="hold" nodeType="withEffect">
                                  <p:stCondLst>
                                    <p:cond delay="0"/>
                                  </p:stCondLst>
                                  <p:childTnLst>
                                    <p:set>
                                      <p:cBhvr>
                                        <p:cTn id="388" dur="1" fill="hold">
                                          <p:stCondLst>
                                            <p:cond delay="0"/>
                                          </p:stCondLst>
                                        </p:cTn>
                                        <p:tgtEl>
                                          <p:spTgt spid="296"/>
                                        </p:tgtEl>
                                        <p:attrNameLst>
                                          <p:attrName>style.visibility</p:attrName>
                                        </p:attrNameLst>
                                      </p:cBhvr>
                                      <p:to>
                                        <p:strVal val="visible"/>
                                      </p:to>
                                    </p:set>
                                  </p:childTnLst>
                                </p:cTn>
                              </p:par>
                              <p:par>
                                <p:cTn id="389" presetID="1" presetClass="entr" fill="hold" nodeType="withEffect">
                                  <p:stCondLst>
                                    <p:cond delay="0"/>
                                  </p:stCondLst>
                                  <p:childTnLst>
                                    <p:set>
                                      <p:cBhvr>
                                        <p:cTn id="390" dur="1" fill="hold">
                                          <p:stCondLst>
                                            <p:cond delay="0"/>
                                          </p:stCondLst>
                                        </p:cTn>
                                        <p:tgtEl>
                                          <p:spTgt spid="297"/>
                                        </p:tgtEl>
                                        <p:attrNameLst>
                                          <p:attrName>style.visibility</p:attrName>
                                        </p:attrNameLst>
                                      </p:cBhvr>
                                      <p:to>
                                        <p:strVal val="visible"/>
                                      </p:to>
                                    </p:set>
                                  </p:childTnLst>
                                </p:cTn>
                              </p:par>
                              <p:par>
                                <p:cTn id="391" presetID="1" presetClass="entr" fill="hold" nodeType="withEffect">
                                  <p:stCondLst>
                                    <p:cond delay="0"/>
                                  </p:stCondLst>
                                  <p:childTnLst>
                                    <p:set>
                                      <p:cBhvr>
                                        <p:cTn id="392" dur="1" fill="hold">
                                          <p:stCondLst>
                                            <p:cond delay="0"/>
                                          </p:stCondLst>
                                        </p:cTn>
                                        <p:tgtEl>
                                          <p:spTgt spid="298"/>
                                        </p:tgtEl>
                                        <p:attrNameLst>
                                          <p:attrName>style.visibility</p:attrName>
                                        </p:attrNameLst>
                                      </p:cBhvr>
                                      <p:to>
                                        <p:strVal val="visible"/>
                                      </p:to>
                                    </p:set>
                                  </p:childTnLst>
                                </p:cTn>
                              </p:par>
                              <p:par>
                                <p:cTn id="393" presetID="1" presetClass="entr" fill="hold" nodeType="withEffect">
                                  <p:stCondLst>
                                    <p:cond delay="0"/>
                                  </p:stCondLst>
                                  <p:childTnLst>
                                    <p:set>
                                      <p:cBhvr>
                                        <p:cTn id="394"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302"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Three concrete next steps</a:t>
            </a:r>
            <a:endParaRPr lang="de-DE" sz="2400" b="0" u="none" strike="noStrike">
              <a:solidFill>
                <a:srgbClr val="FFFFFF"/>
              </a:solidFill>
              <a:effectLst/>
              <a:uFillTx/>
              <a:latin typeface="Arial"/>
            </a:endParaRPr>
          </a:p>
        </p:txBody>
      </p:sp>
      <p:sp>
        <p:nvSpPr>
          <p:cNvPr id="303" name="Shape 1"/>
          <p:cNvSpPr/>
          <p:nvPr/>
        </p:nvSpPr>
        <p:spPr>
          <a:xfrm>
            <a:off x="457200" y="1188720"/>
            <a:ext cx="816840" cy="908280"/>
          </a:xfrm>
          <a:prstGeom prst="roundRect">
            <a:avLst>
              <a:gd name="adj" fmla="val 16667"/>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304" name="Text 2"/>
          <p:cNvSpPr/>
          <p:nvPr/>
        </p:nvSpPr>
        <p:spPr>
          <a:xfrm>
            <a:off x="457200" y="1188720"/>
            <a:ext cx="816840" cy="90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1" u="none" strike="noStrike">
                <a:solidFill>
                  <a:srgbClr val="FFFFFF"/>
                </a:solidFill>
                <a:effectLst/>
                <a:uFillTx/>
                <a:latin typeface="DejaVu Serif"/>
                <a:ea typeface="DejaVu Serif"/>
              </a:rPr>
              <a:t>01</a:t>
            </a:r>
            <a:endParaRPr lang="de-DE" sz="2800" b="0" u="none" strike="noStrike">
              <a:solidFill>
                <a:srgbClr val="FFFFFF"/>
              </a:solidFill>
              <a:effectLst/>
              <a:uFillTx/>
              <a:latin typeface="Arial"/>
            </a:endParaRPr>
          </a:p>
        </p:txBody>
      </p:sp>
      <p:sp>
        <p:nvSpPr>
          <p:cNvPr id="305" name="Shape 3"/>
          <p:cNvSpPr/>
          <p:nvPr/>
        </p:nvSpPr>
        <p:spPr>
          <a:xfrm>
            <a:off x="1371600" y="1188720"/>
            <a:ext cx="7309080" cy="908280"/>
          </a:xfrm>
          <a:prstGeom prst="roundRect">
            <a:avLst>
              <a:gd name="adj" fmla="val 15000"/>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306" name="Text 4"/>
          <p:cNvSpPr/>
          <p:nvPr/>
        </p:nvSpPr>
        <p:spPr>
          <a:xfrm>
            <a:off x="1554480" y="1280160"/>
            <a:ext cx="6943320" cy="359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DejaVu Serif"/>
              </a:rPr>
              <a:t>Scale up the local stack</a:t>
            </a:r>
            <a:endParaRPr lang="de-DE" sz="1600" b="0" u="none" strike="noStrike">
              <a:solidFill>
                <a:srgbClr val="FFFFFF"/>
              </a:solidFill>
              <a:effectLst/>
              <a:uFillTx/>
              <a:latin typeface="Arial"/>
            </a:endParaRPr>
          </a:p>
        </p:txBody>
      </p:sp>
      <p:sp>
        <p:nvSpPr>
          <p:cNvPr id="307" name="Text 5"/>
          <p:cNvSpPr/>
          <p:nvPr/>
        </p:nvSpPr>
        <p:spPr>
          <a:xfrm>
            <a:off x="1554480" y="1691640"/>
            <a:ext cx="694332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5429"/>
                </a:solidFill>
                <a:effectLst/>
                <a:uFillTx/>
                <a:latin typeface="DejaVu Serif"/>
                <a:ea typeface="DejaVu Serif"/>
              </a:rPr>
              <a:t>Expected: </a:t>
            </a:r>
            <a:r>
              <a:rPr lang="en-US" sz="1300" b="0" u="none" strike="noStrike">
                <a:solidFill>
                  <a:srgbClr val="FFFFFF"/>
                </a:solidFill>
                <a:effectLst/>
                <a:uFillTx/>
                <a:latin typeface="DejaVu Serif"/>
                <a:ea typeface="DejaVu Serif"/>
              </a:rPr>
              <a:t>Close the cloud-vs-local quality gap</a:t>
            </a:r>
            <a:endParaRPr lang="de-DE" sz="1300" b="0" u="none" strike="noStrike">
              <a:solidFill>
                <a:srgbClr val="FFFFFF"/>
              </a:solidFill>
              <a:effectLst/>
              <a:uFillTx/>
              <a:latin typeface="Arial"/>
            </a:endParaRPr>
          </a:p>
        </p:txBody>
      </p:sp>
      <p:sp>
        <p:nvSpPr>
          <p:cNvPr id="308" name="Shape 6"/>
          <p:cNvSpPr/>
          <p:nvPr/>
        </p:nvSpPr>
        <p:spPr>
          <a:xfrm>
            <a:off x="457200" y="2331720"/>
            <a:ext cx="816840" cy="908280"/>
          </a:xfrm>
          <a:prstGeom prst="roundRect">
            <a:avLst>
              <a:gd name="adj" fmla="val 16667"/>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309" name="Text 7"/>
          <p:cNvSpPr/>
          <p:nvPr/>
        </p:nvSpPr>
        <p:spPr>
          <a:xfrm>
            <a:off x="457200" y="2331720"/>
            <a:ext cx="816840" cy="90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1" u="none" strike="noStrike">
                <a:solidFill>
                  <a:srgbClr val="FFFFFF"/>
                </a:solidFill>
                <a:effectLst/>
                <a:uFillTx/>
                <a:latin typeface="DejaVu Serif"/>
                <a:ea typeface="DejaVu Serif"/>
              </a:rPr>
              <a:t>02</a:t>
            </a:r>
            <a:endParaRPr lang="de-DE" sz="2800" b="0" u="none" strike="noStrike">
              <a:solidFill>
                <a:srgbClr val="FFFFFF"/>
              </a:solidFill>
              <a:effectLst/>
              <a:uFillTx/>
              <a:latin typeface="Arial"/>
            </a:endParaRPr>
          </a:p>
        </p:txBody>
      </p:sp>
      <p:sp>
        <p:nvSpPr>
          <p:cNvPr id="310" name="Shape 8"/>
          <p:cNvSpPr/>
          <p:nvPr/>
        </p:nvSpPr>
        <p:spPr>
          <a:xfrm>
            <a:off x="1371600" y="2331720"/>
            <a:ext cx="7309080" cy="908280"/>
          </a:xfrm>
          <a:prstGeom prst="roundRect">
            <a:avLst>
              <a:gd name="adj" fmla="val 15000"/>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311" name="Text 9"/>
          <p:cNvSpPr/>
          <p:nvPr/>
        </p:nvSpPr>
        <p:spPr>
          <a:xfrm>
            <a:off x="1554480" y="2423160"/>
            <a:ext cx="6943320" cy="359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DejaVu Serif"/>
              </a:rPr>
              <a:t>Prompt engineering for better SOAP quality</a:t>
            </a:r>
            <a:endParaRPr lang="de-DE" sz="1600" b="0" u="none" strike="noStrike">
              <a:solidFill>
                <a:srgbClr val="FFFFFF"/>
              </a:solidFill>
              <a:effectLst/>
              <a:uFillTx/>
              <a:latin typeface="Arial"/>
            </a:endParaRPr>
          </a:p>
        </p:txBody>
      </p:sp>
      <p:sp>
        <p:nvSpPr>
          <p:cNvPr id="312" name="Text 10"/>
          <p:cNvSpPr/>
          <p:nvPr/>
        </p:nvSpPr>
        <p:spPr>
          <a:xfrm>
            <a:off x="1554480" y="2834640"/>
            <a:ext cx="694332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5429"/>
                </a:solidFill>
                <a:effectLst/>
                <a:uFillTx/>
                <a:latin typeface="DejaVu Serif"/>
                <a:ea typeface="DejaVu Serif"/>
              </a:rPr>
              <a:t>Expected: </a:t>
            </a:r>
            <a:r>
              <a:rPr lang="en-US" sz="1300" b="0" u="none" strike="noStrike">
                <a:solidFill>
                  <a:srgbClr val="FFFFFF"/>
                </a:solidFill>
                <a:effectLst/>
                <a:uFillTx/>
                <a:latin typeface="DejaVu Serif"/>
                <a:ea typeface="DejaVu Serif"/>
              </a:rPr>
              <a:t>Lift average P-score from 0.1 to 1.0+</a:t>
            </a:r>
            <a:endParaRPr lang="de-DE" sz="1300" b="0" u="none" strike="noStrike">
              <a:solidFill>
                <a:srgbClr val="FFFFFF"/>
              </a:solidFill>
              <a:effectLst/>
              <a:uFillTx/>
              <a:latin typeface="Arial"/>
            </a:endParaRPr>
          </a:p>
        </p:txBody>
      </p:sp>
      <p:sp>
        <p:nvSpPr>
          <p:cNvPr id="313" name="Shape 11"/>
          <p:cNvSpPr/>
          <p:nvPr/>
        </p:nvSpPr>
        <p:spPr>
          <a:xfrm>
            <a:off x="457200" y="3474720"/>
            <a:ext cx="816840" cy="908280"/>
          </a:xfrm>
          <a:prstGeom prst="roundRect">
            <a:avLst>
              <a:gd name="adj" fmla="val 16667"/>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314" name="Text 12"/>
          <p:cNvSpPr/>
          <p:nvPr/>
        </p:nvSpPr>
        <p:spPr>
          <a:xfrm>
            <a:off x="457200" y="3474720"/>
            <a:ext cx="816840" cy="90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800" b="1" u="none" strike="noStrike">
                <a:solidFill>
                  <a:srgbClr val="FFFFFF"/>
                </a:solidFill>
                <a:effectLst/>
                <a:uFillTx/>
                <a:latin typeface="DejaVu Serif"/>
                <a:ea typeface="DejaVu Serif"/>
              </a:rPr>
              <a:t>03</a:t>
            </a:r>
            <a:endParaRPr lang="de-DE" sz="2800" b="0" u="none" strike="noStrike">
              <a:solidFill>
                <a:srgbClr val="FFFFFF"/>
              </a:solidFill>
              <a:effectLst/>
              <a:uFillTx/>
              <a:latin typeface="Arial"/>
            </a:endParaRPr>
          </a:p>
        </p:txBody>
      </p:sp>
      <p:sp>
        <p:nvSpPr>
          <p:cNvPr id="315" name="Shape 13"/>
          <p:cNvSpPr/>
          <p:nvPr/>
        </p:nvSpPr>
        <p:spPr>
          <a:xfrm>
            <a:off x="1371600" y="3474720"/>
            <a:ext cx="7309080" cy="908280"/>
          </a:xfrm>
          <a:prstGeom prst="roundRect">
            <a:avLst>
              <a:gd name="adj" fmla="val 15000"/>
            </a:avLst>
          </a:prstGeom>
          <a:solidFill>
            <a:srgbClr val="2A2D32"/>
          </a:solidFill>
          <a:ln w="12600">
            <a:solidFill>
              <a:srgbClr val="333333"/>
            </a:solidFill>
            <a:round/>
          </a:ln>
        </p:spPr>
        <p:style>
          <a:lnRef idx="0"/>
          <a:fillRef idx="0"/>
          <a:effectRef idx="0"/>
          <a:fontRef idx="minor"/>
        </p:style>
        <p:txBody>
          <a:bodyPr lIns="90000" tIns="45000" rIns="90000" bIns="45000" anchor="t">
            <a:noAutofit/>
          </a:bodyPr>
          <a:p>
            <a:pPr defTabSz="914400">
              <a:lnSpc>
                <a:spcPct val="100000"/>
              </a:lnSpc>
            </a:pPr>
            <a:endParaRPr lang="de-DE" sz="1800" b="0" u="none" strike="noStrike">
              <a:solidFill>
                <a:schemeClr val="dk1"/>
              </a:solidFill>
              <a:effectLst/>
              <a:uFillTx/>
              <a:latin typeface="Calibri"/>
            </a:endParaRPr>
          </a:p>
        </p:txBody>
      </p:sp>
      <p:sp>
        <p:nvSpPr>
          <p:cNvPr id="316" name="Text 14"/>
          <p:cNvSpPr/>
          <p:nvPr/>
        </p:nvSpPr>
        <p:spPr>
          <a:xfrm>
            <a:off x="1554480" y="3566160"/>
            <a:ext cx="6943320" cy="359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E8E8E8"/>
                </a:solidFill>
                <a:effectLst/>
                <a:uFillTx/>
                <a:latin typeface="DejaVu Serif"/>
                <a:ea typeface="DejaVu Serif"/>
              </a:rPr>
              <a:t>Real-time streaming UX</a:t>
            </a:r>
            <a:endParaRPr lang="de-DE" sz="1600" b="0" u="none" strike="noStrike">
              <a:solidFill>
                <a:srgbClr val="FFFFFF"/>
              </a:solidFill>
              <a:effectLst/>
              <a:uFillTx/>
              <a:latin typeface="Arial"/>
            </a:endParaRPr>
          </a:p>
        </p:txBody>
      </p:sp>
      <p:sp>
        <p:nvSpPr>
          <p:cNvPr id="317" name="Text 15"/>
          <p:cNvSpPr/>
          <p:nvPr/>
        </p:nvSpPr>
        <p:spPr>
          <a:xfrm>
            <a:off x="1554480" y="3977640"/>
            <a:ext cx="6943320" cy="313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FF5429"/>
                </a:solidFill>
                <a:effectLst/>
                <a:uFillTx/>
                <a:latin typeface="DejaVu Serif"/>
                <a:ea typeface="DejaVu Serif"/>
              </a:rPr>
              <a:t>Expected: </a:t>
            </a:r>
            <a:r>
              <a:rPr lang="en-US" sz="1300" b="0" u="none" strike="noStrike">
                <a:solidFill>
                  <a:srgbClr val="FFFFFF"/>
                </a:solidFill>
                <a:effectLst/>
                <a:uFillTx/>
                <a:latin typeface="DejaVu Serif"/>
                <a:ea typeface="DejaVu Serif"/>
              </a:rPr>
              <a:t>Draft note ready before patient leaves the room</a:t>
            </a:r>
            <a:endParaRPr lang="de-DE" sz="1300" b="0" u="none" strike="noStrike">
              <a:solidFill>
                <a:srgbClr val="FFFFFF"/>
              </a:solidFill>
              <a:effectLst/>
              <a:uFillTx/>
              <a:latin typeface="Arial"/>
            </a:endParaRPr>
          </a:p>
        </p:txBody>
      </p:sp>
      <p:sp>
        <p:nvSpPr>
          <p:cNvPr id="318" name="Text 16"/>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319" name="Text 17"/>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17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395" dur="indefinite" restart="never" nodeType="tmRoot">
          <p:childTnLst>
            <p:seq>
              <p:cTn id="396" dur="indefinite" nodeType="mainSeq">
                <p:childTnLst>
                  <p:par>
                    <p:cTn id="397" fill="hold">
                      <p:stCondLst>
                        <p:cond delay="0"/>
                      </p:stCondLst>
                      <p:childTnLst>
                        <p:par>
                          <p:cTn id="398" fill="hold">
                            <p:stCondLst>
                              <p:cond delay="0"/>
                            </p:stCondLst>
                            <p:childTnLst>
                              <p:par>
                                <p:cTn id="399" presetID="1" presetClass="entr" fill="hold" nodeType="withEffect">
                                  <p:stCondLst>
                                    <p:cond delay="0"/>
                                  </p:stCondLst>
                                  <p:childTnLst>
                                    <p:set>
                                      <p:cBhvr>
                                        <p:cTn id="400" dur="1" fill="hold">
                                          <p:stCondLst>
                                            <p:cond delay="0"/>
                                          </p:stCondLst>
                                        </p:cTn>
                                        <p:tgtEl>
                                          <p:spTgt spid="303"/>
                                        </p:tgtEl>
                                        <p:attrNameLst>
                                          <p:attrName>style.visibility</p:attrName>
                                        </p:attrNameLst>
                                      </p:cBhvr>
                                      <p:to>
                                        <p:strVal val="visible"/>
                                      </p:to>
                                    </p:set>
                                  </p:childTnLst>
                                </p:cTn>
                              </p:par>
                              <p:par>
                                <p:cTn id="401" presetID="1" presetClass="entr" fill="hold" nodeType="withEffect">
                                  <p:stCondLst>
                                    <p:cond delay="0"/>
                                  </p:stCondLst>
                                  <p:childTnLst>
                                    <p:set>
                                      <p:cBhvr>
                                        <p:cTn id="402" dur="1" fill="hold">
                                          <p:stCondLst>
                                            <p:cond delay="0"/>
                                          </p:stCondLst>
                                        </p:cTn>
                                        <p:tgtEl>
                                          <p:spTgt spid="304"/>
                                        </p:tgtEl>
                                        <p:attrNameLst>
                                          <p:attrName>style.visibility</p:attrName>
                                        </p:attrNameLst>
                                      </p:cBhvr>
                                      <p:to>
                                        <p:strVal val="visible"/>
                                      </p:to>
                                    </p:set>
                                  </p:childTnLst>
                                </p:cTn>
                              </p:par>
                              <p:par>
                                <p:cTn id="403" presetID="1" presetClass="entr" fill="hold" nodeType="withEffect">
                                  <p:stCondLst>
                                    <p:cond delay="0"/>
                                  </p:stCondLst>
                                  <p:childTnLst>
                                    <p:set>
                                      <p:cBhvr>
                                        <p:cTn id="404" dur="1" fill="hold">
                                          <p:stCondLst>
                                            <p:cond delay="0"/>
                                          </p:stCondLst>
                                        </p:cTn>
                                        <p:tgtEl>
                                          <p:spTgt spid="305"/>
                                        </p:tgtEl>
                                        <p:attrNameLst>
                                          <p:attrName>style.visibility</p:attrName>
                                        </p:attrNameLst>
                                      </p:cBhvr>
                                      <p:to>
                                        <p:strVal val="visible"/>
                                      </p:to>
                                    </p:set>
                                  </p:childTnLst>
                                </p:cTn>
                              </p:par>
                              <p:par>
                                <p:cTn id="405" presetID="1" presetClass="entr" fill="hold" nodeType="withEffect">
                                  <p:stCondLst>
                                    <p:cond delay="0"/>
                                  </p:stCondLst>
                                  <p:childTnLst>
                                    <p:set>
                                      <p:cBhvr>
                                        <p:cTn id="406" dur="1" fill="hold">
                                          <p:stCondLst>
                                            <p:cond delay="0"/>
                                          </p:stCondLst>
                                        </p:cTn>
                                        <p:tgtEl>
                                          <p:spTgt spid="306"/>
                                        </p:tgtEl>
                                        <p:attrNameLst>
                                          <p:attrName>style.visibility</p:attrName>
                                        </p:attrNameLst>
                                      </p:cBhvr>
                                      <p:to>
                                        <p:strVal val="visible"/>
                                      </p:to>
                                    </p:set>
                                  </p:childTnLst>
                                </p:cTn>
                              </p:par>
                              <p:par>
                                <p:cTn id="407" presetID="1" presetClass="entr" fill="hold" nodeType="withEffect">
                                  <p:stCondLst>
                                    <p:cond delay="0"/>
                                  </p:stCondLst>
                                  <p:childTnLst>
                                    <p:set>
                                      <p:cBhvr>
                                        <p:cTn id="408" dur="1" fill="hold">
                                          <p:stCondLst>
                                            <p:cond delay="0"/>
                                          </p:stCondLst>
                                        </p:cTn>
                                        <p:tgtEl>
                                          <p:spTgt spid="307"/>
                                        </p:tgtEl>
                                        <p:attrNameLst>
                                          <p:attrName>style.visibility</p:attrName>
                                        </p:attrNameLst>
                                      </p:cBhvr>
                                      <p:to>
                                        <p:strVal val="visible"/>
                                      </p:to>
                                    </p:set>
                                  </p:childTnLst>
                                </p:cTn>
                              </p:par>
                            </p:childTnLst>
                          </p:cTn>
                        </p:par>
                      </p:childTnLst>
                    </p:cTn>
                  </p:par>
                  <p:par>
                    <p:cTn id="409" fill="hold">
                      <p:stCondLst>
                        <p:cond delay="indefinite"/>
                      </p:stCondLst>
                      <p:childTnLst>
                        <p:par>
                          <p:cTn id="410" fill="hold">
                            <p:stCondLst>
                              <p:cond delay="0"/>
                            </p:stCondLst>
                            <p:childTnLst>
                              <p:par>
                                <p:cTn id="411" presetID="1" presetClass="entr" fill="hold" nodeType="clickEffect">
                                  <p:stCondLst>
                                    <p:cond delay="0"/>
                                  </p:stCondLst>
                                  <p:childTnLst>
                                    <p:set>
                                      <p:cBhvr>
                                        <p:cTn id="412" dur="1" fill="hold">
                                          <p:stCondLst>
                                            <p:cond delay="0"/>
                                          </p:stCondLst>
                                        </p:cTn>
                                        <p:tgtEl>
                                          <p:spTgt spid="308"/>
                                        </p:tgtEl>
                                        <p:attrNameLst>
                                          <p:attrName>style.visibility</p:attrName>
                                        </p:attrNameLst>
                                      </p:cBhvr>
                                      <p:to>
                                        <p:strVal val="visible"/>
                                      </p:to>
                                    </p:set>
                                  </p:childTnLst>
                                </p:cTn>
                              </p:par>
                              <p:par>
                                <p:cTn id="413" presetID="1" presetClass="entr" fill="hold" nodeType="withEffect">
                                  <p:stCondLst>
                                    <p:cond delay="0"/>
                                  </p:stCondLst>
                                  <p:childTnLst>
                                    <p:set>
                                      <p:cBhvr>
                                        <p:cTn id="414" dur="1" fill="hold">
                                          <p:stCondLst>
                                            <p:cond delay="0"/>
                                          </p:stCondLst>
                                        </p:cTn>
                                        <p:tgtEl>
                                          <p:spTgt spid="309"/>
                                        </p:tgtEl>
                                        <p:attrNameLst>
                                          <p:attrName>style.visibility</p:attrName>
                                        </p:attrNameLst>
                                      </p:cBhvr>
                                      <p:to>
                                        <p:strVal val="visible"/>
                                      </p:to>
                                    </p:set>
                                  </p:childTnLst>
                                </p:cTn>
                              </p:par>
                              <p:par>
                                <p:cTn id="415" presetID="1" presetClass="entr" fill="hold" nodeType="withEffect">
                                  <p:stCondLst>
                                    <p:cond delay="0"/>
                                  </p:stCondLst>
                                  <p:childTnLst>
                                    <p:set>
                                      <p:cBhvr>
                                        <p:cTn id="416" dur="1" fill="hold">
                                          <p:stCondLst>
                                            <p:cond delay="0"/>
                                          </p:stCondLst>
                                        </p:cTn>
                                        <p:tgtEl>
                                          <p:spTgt spid="310"/>
                                        </p:tgtEl>
                                        <p:attrNameLst>
                                          <p:attrName>style.visibility</p:attrName>
                                        </p:attrNameLst>
                                      </p:cBhvr>
                                      <p:to>
                                        <p:strVal val="visible"/>
                                      </p:to>
                                    </p:set>
                                  </p:childTnLst>
                                </p:cTn>
                              </p:par>
                              <p:par>
                                <p:cTn id="417" presetID="1" presetClass="entr" fill="hold" nodeType="withEffect">
                                  <p:stCondLst>
                                    <p:cond delay="0"/>
                                  </p:stCondLst>
                                  <p:childTnLst>
                                    <p:set>
                                      <p:cBhvr>
                                        <p:cTn id="418" dur="1" fill="hold">
                                          <p:stCondLst>
                                            <p:cond delay="0"/>
                                          </p:stCondLst>
                                        </p:cTn>
                                        <p:tgtEl>
                                          <p:spTgt spid="311"/>
                                        </p:tgtEl>
                                        <p:attrNameLst>
                                          <p:attrName>style.visibility</p:attrName>
                                        </p:attrNameLst>
                                      </p:cBhvr>
                                      <p:to>
                                        <p:strVal val="visible"/>
                                      </p:to>
                                    </p:set>
                                  </p:childTnLst>
                                </p:cTn>
                              </p:par>
                              <p:par>
                                <p:cTn id="419" presetID="1" presetClass="entr" fill="hold" nodeType="withEffect">
                                  <p:stCondLst>
                                    <p:cond delay="0"/>
                                  </p:stCondLst>
                                  <p:childTnLst>
                                    <p:set>
                                      <p:cBhvr>
                                        <p:cTn id="420" dur="1" fill="hold">
                                          <p:stCondLst>
                                            <p:cond delay="0"/>
                                          </p:stCondLst>
                                        </p:cTn>
                                        <p:tgtEl>
                                          <p:spTgt spid="312"/>
                                        </p:tgtEl>
                                        <p:attrNameLst>
                                          <p:attrName>style.visibility</p:attrName>
                                        </p:attrNameLst>
                                      </p:cBhvr>
                                      <p:to>
                                        <p:strVal val="visible"/>
                                      </p:to>
                                    </p:set>
                                  </p:childTnLst>
                                </p:cTn>
                              </p:par>
                            </p:childTnLst>
                          </p:cTn>
                        </p:par>
                      </p:childTnLst>
                    </p:cTn>
                  </p:par>
                  <p:par>
                    <p:cTn id="421" fill="hold">
                      <p:stCondLst>
                        <p:cond delay="indefinite"/>
                      </p:stCondLst>
                      <p:childTnLst>
                        <p:par>
                          <p:cTn id="422" fill="hold">
                            <p:stCondLst>
                              <p:cond delay="0"/>
                            </p:stCondLst>
                            <p:childTnLst>
                              <p:par>
                                <p:cTn id="423" presetID="1" presetClass="entr" fill="hold" nodeType="clickEffect">
                                  <p:stCondLst>
                                    <p:cond delay="0"/>
                                  </p:stCondLst>
                                  <p:childTnLst>
                                    <p:set>
                                      <p:cBhvr>
                                        <p:cTn id="424" dur="1" fill="hold">
                                          <p:stCondLst>
                                            <p:cond delay="0"/>
                                          </p:stCondLst>
                                        </p:cTn>
                                        <p:tgtEl>
                                          <p:spTgt spid="313"/>
                                        </p:tgtEl>
                                        <p:attrNameLst>
                                          <p:attrName>style.visibility</p:attrName>
                                        </p:attrNameLst>
                                      </p:cBhvr>
                                      <p:to>
                                        <p:strVal val="visible"/>
                                      </p:to>
                                    </p:set>
                                  </p:childTnLst>
                                </p:cTn>
                              </p:par>
                              <p:par>
                                <p:cTn id="425" presetID="1" presetClass="entr" fill="hold" nodeType="withEffect">
                                  <p:stCondLst>
                                    <p:cond delay="0"/>
                                  </p:stCondLst>
                                  <p:childTnLst>
                                    <p:set>
                                      <p:cBhvr>
                                        <p:cTn id="426" dur="1" fill="hold">
                                          <p:stCondLst>
                                            <p:cond delay="0"/>
                                          </p:stCondLst>
                                        </p:cTn>
                                        <p:tgtEl>
                                          <p:spTgt spid="314"/>
                                        </p:tgtEl>
                                        <p:attrNameLst>
                                          <p:attrName>style.visibility</p:attrName>
                                        </p:attrNameLst>
                                      </p:cBhvr>
                                      <p:to>
                                        <p:strVal val="visible"/>
                                      </p:to>
                                    </p:set>
                                  </p:childTnLst>
                                </p:cTn>
                              </p:par>
                              <p:par>
                                <p:cTn id="427" presetID="1" presetClass="entr" fill="hold" nodeType="withEffect">
                                  <p:stCondLst>
                                    <p:cond delay="0"/>
                                  </p:stCondLst>
                                  <p:childTnLst>
                                    <p:set>
                                      <p:cBhvr>
                                        <p:cTn id="428" dur="1" fill="hold">
                                          <p:stCondLst>
                                            <p:cond delay="0"/>
                                          </p:stCondLst>
                                        </p:cTn>
                                        <p:tgtEl>
                                          <p:spTgt spid="315"/>
                                        </p:tgtEl>
                                        <p:attrNameLst>
                                          <p:attrName>style.visibility</p:attrName>
                                        </p:attrNameLst>
                                      </p:cBhvr>
                                      <p:to>
                                        <p:strVal val="visible"/>
                                      </p:to>
                                    </p:set>
                                  </p:childTnLst>
                                </p:cTn>
                              </p:par>
                              <p:par>
                                <p:cTn id="429" presetID="1" presetClass="entr" fill="hold" nodeType="withEffect">
                                  <p:stCondLst>
                                    <p:cond delay="0"/>
                                  </p:stCondLst>
                                  <p:childTnLst>
                                    <p:set>
                                      <p:cBhvr>
                                        <p:cTn id="430" dur="1" fill="hold">
                                          <p:stCondLst>
                                            <p:cond delay="0"/>
                                          </p:stCondLst>
                                        </p:cTn>
                                        <p:tgtEl>
                                          <p:spTgt spid="316"/>
                                        </p:tgtEl>
                                        <p:attrNameLst>
                                          <p:attrName>style.visibility</p:attrName>
                                        </p:attrNameLst>
                                      </p:cBhvr>
                                      <p:to>
                                        <p:strVal val="visible"/>
                                      </p:to>
                                    </p:set>
                                  </p:childTnLst>
                                </p:cTn>
                              </p:par>
                              <p:par>
                                <p:cTn id="431" presetID="1" presetClass="entr" fill="hold" nodeType="withEffect">
                                  <p:stCondLst>
                                    <p:cond delay="0"/>
                                  </p:stCondLst>
                                  <p:childTnLst>
                                    <p:set>
                                      <p:cBhvr>
                                        <p:cTn id="432"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320" name="Text 0"/>
          <p:cNvSpPr/>
          <p:nvPr/>
        </p:nvSpPr>
        <p:spPr>
          <a:xfrm>
            <a:off x="457200" y="274320"/>
            <a:ext cx="8223480" cy="63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8E8E8"/>
                </a:solidFill>
                <a:effectLst/>
                <a:uFillTx/>
                <a:latin typeface="DejaVu Serif"/>
                <a:ea typeface="DejaVu Serif"/>
              </a:rPr>
              <a:t>If you remember only three things...</a:t>
            </a:r>
            <a:endParaRPr lang="de-DE" sz="2400" b="0" u="none" strike="noStrike">
              <a:solidFill>
                <a:srgbClr val="FFFFFF"/>
              </a:solidFill>
              <a:effectLst/>
              <a:uFillTx/>
              <a:latin typeface="Arial"/>
            </a:endParaRPr>
          </a:p>
        </p:txBody>
      </p:sp>
      <p:sp>
        <p:nvSpPr>
          <p:cNvPr id="321" name="Text 1"/>
          <p:cNvSpPr/>
          <p:nvPr/>
        </p:nvSpPr>
        <p:spPr>
          <a:xfrm>
            <a:off x="365760" y="1188720"/>
            <a:ext cx="908280" cy="90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400" b="0" u="none" strike="noStrike">
                <a:solidFill>
                  <a:srgbClr val="FF5429"/>
                </a:solidFill>
                <a:effectLst/>
                <a:uFillTx/>
                <a:latin typeface="DejaVu Serif"/>
                <a:ea typeface="DejaVu Serif"/>
              </a:rPr>
              <a:t>1</a:t>
            </a:r>
            <a:endParaRPr lang="de-DE" sz="6400" b="0" u="none" strike="noStrike">
              <a:solidFill>
                <a:srgbClr val="FFFFFF"/>
              </a:solidFill>
              <a:effectLst/>
              <a:uFillTx/>
              <a:latin typeface="Arial"/>
            </a:endParaRPr>
          </a:p>
        </p:txBody>
      </p:sp>
      <p:sp>
        <p:nvSpPr>
          <p:cNvPr id="322" name="Text 2"/>
          <p:cNvSpPr/>
          <p:nvPr/>
        </p:nvSpPr>
        <p:spPr>
          <a:xfrm>
            <a:off x="1371600" y="1188720"/>
            <a:ext cx="7309080" cy="90828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1600" b="0" u="none" strike="noStrike">
                <a:solidFill>
                  <a:srgbClr val="E8E8E8"/>
                </a:solidFill>
                <a:effectLst/>
                <a:uFillTx/>
                <a:latin typeface="DejaVu Serif"/>
                <a:ea typeface="DejaVu Serif"/>
              </a:rPr>
              <a:t>The pipeline works — the Plan section doesn't.</a:t>
            </a:r>
            <a:endParaRPr lang="de-DE" sz="1600" b="0" u="none" strike="noStrike">
              <a:solidFill>
                <a:srgbClr val="FFFFFF"/>
              </a:solidFill>
              <a:effectLst/>
              <a:uFillTx/>
              <a:latin typeface="Arial"/>
            </a:endParaRPr>
          </a:p>
        </p:txBody>
      </p:sp>
      <p:sp>
        <p:nvSpPr>
          <p:cNvPr id="323" name="Text 3"/>
          <p:cNvSpPr/>
          <p:nvPr/>
        </p:nvSpPr>
        <p:spPr>
          <a:xfrm>
            <a:off x="365760" y="2286000"/>
            <a:ext cx="908280" cy="90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400" b="0" u="none" strike="noStrike">
                <a:solidFill>
                  <a:srgbClr val="FF5429"/>
                </a:solidFill>
                <a:effectLst/>
                <a:uFillTx/>
                <a:latin typeface="DejaVu Serif"/>
                <a:ea typeface="DejaVu Serif"/>
              </a:rPr>
              <a:t>2</a:t>
            </a:r>
            <a:endParaRPr lang="de-DE" sz="6400" b="0" u="none" strike="noStrike">
              <a:solidFill>
                <a:srgbClr val="FFFFFF"/>
              </a:solidFill>
              <a:effectLst/>
              <a:uFillTx/>
              <a:latin typeface="Arial"/>
            </a:endParaRPr>
          </a:p>
        </p:txBody>
      </p:sp>
      <p:sp>
        <p:nvSpPr>
          <p:cNvPr id="324" name="Text 4"/>
          <p:cNvSpPr/>
          <p:nvPr/>
        </p:nvSpPr>
        <p:spPr>
          <a:xfrm>
            <a:off x="1371600" y="2286000"/>
            <a:ext cx="7309080" cy="90828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1600" b="0" u="none" strike="noStrike">
                <a:solidFill>
                  <a:srgbClr val="E8E8E8"/>
                </a:solidFill>
                <a:effectLst/>
                <a:uFillTx/>
                <a:latin typeface="DejaVu Serif"/>
                <a:ea typeface="DejaVu Serif"/>
              </a:rPr>
              <a:t>Hardware and model size are the bottleneck</a:t>
            </a:r>
            <a:r>
              <a:rPr lang="en-US" sz="1600" b="0" u="none" strike="noStrike">
                <a:solidFill>
                  <a:srgbClr val="333333"/>
                </a:solidFill>
                <a:effectLst/>
                <a:uFillTx/>
                <a:latin typeface="DejaVu Serif"/>
                <a:ea typeface="DejaVu Serif"/>
              </a:rPr>
              <a:t>.</a:t>
            </a:r>
            <a:endParaRPr lang="de-DE" sz="1600" b="0" u="none" strike="noStrike">
              <a:solidFill>
                <a:srgbClr val="FFFFFF"/>
              </a:solidFill>
              <a:effectLst/>
              <a:uFillTx/>
              <a:latin typeface="Arial"/>
            </a:endParaRPr>
          </a:p>
        </p:txBody>
      </p:sp>
      <p:sp>
        <p:nvSpPr>
          <p:cNvPr id="325" name="Text 5"/>
          <p:cNvSpPr/>
          <p:nvPr/>
        </p:nvSpPr>
        <p:spPr>
          <a:xfrm>
            <a:off x="365760" y="3383280"/>
            <a:ext cx="908280" cy="90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6400" b="0" u="none" strike="noStrike">
                <a:solidFill>
                  <a:srgbClr val="FF5429"/>
                </a:solidFill>
                <a:effectLst/>
                <a:uFillTx/>
                <a:latin typeface="DejaVu Serif"/>
                <a:ea typeface="DejaVu Serif"/>
              </a:rPr>
              <a:t>3</a:t>
            </a:r>
            <a:endParaRPr lang="de-DE" sz="6400" b="0" u="none" strike="noStrike">
              <a:solidFill>
                <a:srgbClr val="FFFFFF"/>
              </a:solidFill>
              <a:effectLst/>
              <a:uFillTx/>
              <a:latin typeface="Arial"/>
            </a:endParaRPr>
          </a:p>
        </p:txBody>
      </p:sp>
      <p:sp>
        <p:nvSpPr>
          <p:cNvPr id="326" name="Text 6"/>
          <p:cNvSpPr/>
          <p:nvPr/>
        </p:nvSpPr>
        <p:spPr>
          <a:xfrm>
            <a:off x="1371600" y="3383280"/>
            <a:ext cx="7309080" cy="908280"/>
          </a:xfrm>
          <a:prstGeom prst="rect">
            <a:avLst/>
          </a:prstGeom>
          <a:noFill/>
          <a:ln w="0">
            <a:noFill/>
          </a:ln>
        </p:spPr>
        <p:style>
          <a:lnRef idx="0"/>
          <a:fillRef idx="0"/>
          <a:effectRef idx="0"/>
          <a:fontRef idx="minor"/>
        </p:style>
        <p:txBody>
          <a:bodyPr lIns="0" tIns="0" rIns="0" bIns="0" anchor="ctr">
            <a:noAutofit/>
          </a:bodyPr>
          <a:p>
            <a:pPr>
              <a:lnSpc>
                <a:spcPct val="100000"/>
              </a:lnSpc>
            </a:pPr>
            <a:r>
              <a:rPr lang="en-US" sz="1600" b="0" u="none" strike="noStrike">
                <a:solidFill>
                  <a:srgbClr val="E8E8E8"/>
                </a:solidFill>
                <a:effectLst/>
                <a:uFillTx/>
                <a:latin typeface="DejaVu Serif"/>
                <a:ea typeface="DejaVu Serif"/>
              </a:rPr>
              <a:t>Assistive today. Autonomous tomorrow?</a:t>
            </a:r>
            <a:endParaRPr lang="de-DE" sz="1600" b="0" u="none" strike="noStrike">
              <a:solidFill>
                <a:srgbClr val="FFFFFF"/>
              </a:solidFill>
              <a:effectLst/>
              <a:uFillTx/>
              <a:latin typeface="Arial"/>
            </a:endParaRPr>
          </a:p>
        </p:txBody>
      </p:sp>
      <p:sp>
        <p:nvSpPr>
          <p:cNvPr id="327" name="Text 8"/>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328" name="Text 9"/>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18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433" dur="indefinite" restart="never" nodeType="tmRoot">
          <p:childTnLst>
            <p:seq>
              <p:cTn id="434" dur="indefinite" nodeType="mainSeq">
                <p:childTnLst>
                  <p:par>
                    <p:cTn id="435" fill="hold">
                      <p:stCondLst>
                        <p:cond delay="indefinite"/>
                      </p:stCondLst>
                      <p:childTnLst>
                        <p:par>
                          <p:cTn id="436" fill="hold">
                            <p:stCondLst>
                              <p:cond delay="0"/>
                            </p:stCondLst>
                            <p:childTnLst>
                              <p:par>
                                <p:cTn id="437" presetID="1" presetClass="entr" fill="hold" nodeType="clickEffect">
                                  <p:stCondLst>
                                    <p:cond delay="0"/>
                                  </p:stCondLst>
                                  <p:childTnLst>
                                    <p:set>
                                      <p:cBhvr>
                                        <p:cTn id="438" dur="1" fill="hold">
                                          <p:stCondLst>
                                            <p:cond delay="0"/>
                                          </p:stCondLst>
                                        </p:cTn>
                                        <p:tgtEl>
                                          <p:spTgt spid="321"/>
                                        </p:tgtEl>
                                        <p:attrNameLst>
                                          <p:attrName>style.visibility</p:attrName>
                                        </p:attrNameLst>
                                      </p:cBhvr>
                                      <p:to>
                                        <p:strVal val="visible"/>
                                      </p:to>
                                    </p:set>
                                  </p:childTnLst>
                                </p:cTn>
                              </p:par>
                              <p:par>
                                <p:cTn id="439" presetID="1" presetClass="entr" fill="hold" nodeType="withEffect">
                                  <p:stCondLst>
                                    <p:cond delay="0"/>
                                  </p:stCondLst>
                                  <p:childTnLst>
                                    <p:set>
                                      <p:cBhvr>
                                        <p:cTn id="440" dur="1" fill="hold">
                                          <p:stCondLst>
                                            <p:cond delay="0"/>
                                          </p:stCondLst>
                                        </p:cTn>
                                        <p:tgtEl>
                                          <p:spTgt spid="322"/>
                                        </p:tgtEl>
                                        <p:attrNameLst>
                                          <p:attrName>style.visibility</p:attrName>
                                        </p:attrNameLst>
                                      </p:cBhvr>
                                      <p:to>
                                        <p:strVal val="visible"/>
                                      </p:to>
                                    </p:set>
                                  </p:childTnLst>
                                </p:cTn>
                              </p:par>
                            </p:childTnLst>
                          </p:cTn>
                        </p:par>
                      </p:childTnLst>
                    </p:cTn>
                  </p:par>
                  <p:par>
                    <p:cTn id="441" fill="hold">
                      <p:stCondLst>
                        <p:cond delay="indefinite"/>
                      </p:stCondLst>
                      <p:childTnLst>
                        <p:par>
                          <p:cTn id="442" fill="hold">
                            <p:stCondLst>
                              <p:cond delay="0"/>
                            </p:stCondLst>
                            <p:childTnLst>
                              <p:par>
                                <p:cTn id="443" presetID="1" presetClass="entr" fill="hold" nodeType="clickEffect">
                                  <p:stCondLst>
                                    <p:cond delay="0"/>
                                  </p:stCondLst>
                                  <p:childTnLst>
                                    <p:set>
                                      <p:cBhvr>
                                        <p:cTn id="444" dur="1" fill="hold">
                                          <p:stCondLst>
                                            <p:cond delay="0"/>
                                          </p:stCondLst>
                                        </p:cTn>
                                        <p:tgtEl>
                                          <p:spTgt spid="323"/>
                                        </p:tgtEl>
                                        <p:attrNameLst>
                                          <p:attrName>style.visibility</p:attrName>
                                        </p:attrNameLst>
                                      </p:cBhvr>
                                      <p:to>
                                        <p:strVal val="visible"/>
                                      </p:to>
                                    </p:set>
                                  </p:childTnLst>
                                </p:cTn>
                              </p:par>
                              <p:par>
                                <p:cTn id="445" presetID="1" presetClass="entr" fill="hold" nodeType="withEffect">
                                  <p:stCondLst>
                                    <p:cond delay="0"/>
                                  </p:stCondLst>
                                  <p:childTnLst>
                                    <p:set>
                                      <p:cBhvr>
                                        <p:cTn id="446" dur="1" fill="hold">
                                          <p:stCondLst>
                                            <p:cond delay="0"/>
                                          </p:stCondLst>
                                        </p:cTn>
                                        <p:tgtEl>
                                          <p:spTgt spid="324"/>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presetID="1" presetClass="entr" fill="hold" nodeType="clickEffect">
                                  <p:stCondLst>
                                    <p:cond delay="0"/>
                                  </p:stCondLst>
                                  <p:childTnLst>
                                    <p:set>
                                      <p:cBhvr>
                                        <p:cTn id="450" dur="1" fill="hold">
                                          <p:stCondLst>
                                            <p:cond delay="0"/>
                                          </p:stCondLst>
                                        </p:cTn>
                                        <p:tgtEl>
                                          <p:spTgt spid="325"/>
                                        </p:tgtEl>
                                        <p:attrNameLst>
                                          <p:attrName>style.visibility</p:attrName>
                                        </p:attrNameLst>
                                      </p:cBhvr>
                                      <p:to>
                                        <p:strVal val="visible"/>
                                      </p:to>
                                    </p:set>
                                  </p:childTnLst>
                                </p:cTn>
                              </p:par>
                              <p:par>
                                <p:cTn id="451" presetID="1" presetClass="entr" fill="hold" nodeType="withEffect">
                                  <p:stCondLst>
                                    <p:cond delay="0"/>
                                  </p:stCondLst>
                                  <p:childTnLst>
                                    <p:set>
                                      <p:cBhvr>
                                        <p:cTn id="452"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329" name="Shape 0"/>
          <p:cNvSpPr/>
          <p:nvPr/>
        </p:nvSpPr>
        <p:spPr>
          <a:xfrm>
            <a:off x="6400800" y="548640"/>
            <a:ext cx="2371320" cy="313920"/>
          </a:xfrm>
          <a:prstGeom prst="parallelogram">
            <a:avLst>
              <a:gd name="adj" fmla="val 25000"/>
            </a:avLst>
          </a:prstGeom>
          <a:solidFill>
            <a:srgbClr val="D04A02"/>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330" name="Shape 1"/>
          <p:cNvSpPr/>
          <p:nvPr/>
        </p:nvSpPr>
        <p:spPr>
          <a:xfrm>
            <a:off x="6583680" y="1005840"/>
            <a:ext cx="2188440" cy="249840"/>
          </a:xfrm>
          <a:prstGeom prst="parallelogram">
            <a:avLst>
              <a:gd name="adj" fmla="val 25000"/>
            </a:avLst>
          </a:prstGeom>
          <a:solidFill>
            <a:srgbClr val="D04A02">
              <a:alpha val="50000"/>
            </a:srgbClr>
          </a:solidFill>
          <a:ln w="12600">
            <a:solidFill>
              <a:srgbClr val="333333"/>
            </a:solidFill>
            <a:round/>
          </a:ln>
        </p:spPr>
        <p:style>
          <a:lnRef idx="0"/>
          <a:fillRef idx="0"/>
          <a:effectRef idx="0"/>
          <a:fontRef idx="minor"/>
        </p:style>
        <p:txBody>
          <a:bodyPr lIns="90000" tIns="45000" rIns="90000" bIns="45000" anchor="t">
            <a:noAutofit/>
          </a:bodyPr>
          <a:p>
            <a:endParaRPr lang="de-DE" sz="1800" b="0" u="none" strike="noStrike">
              <a:solidFill>
                <a:schemeClr val="dk1"/>
              </a:solidFill>
              <a:effectLst/>
              <a:uFillTx/>
              <a:latin typeface="Calibri"/>
            </a:endParaRPr>
          </a:p>
        </p:txBody>
      </p:sp>
      <p:sp>
        <p:nvSpPr>
          <p:cNvPr id="331" name="Text 2"/>
          <p:cNvSpPr/>
          <p:nvPr/>
        </p:nvSpPr>
        <p:spPr>
          <a:xfrm>
            <a:off x="457200" y="1645920"/>
            <a:ext cx="8223480" cy="1639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7200" b="0" u="none" strike="noStrike">
                <a:solidFill>
                  <a:srgbClr val="FFFFFF"/>
                </a:solidFill>
                <a:effectLst/>
                <a:uFillTx/>
                <a:latin typeface="DejaVu Serif"/>
                <a:ea typeface="DejaVu Serif"/>
              </a:rPr>
              <a:t>Questions?</a:t>
            </a:r>
            <a:endParaRPr lang="de-DE" sz="7200" b="0" u="none" strike="noStrike">
              <a:solidFill>
                <a:srgbClr val="FFFFFF"/>
              </a:solidFill>
              <a:effectLst/>
              <a:uFillTx/>
              <a:latin typeface="Arial"/>
            </a:endParaRPr>
          </a:p>
        </p:txBody>
      </p:sp>
      <p:sp>
        <p:nvSpPr>
          <p:cNvPr id="332" name="Text 3"/>
          <p:cNvSpPr/>
          <p:nvPr/>
        </p:nvSpPr>
        <p:spPr>
          <a:xfrm>
            <a:off x="457200" y="3749040"/>
            <a:ext cx="8223480" cy="4053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0" u="none" strike="noStrike">
                <a:solidFill>
                  <a:srgbClr val="FF5429"/>
                </a:solidFill>
                <a:effectLst/>
                <a:uFillTx/>
                <a:latin typeface="DejaVu Serif"/>
                <a:ea typeface="DejaVu Serif"/>
              </a:rPr>
              <a:t>Thank you.</a:t>
            </a:r>
            <a:endParaRPr lang="de-DE" sz="1600" b="0" u="none" strike="noStrike">
              <a:solidFill>
                <a:srgbClr val="FFFFFF"/>
              </a:solidFill>
              <a:effectLst/>
              <a:uFillTx/>
              <a:latin typeface="Arial"/>
            </a:endParaRPr>
          </a:p>
        </p:txBody>
      </p:sp>
      <p:sp>
        <p:nvSpPr>
          <p:cNvPr id="333" name="Text 4"/>
          <p:cNvSpPr/>
          <p:nvPr/>
        </p:nvSpPr>
        <p:spPr>
          <a:xfrm>
            <a:off x="365760" y="4864680"/>
            <a:ext cx="6851880" cy="222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u="none" strike="noStrike">
                <a:solidFill>
                  <a:srgbClr val="8A95A0"/>
                </a:solidFill>
                <a:effectLst/>
                <a:uFillTx/>
                <a:latin typeface="DejaVu Serif"/>
                <a:ea typeface="DejaVu Serif"/>
              </a:rPr>
              <a:t>AI-Anamnesis · Master Seminar · PwC × Hochschule Hannover · 2026</a:t>
            </a:r>
            <a:endParaRPr lang="de-DE" sz="800" b="0" u="none" strike="noStrike">
              <a:solidFill>
                <a:srgbClr val="FFFFFF"/>
              </a:solidFill>
              <a:effectLst/>
              <a:uFillTx/>
              <a:latin typeface="Arial"/>
            </a:endParaRPr>
          </a:p>
        </p:txBody>
      </p:sp>
      <p:sp>
        <p:nvSpPr>
          <p:cNvPr id="334" name="Text 5"/>
          <p:cNvSpPr/>
          <p:nvPr/>
        </p:nvSpPr>
        <p:spPr>
          <a:xfrm>
            <a:off x="7772400" y="4864680"/>
            <a:ext cx="999720" cy="2224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00" b="0" u="none" strike="noStrike">
                <a:solidFill>
                  <a:srgbClr val="5A6570"/>
                </a:solidFill>
                <a:effectLst/>
                <a:uFillTx/>
                <a:latin typeface="DejaVu Serif"/>
                <a:ea typeface="DejaVu Serif"/>
              </a:rPr>
              <a:t>19 / 19</a:t>
            </a:r>
            <a:endParaRPr lang="de-DE"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3408</TotalTime>
  <Application>LibreOffice/26.2.1.2$Linux_X86_64 LibreOffice_project/620$Build-2</Application>
  <AppVersion>15.0000</AppVersion>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2026-05-15T07:25:02Z</dcterms:created>
  <dc:creator>Anton Reinhard &amp; Leonard Niedens</dc:creator>
  <dc:description/>
  <dc:language>de-DE</dc:language>
  <cp:lastModifiedBy/>
  <dcterms:modified xsi:type="dcterms:W3CDTF">2026-05-27T19:50:09Z</dcterms:modified>
  <cp:revision>69</cp:revision>
  <dc:subject>PptxGenJS Presentation</dc:subject>
  <dc:title>AI-Anamnesis of Patients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0x01010009ABEE73BF99044B8E88242258EF819B</vt:lpwstr>
  </property>
  <property fmtid="{D5CDD505-2E9C-101B-9397-08002B2CF9AE}" pid="3" name="Notes">
    <vt:r8>19</vt:r8>
  </property>
  <property fmtid="{D5CDD505-2E9C-101B-9397-08002B2CF9AE}" pid="4" name="PresentationFormat">
    <vt:lpwstr>Bildschirmpräsentation (16:9)</vt:lpwstr>
  </property>
  <property fmtid="{D5CDD505-2E9C-101B-9397-08002B2CF9AE}" pid="5" name="Slides">
    <vt:r8>19</vt:r8>
  </property>
</Properties>
</file>